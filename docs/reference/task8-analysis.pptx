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7"/>
  </p:notesMasterIdLst>
  <p:sldIdLst>
    <p:sldId id="256" r:id="rId3"/>
    <p:sldId id="2848" r:id="rId4"/>
    <p:sldId id="2849" r:id="rId5"/>
    <p:sldId id="2877" r:id="rId6"/>
    <p:sldId id="2880" r:id="rId7"/>
    <p:sldId id="2882" r:id="rId8"/>
    <p:sldId id="2881" r:id="rId9"/>
    <p:sldId id="2883" r:id="rId10"/>
    <p:sldId id="2884" r:id="rId11"/>
    <p:sldId id="2879" r:id="rId12"/>
    <p:sldId id="2878" r:id="rId13"/>
    <p:sldId id="2885" r:id="rId14"/>
    <p:sldId id="2888" r:id="rId15"/>
    <p:sldId id="2889" r:id="rId16"/>
    <p:sldId id="2886" r:id="rId18"/>
    <p:sldId id="2887" r:id="rId19"/>
    <p:sldId id="1364" r:id="rId2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517D26F8-AD37-49A3-ACA4-FF28468FA954}">
          <p14:sldIdLst>
            <p14:sldId id="256"/>
          </p14:sldIdLst>
        </p14:section>
        <p14:section name="Stage1" id="{50ba1f04-2b5e-4a9c-833c-f7de9b6eeca5}">
          <p14:sldIdLst>
            <p14:sldId id="2848"/>
            <p14:sldId id="2849"/>
            <p14:sldId id="2877"/>
            <p14:sldId id="2880"/>
            <p14:sldId id="2882"/>
            <p14:sldId id="2881"/>
            <p14:sldId id="2883"/>
            <p14:sldId id="2884"/>
            <p14:sldId id="2879"/>
            <p14:sldId id="2878"/>
          </p14:sldIdLst>
        </p14:section>
        <p14:section name="Stage2" id="{ce8eefd7-b967-40e1-bed1-d57889810434}">
          <p14:sldIdLst>
            <p14:sldId id="2885"/>
            <p14:sldId id="2888"/>
            <p14:sldId id="2889"/>
            <p14:sldId id="2886"/>
            <p14:sldId id="2887"/>
            <p14:sldId id="1364"/>
          </p14:sldIdLst>
        </p14:section>
      </p14:sectionLst>
    </p:ext>
    <p:ext uri="{EFAFB233-063F-42B5-8137-9DF3F51BA10A}">
      <p15:sldGuideLst xmlns:p15="http://schemas.microsoft.com/office/powerpoint/2012/main">
        <p15:guide id="1" orient="horz" pos="2092" userDrawn="1">
          <p15:clr>
            <a:srgbClr val="A4A3A4"/>
          </p15:clr>
        </p15:guide>
        <p15:guide id="2" pos="37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毛 马" initials="毛" lastIdx="1" clrIdx="0"/>
  <p:cmAuthor id="2" name="46762" initials="authorId_46762" lastIdx="0" clrIdx="1"/>
  <p:cmAuthor id="3" name="姜晓琳" initials="authorId_1845022132"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10337F"/>
    <a:srgbClr val="7D5D00"/>
    <a:srgbClr val="9E9B93"/>
    <a:srgbClr val="DBEEF3"/>
    <a:srgbClr val="015CAE"/>
    <a:srgbClr val="0567BE"/>
    <a:srgbClr val="0361B4"/>
    <a:srgbClr val="113380"/>
    <a:srgbClr val="0971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21" autoAdjust="0"/>
    <p:restoredTop sz="95455" autoAdjust="0"/>
  </p:normalViewPr>
  <p:slideViewPr>
    <p:cSldViewPr showGuides="1">
      <p:cViewPr varScale="1">
        <p:scale>
          <a:sx n="110" d="100"/>
          <a:sy n="110" d="100"/>
        </p:scale>
        <p:origin x="1182" y="108"/>
      </p:cViewPr>
      <p:guideLst>
        <p:guide orient="horz" pos="2092"/>
        <p:guide pos="3798"/>
      </p:guideLst>
    </p:cSldViewPr>
  </p:slideViewPr>
  <p:notesTextViewPr>
    <p:cViewPr>
      <p:scale>
        <a:sx n="3" d="2"/>
        <a:sy n="3" d="2"/>
      </p:scale>
      <p:origin x="0" y="0"/>
    </p:cViewPr>
  </p:notesTextViewPr>
  <p:sorterViewPr>
    <p:cViewPr>
      <p:scale>
        <a:sx n="100" d="100"/>
        <a:sy n="100" d="100"/>
      </p:scale>
      <p:origin x="0" y="-7770"/>
    </p:cViewPr>
  </p:sorter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8.png"/><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4_标题幻灯片">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a:extLst>
              <a:ext uri="{28A0092B-C50C-407E-A947-70E740481C1C}">
                <a14:useLocalDpi xmlns:a14="http://schemas.microsoft.com/office/drawing/2010/main" val="0"/>
              </a:ext>
            </a:extLst>
          </a:blip>
          <a:srcRect l="7693"/>
          <a:stretch>
            <a:fillRect/>
          </a:stretch>
        </p:blipFill>
        <p:spPr>
          <a:xfrm>
            <a:off x="-24680" y="1737562"/>
            <a:ext cx="12241021" cy="2018755"/>
          </a:xfrm>
          <a:prstGeom prst="rect">
            <a:avLst/>
          </a:prstGeom>
        </p:spPr>
      </p:pic>
      <p:sp>
        <p:nvSpPr>
          <p:cNvPr id="16" name="平行四边形 9"/>
          <p:cNvSpPr/>
          <p:nvPr userDrawn="1"/>
        </p:nvSpPr>
        <p:spPr>
          <a:xfrm>
            <a:off x="8688288" y="3840397"/>
            <a:ext cx="3503712" cy="144016"/>
          </a:xfrm>
          <a:custGeom>
            <a:avLst/>
            <a:gdLst>
              <a:gd name="connsiteX0" fmla="*/ 0 w 2627784"/>
              <a:gd name="connsiteY0" fmla="*/ 144016 h 144016"/>
              <a:gd name="connsiteX1" fmla="*/ 79565 w 2627784"/>
              <a:gd name="connsiteY1" fmla="*/ 0 h 144016"/>
              <a:gd name="connsiteX2" fmla="*/ 2627784 w 2627784"/>
              <a:gd name="connsiteY2" fmla="*/ 0 h 144016"/>
              <a:gd name="connsiteX3" fmla="*/ 2548219 w 2627784"/>
              <a:gd name="connsiteY3" fmla="*/ 144016 h 144016"/>
              <a:gd name="connsiteX4" fmla="*/ 0 w 2627784"/>
              <a:gd name="connsiteY4" fmla="*/ 144016 h 144016"/>
              <a:gd name="connsiteX0-1" fmla="*/ 0 w 2627784"/>
              <a:gd name="connsiteY0-2" fmla="*/ 144016 h 144016"/>
              <a:gd name="connsiteX1-3" fmla="*/ 79565 w 2627784"/>
              <a:gd name="connsiteY1-4" fmla="*/ 0 h 144016"/>
              <a:gd name="connsiteX2-5" fmla="*/ 2627784 w 2627784"/>
              <a:gd name="connsiteY2-6" fmla="*/ 0 h 144016"/>
              <a:gd name="connsiteX3-7" fmla="*/ 2626507 w 2627784"/>
              <a:gd name="connsiteY3-8" fmla="*/ 140885 h 144016"/>
              <a:gd name="connsiteX4-9" fmla="*/ 0 w 2627784"/>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27784" h="144016">
                <a:moveTo>
                  <a:pt x="0" y="144016"/>
                </a:moveTo>
                <a:lnTo>
                  <a:pt x="79565" y="0"/>
                </a:lnTo>
                <a:lnTo>
                  <a:pt x="2627784" y="0"/>
                </a:lnTo>
                <a:cubicBezTo>
                  <a:pt x="2627358" y="46962"/>
                  <a:pt x="2626933" y="93923"/>
                  <a:pt x="2626507" y="140885"/>
                </a:cubicBezTo>
                <a:lnTo>
                  <a:pt x="0" y="144016"/>
                </a:lnTo>
                <a:close/>
              </a:path>
            </a:pathLst>
          </a:cu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平行四边形 10"/>
          <p:cNvSpPr/>
          <p:nvPr userDrawn="1"/>
        </p:nvSpPr>
        <p:spPr>
          <a:xfrm>
            <a:off x="-2473" y="3840397"/>
            <a:ext cx="8690760" cy="144016"/>
          </a:xfrm>
          <a:custGeom>
            <a:avLst/>
            <a:gdLst>
              <a:gd name="connsiteX0" fmla="*/ 0 w 6516215"/>
              <a:gd name="connsiteY0" fmla="*/ 144016 h 144016"/>
              <a:gd name="connsiteX1" fmla="*/ 79565 w 6516215"/>
              <a:gd name="connsiteY1" fmla="*/ 0 h 144016"/>
              <a:gd name="connsiteX2" fmla="*/ 6516215 w 6516215"/>
              <a:gd name="connsiteY2" fmla="*/ 0 h 144016"/>
              <a:gd name="connsiteX3" fmla="*/ 6436650 w 6516215"/>
              <a:gd name="connsiteY3" fmla="*/ 144016 h 144016"/>
              <a:gd name="connsiteX4" fmla="*/ 0 w 6516215"/>
              <a:gd name="connsiteY4" fmla="*/ 144016 h 144016"/>
              <a:gd name="connsiteX0-1" fmla="*/ 1855 w 6518070"/>
              <a:gd name="connsiteY0-2" fmla="*/ 144016 h 144016"/>
              <a:gd name="connsiteX1-3" fmla="*/ 0 w 6518070"/>
              <a:gd name="connsiteY1-4" fmla="*/ 0 h 144016"/>
              <a:gd name="connsiteX2-5" fmla="*/ 6518070 w 6518070"/>
              <a:gd name="connsiteY2-6" fmla="*/ 0 h 144016"/>
              <a:gd name="connsiteX3-7" fmla="*/ 6438505 w 6518070"/>
              <a:gd name="connsiteY3-8" fmla="*/ 144016 h 144016"/>
              <a:gd name="connsiteX4-9" fmla="*/ 1855 w 6518070"/>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18070" h="144016">
                <a:moveTo>
                  <a:pt x="1855" y="144016"/>
                </a:moveTo>
                <a:cubicBezTo>
                  <a:pt x="1237" y="96011"/>
                  <a:pt x="618" y="48005"/>
                  <a:pt x="0" y="0"/>
                </a:cubicBezTo>
                <a:lnTo>
                  <a:pt x="6518070" y="0"/>
                </a:lnTo>
                <a:lnTo>
                  <a:pt x="6438505" y="144016"/>
                </a:lnTo>
                <a:lnTo>
                  <a:pt x="1855" y="144016"/>
                </a:lnTo>
                <a:close/>
              </a:path>
            </a:pathLst>
          </a:custGeom>
          <a:solidFill>
            <a:srgbClr val="0971CE"/>
          </a:solidFill>
          <a:ln>
            <a:solidFill>
              <a:srgbClr val="156B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平行四边形 20"/>
          <p:cNvSpPr/>
          <p:nvPr userDrawn="1"/>
        </p:nvSpPr>
        <p:spPr>
          <a:xfrm>
            <a:off x="4865179" y="979632"/>
            <a:ext cx="7326821" cy="674618"/>
          </a:xfrm>
          <a:prstGeom prst="parallelogram">
            <a:avLst>
              <a:gd name="adj" fmla="val 23419"/>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userDrawn="1"/>
        </p:nvSpPr>
        <p:spPr>
          <a:xfrm>
            <a:off x="-24679" y="1752166"/>
            <a:ext cx="12241021" cy="2016222"/>
          </a:xfrm>
          <a:prstGeom prst="rect">
            <a:avLst/>
          </a:prstGeom>
        </p:spPr>
        <p:txBody>
          <a:bodyPr wrap="square" anchor="ctr">
            <a:noAutofit/>
          </a:bodyPr>
          <a:lstStyle/>
          <a:p>
            <a:pPr algn="ctr">
              <a:lnSpc>
                <a:spcPct val="120000"/>
              </a:lnSpc>
            </a:pPr>
            <a:endParaRPr lang="zh-CN" altLang="en-US" sz="3600" b="1" kern="1200" spc="0" dirty="0">
              <a:gradFill>
                <a:gsLst>
                  <a:gs pos="0">
                    <a:schemeClr val="bg1"/>
                  </a:gs>
                  <a:gs pos="100000">
                    <a:schemeClr val="bg1"/>
                  </a:gs>
                </a:gsLst>
                <a:lin ang="5400000" scaled="0"/>
              </a:gradFill>
              <a:latin typeface="微软雅黑" panose="020B0503020204020204" pitchFamily="34" charset="-122"/>
              <a:ea typeface="微软雅黑" panose="020B0503020204020204" pitchFamily="34" charset="-122"/>
              <a:cs typeface="+mn-cs"/>
            </a:endParaRPr>
          </a:p>
        </p:txBody>
      </p:sp>
      <p:pic>
        <p:nvPicPr>
          <p:cNvPr id="18" name="图片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76320" y="53625"/>
            <a:ext cx="3027010" cy="795287"/>
          </a:xfrm>
          <a:prstGeom prst="rect">
            <a:avLst/>
          </a:prstGeom>
        </p:spPr>
      </p:pic>
      <p:sp>
        <p:nvSpPr>
          <p:cNvPr id="3" name="文本占位符 2"/>
          <p:cNvSpPr>
            <a:spLocks noGrp="1"/>
          </p:cNvSpPr>
          <p:nvPr>
            <p:ph type="body" sz="quarter" idx="10" hasCustomPrompt="1"/>
          </p:nvPr>
        </p:nvSpPr>
        <p:spPr>
          <a:xfrm>
            <a:off x="-2472" y="1760132"/>
            <a:ext cx="12216681" cy="1978581"/>
          </a:xfrm>
          <a:prstGeom prst="rect">
            <a:avLst/>
          </a:prstGeom>
        </p:spPr>
        <p:txBody>
          <a:bodyPr anchor="ctr"/>
          <a:lstStyle>
            <a:lvl1pPr marL="0" indent="0" algn="ctr">
              <a:lnSpc>
                <a:spcPct val="150000"/>
              </a:lnSpc>
              <a:spcBef>
                <a:spcPts val="0"/>
              </a:spcBef>
              <a:buFontTx/>
              <a:buNone/>
              <a:defRPr sz="3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项目名称</a:t>
            </a:r>
            <a:endParaRPr lang="zh-CN" altLang="en-US" dirty="0"/>
          </a:p>
        </p:txBody>
      </p:sp>
      <p:sp>
        <p:nvSpPr>
          <p:cNvPr id="5" name="文本占位符 4"/>
          <p:cNvSpPr>
            <a:spLocks noGrp="1"/>
          </p:cNvSpPr>
          <p:nvPr>
            <p:ph type="body" sz="quarter" idx="11"/>
          </p:nvPr>
        </p:nvSpPr>
        <p:spPr>
          <a:xfrm>
            <a:off x="5075887" y="995600"/>
            <a:ext cx="6867144" cy="642683"/>
          </a:xfrm>
          <a:prstGeom prst="rect">
            <a:avLst/>
          </a:prstGeom>
        </p:spPr>
        <p:txBody>
          <a:bodyPr anchor="ctr"/>
          <a:lstStyle>
            <a:lvl1pPr marL="0" indent="0" algn="ctr">
              <a:lnSpc>
                <a:spcPct val="100000"/>
              </a:lnSpc>
              <a:spcBef>
                <a:spcPts val="0"/>
              </a:spcBef>
              <a:buFontTx/>
              <a:buNone/>
              <a:defRPr lang="zh-CN" altLang="en-US" sz="1800" b="0" kern="1200" spc="0" dirty="0">
                <a:solidFill>
                  <a:srgbClr val="003F98"/>
                </a:solidFill>
                <a:latin typeface="Arial" panose="020B0604020202020204" pitchFamily="34" charset="0"/>
                <a:ea typeface="微软雅黑" panose="020B0503020204020204" pitchFamily="34" charset="-122"/>
                <a:cs typeface="Arial" panose="020B0604020202020204" pitchFamily="34" charset="0"/>
              </a:defRPr>
            </a:lvl1pPr>
          </a:lstStyle>
          <a:p>
            <a:pPr lvl="0"/>
            <a:endParaRPr lang="zh-CN" altLang="en-US" dirty="0"/>
          </a:p>
        </p:txBody>
      </p:sp>
      <p:pic>
        <p:nvPicPr>
          <p:cNvPr id="2" name="图片 1" descr="徽标&#10;&#10;描述已自动生成"/>
          <p:cNvPicPr>
            <a:picLocks noChangeAspect="1"/>
          </p:cNvPicPr>
          <p:nvPr userDrawn="1"/>
        </p:nvPicPr>
        <p:blipFill>
          <a:blip r:embed="rId4"/>
          <a:stretch>
            <a:fillRect/>
          </a:stretch>
        </p:blipFill>
        <p:spPr>
          <a:xfrm>
            <a:off x="323685" y="818710"/>
            <a:ext cx="1078695" cy="996462"/>
          </a:xfrm>
          <a:prstGeom prst="rect">
            <a:avLst/>
          </a:prstGeom>
        </p:spPr>
      </p:pic>
      <p:pic>
        <p:nvPicPr>
          <p:cNvPr id="4" name="图片 3"/>
          <p:cNvPicPr>
            <a:picLocks noChangeAspect="1"/>
          </p:cNvPicPr>
          <p:nvPr userDrawn="1"/>
        </p:nvPicPr>
        <p:blipFill>
          <a:blip r:embed="rId5"/>
          <a:stretch>
            <a:fillRect/>
          </a:stretch>
        </p:blipFill>
        <p:spPr>
          <a:xfrm>
            <a:off x="1415480" y="947996"/>
            <a:ext cx="3000750" cy="737890"/>
          </a:xfrm>
          <a:prstGeom prst="rect">
            <a:avLst/>
          </a:prstGeom>
        </p:spPr>
      </p:pic>
      <p:sp>
        <p:nvSpPr>
          <p:cNvPr id="7" name="文本框 6"/>
          <p:cNvSpPr txBox="1"/>
          <p:nvPr userDrawn="1"/>
        </p:nvSpPr>
        <p:spPr>
          <a:xfrm>
            <a:off x="4737227" y="6174305"/>
            <a:ext cx="2717206" cy="461665"/>
          </a:xfrm>
          <a:prstGeom prst="rect">
            <a:avLst/>
          </a:prstGeom>
          <a:noFill/>
        </p:spPr>
        <p:txBody>
          <a:bodyPr wrap="square" rtlCol="0">
            <a:spAutoFit/>
          </a:bodyPr>
          <a:lstStyle/>
          <a:p>
            <a:pPr algn="ctr"/>
            <a:fld id="{485E2E6C-F381-460C-ADED-E98908E73335}" type="datetime2">
              <a:rPr lang="zh-CN" altLang="en-US" sz="2400" b="1" smtClean="0">
                <a:solidFill>
                  <a:srgbClr val="0567BE"/>
                </a:solidFill>
                <a:latin typeface="微软雅黑" panose="020B0503020204020204" pitchFamily="34" charset="-122"/>
                <a:ea typeface="微软雅黑" panose="020B0503020204020204" pitchFamily="34" charset="-122"/>
              </a:rPr>
            </a:fld>
            <a:endParaRPr lang="zh-CN" altLang="en-US" sz="2400" b="1" dirty="0">
              <a:solidFill>
                <a:srgbClr val="0567BE"/>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321907" y="143635"/>
            <a:ext cx="8414387" cy="692978"/>
          </a:xfrm>
          <a:prstGeom prst="rect">
            <a:avLst/>
          </a:prstGeom>
        </p:spPr>
        <p:txBody>
          <a:bodyPr/>
          <a:lstStyle>
            <a:lvl1pPr algn="l" defTabSz="914400" rtl="0" eaLnBrk="1" latinLnBrk="0" hangingPunct="1">
              <a:lnSpc>
                <a:spcPct val="90000"/>
              </a:lnSpc>
              <a:spcBef>
                <a:spcPct val="0"/>
              </a:spcBef>
              <a:buNone/>
              <a:defRPr lang="zh-CN" altLang="en-US" sz="3600" b="1" kern="1200" dirty="0">
                <a:solidFill>
                  <a:srgbClr val="3D58A7"/>
                </a:solidFill>
                <a:latin typeface="微软雅黑" panose="020B0503020204020204" pitchFamily="34" charset="-122"/>
                <a:ea typeface="微软雅黑" panose="020B0503020204020204" pitchFamily="34" charset="-122"/>
                <a:cs typeface="+mj-cs"/>
              </a:defRPr>
            </a:lvl1p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平行四边形 9"/>
          <p:cNvSpPr/>
          <p:nvPr userDrawn="1"/>
        </p:nvSpPr>
        <p:spPr>
          <a:xfrm>
            <a:off x="8688288" y="720822"/>
            <a:ext cx="3503712" cy="72008"/>
          </a:xfrm>
          <a:custGeom>
            <a:avLst/>
            <a:gdLst>
              <a:gd name="connsiteX0" fmla="*/ 0 w 2627784"/>
              <a:gd name="connsiteY0" fmla="*/ 144016 h 144016"/>
              <a:gd name="connsiteX1" fmla="*/ 79565 w 2627784"/>
              <a:gd name="connsiteY1" fmla="*/ 0 h 144016"/>
              <a:gd name="connsiteX2" fmla="*/ 2627784 w 2627784"/>
              <a:gd name="connsiteY2" fmla="*/ 0 h 144016"/>
              <a:gd name="connsiteX3" fmla="*/ 2548219 w 2627784"/>
              <a:gd name="connsiteY3" fmla="*/ 144016 h 144016"/>
              <a:gd name="connsiteX4" fmla="*/ 0 w 2627784"/>
              <a:gd name="connsiteY4" fmla="*/ 144016 h 144016"/>
              <a:gd name="connsiteX0-1" fmla="*/ 0 w 2627784"/>
              <a:gd name="connsiteY0-2" fmla="*/ 144016 h 144016"/>
              <a:gd name="connsiteX1-3" fmla="*/ 79565 w 2627784"/>
              <a:gd name="connsiteY1-4" fmla="*/ 0 h 144016"/>
              <a:gd name="connsiteX2-5" fmla="*/ 2627784 w 2627784"/>
              <a:gd name="connsiteY2-6" fmla="*/ 0 h 144016"/>
              <a:gd name="connsiteX3-7" fmla="*/ 2626507 w 2627784"/>
              <a:gd name="connsiteY3-8" fmla="*/ 140885 h 144016"/>
              <a:gd name="connsiteX4-9" fmla="*/ 0 w 2627784"/>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27784" h="144016">
                <a:moveTo>
                  <a:pt x="0" y="144016"/>
                </a:moveTo>
                <a:lnTo>
                  <a:pt x="79565" y="0"/>
                </a:lnTo>
                <a:lnTo>
                  <a:pt x="2627784" y="0"/>
                </a:lnTo>
                <a:cubicBezTo>
                  <a:pt x="2627358" y="46962"/>
                  <a:pt x="2626933" y="93923"/>
                  <a:pt x="2626507" y="140885"/>
                </a:cubicBezTo>
                <a:lnTo>
                  <a:pt x="0" y="144016"/>
                </a:lnTo>
                <a:close/>
              </a:path>
            </a:pathLst>
          </a:cu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 name="平行四边形 10"/>
          <p:cNvSpPr/>
          <p:nvPr userDrawn="1"/>
        </p:nvSpPr>
        <p:spPr>
          <a:xfrm>
            <a:off x="-2473" y="720822"/>
            <a:ext cx="8690760" cy="72008"/>
          </a:xfrm>
          <a:custGeom>
            <a:avLst/>
            <a:gdLst>
              <a:gd name="connsiteX0" fmla="*/ 0 w 6516215"/>
              <a:gd name="connsiteY0" fmla="*/ 144016 h 144016"/>
              <a:gd name="connsiteX1" fmla="*/ 79565 w 6516215"/>
              <a:gd name="connsiteY1" fmla="*/ 0 h 144016"/>
              <a:gd name="connsiteX2" fmla="*/ 6516215 w 6516215"/>
              <a:gd name="connsiteY2" fmla="*/ 0 h 144016"/>
              <a:gd name="connsiteX3" fmla="*/ 6436650 w 6516215"/>
              <a:gd name="connsiteY3" fmla="*/ 144016 h 144016"/>
              <a:gd name="connsiteX4" fmla="*/ 0 w 6516215"/>
              <a:gd name="connsiteY4" fmla="*/ 144016 h 144016"/>
              <a:gd name="connsiteX0-1" fmla="*/ 1855 w 6518070"/>
              <a:gd name="connsiteY0-2" fmla="*/ 144016 h 144016"/>
              <a:gd name="connsiteX1-3" fmla="*/ 0 w 6518070"/>
              <a:gd name="connsiteY1-4" fmla="*/ 0 h 144016"/>
              <a:gd name="connsiteX2-5" fmla="*/ 6518070 w 6518070"/>
              <a:gd name="connsiteY2-6" fmla="*/ 0 h 144016"/>
              <a:gd name="connsiteX3-7" fmla="*/ 6438505 w 6518070"/>
              <a:gd name="connsiteY3-8" fmla="*/ 144016 h 144016"/>
              <a:gd name="connsiteX4-9" fmla="*/ 1855 w 6518070"/>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18070" h="144016">
                <a:moveTo>
                  <a:pt x="1855" y="144016"/>
                </a:moveTo>
                <a:cubicBezTo>
                  <a:pt x="1237" y="96011"/>
                  <a:pt x="618" y="48005"/>
                  <a:pt x="0" y="0"/>
                </a:cubicBezTo>
                <a:lnTo>
                  <a:pt x="6518070" y="0"/>
                </a:lnTo>
                <a:lnTo>
                  <a:pt x="6438505" y="144016"/>
                </a:lnTo>
                <a:lnTo>
                  <a:pt x="1855" y="144016"/>
                </a:lnTo>
                <a:close/>
              </a:path>
            </a:pathLst>
          </a:custGeom>
          <a:solidFill>
            <a:srgbClr val="0971CE"/>
          </a:solidFill>
          <a:ln>
            <a:solidFill>
              <a:srgbClr val="156B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矩形 4"/>
          <p:cNvSpPr/>
          <p:nvPr userDrawn="1"/>
        </p:nvSpPr>
        <p:spPr>
          <a:xfrm flipV="1">
            <a:off x="321907" y="6362541"/>
            <a:ext cx="11532469" cy="45719"/>
          </a:xfrm>
          <a:prstGeom prst="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133284"/>
            <a:ext cx="12192000" cy="1534133"/>
          </a:xfrm>
          <a:prstGeom prst="rect">
            <a:avLst/>
          </a:prstGeom>
        </p:spPr>
      </p:pic>
      <p:sp>
        <p:nvSpPr>
          <p:cNvPr id="8" name="椭圆 7"/>
          <p:cNvSpPr/>
          <p:nvPr userDrawn="1"/>
        </p:nvSpPr>
        <p:spPr>
          <a:xfrm>
            <a:off x="5424508" y="1918440"/>
            <a:ext cx="1342985" cy="980997"/>
          </a:xfrm>
          <a:prstGeom prst="ellipse">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gradFill>
                  <a:gsLst>
                    <a:gs pos="0">
                      <a:schemeClr val="tx1">
                        <a:lumMod val="85000"/>
                        <a:lumOff val="15000"/>
                      </a:schemeClr>
                    </a:gs>
                    <a:gs pos="100000">
                      <a:schemeClr val="tx1">
                        <a:lumMod val="85000"/>
                        <a:lumOff val="1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1</a:t>
            </a:r>
            <a:endParaRPr lang="zh-CN" altLang="en-US" sz="6000" b="1" dirty="0">
              <a:gradFill>
                <a:gsLst>
                  <a:gs pos="0">
                    <a:schemeClr val="tx1">
                      <a:lumMod val="85000"/>
                      <a:lumOff val="15000"/>
                    </a:schemeClr>
                  </a:gs>
                  <a:gs pos="100000">
                    <a:schemeClr val="tx1">
                      <a:lumMod val="85000"/>
                      <a:lumOff val="1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9" name="椭圆 8"/>
          <p:cNvSpPr/>
          <p:nvPr userDrawn="1"/>
        </p:nvSpPr>
        <p:spPr>
          <a:xfrm>
            <a:off x="5585452" y="2026026"/>
            <a:ext cx="1021096" cy="765822"/>
          </a:xfrm>
          <a:prstGeom prst="ellipse">
            <a:avLst/>
          </a:prstGeom>
          <a:solidFill>
            <a:srgbClr val="005AAA"/>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标题 1"/>
          <p:cNvSpPr>
            <a:spLocks noGrp="1"/>
          </p:cNvSpPr>
          <p:nvPr>
            <p:ph type="title" hasCustomPrompt="1"/>
          </p:nvPr>
        </p:nvSpPr>
        <p:spPr>
          <a:xfrm>
            <a:off x="321907" y="143635"/>
            <a:ext cx="8414387" cy="692978"/>
          </a:xfrm>
          <a:prstGeom prst="rect">
            <a:avLst/>
          </a:prstGeom>
        </p:spPr>
        <p:txBody>
          <a:bodyPr/>
          <a:lstStyle>
            <a:lvl1pPr>
              <a:defRPr sz="3600">
                <a:solidFill>
                  <a:srgbClr val="3D58A7"/>
                </a:solidFill>
              </a:defRPr>
            </a:lvl1pPr>
          </a:lstStyle>
          <a:p>
            <a:r>
              <a:rPr lang="zh-CN" altLang="en-US" dirty="0"/>
              <a:t>汇报提纲</a:t>
            </a:r>
            <a:endParaRPr lang="zh-CN" altLang="en-US" dirty="0"/>
          </a:p>
        </p:txBody>
      </p:sp>
      <p:sp>
        <p:nvSpPr>
          <p:cNvPr id="11" name="标题 1"/>
          <p:cNvSpPr txBox="1"/>
          <p:nvPr userDrawn="1"/>
        </p:nvSpPr>
        <p:spPr>
          <a:xfrm>
            <a:off x="5585452" y="2185248"/>
            <a:ext cx="1021096" cy="692978"/>
          </a:xfrm>
          <a:prstGeom prst="rect">
            <a:avLst/>
          </a:prstGeom>
        </p:spPr>
        <p:txBody>
          <a:bodyPr/>
          <a:lstStyle>
            <a:lvl1pPr algn="l" defTabSz="685800" rtl="0" eaLnBrk="1" latinLnBrk="0" hangingPunct="1">
              <a:lnSpc>
                <a:spcPct val="90000"/>
              </a:lnSpc>
              <a:spcBef>
                <a:spcPct val="0"/>
              </a:spcBef>
              <a:buNone/>
              <a:defRPr lang="zh-CN" altLang="en-US" sz="3600" b="1" kern="1200" dirty="0" smtClean="0">
                <a:solidFill>
                  <a:srgbClr val="3D58A7"/>
                </a:solidFill>
                <a:latin typeface="Arial" panose="020B0604020202020204" pitchFamily="34" charset="0"/>
                <a:ea typeface="微软雅黑" panose="020B0503020204020204" pitchFamily="34" charset="-122"/>
                <a:cs typeface="+mj-cs"/>
              </a:defRPr>
            </a:lvl1pPr>
          </a:lstStyle>
          <a:p>
            <a:pPr algn="ctr"/>
            <a:endParaRPr lang="zh-CN" altLang="en-US" sz="3600" dirty="0">
              <a:solidFill>
                <a:schemeClr val="bg1"/>
              </a:solidFill>
              <a:latin typeface="微软雅黑" panose="020B0503020204020204" pitchFamily="34" charset="-122"/>
              <a:ea typeface="微软雅黑" panose="020B0503020204020204" pitchFamily="34" charset="-122"/>
            </a:endParaRPr>
          </a:p>
        </p:txBody>
      </p:sp>
      <p:sp>
        <p:nvSpPr>
          <p:cNvPr id="13" name="标题 1"/>
          <p:cNvSpPr txBox="1"/>
          <p:nvPr userDrawn="1"/>
        </p:nvSpPr>
        <p:spPr>
          <a:xfrm>
            <a:off x="0" y="3553860"/>
            <a:ext cx="12192000" cy="692978"/>
          </a:xfrm>
          <a:prstGeom prst="rect">
            <a:avLst/>
          </a:prstGeom>
        </p:spPr>
        <p:txBody>
          <a:bodyPr/>
          <a:lstStyle>
            <a:lvl1pPr algn="l" defTabSz="685800" rtl="0" eaLnBrk="1" latinLnBrk="0" hangingPunct="1">
              <a:lnSpc>
                <a:spcPct val="90000"/>
              </a:lnSpc>
              <a:spcBef>
                <a:spcPct val="0"/>
              </a:spcBef>
              <a:buNone/>
              <a:defRPr lang="zh-CN" altLang="en-US" sz="3600" b="1" kern="1200" dirty="0" smtClean="0">
                <a:solidFill>
                  <a:srgbClr val="3D58A7"/>
                </a:solidFill>
                <a:latin typeface="Arial" panose="020B0604020202020204" pitchFamily="34" charset="0"/>
                <a:ea typeface="微软雅黑" panose="020B0503020204020204" pitchFamily="34" charset="-122"/>
                <a:cs typeface="+mj-cs"/>
              </a:defRPr>
            </a:lvl1pPr>
          </a:lstStyle>
          <a:p>
            <a:pPr algn="ctr"/>
            <a:endParaRPr lang="zh-CN" altLang="en-US" sz="4800" dirty="0">
              <a:solidFill>
                <a:schemeClr val="bg1"/>
              </a:solidFill>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5675954" y="2174061"/>
            <a:ext cx="810581" cy="692978"/>
          </a:xfrm>
          <a:prstGeom prst="rect">
            <a:avLst/>
          </a:prstGeom>
        </p:spPr>
        <p:txBody>
          <a:bodyPr/>
          <a:lstStyle>
            <a:lvl1pPr algn="l" defTabSz="685800" rtl="0" eaLnBrk="1" latinLnBrk="0" hangingPunct="1">
              <a:lnSpc>
                <a:spcPct val="90000"/>
              </a:lnSpc>
              <a:spcBef>
                <a:spcPct val="0"/>
              </a:spcBef>
              <a:buNone/>
              <a:defRPr lang="zh-CN" altLang="en-US" sz="3600" b="1" kern="1200" dirty="0" smtClean="0">
                <a:solidFill>
                  <a:srgbClr val="3D58A7"/>
                </a:solidFill>
                <a:latin typeface="Arial" panose="020B0604020202020204" pitchFamily="34" charset="0"/>
                <a:ea typeface="微软雅黑" panose="020B0503020204020204" pitchFamily="34" charset="-122"/>
                <a:cs typeface="+mj-cs"/>
              </a:defRPr>
            </a:lvl1pPr>
          </a:lstStyle>
          <a:p>
            <a:pPr algn="ctr"/>
            <a:endParaRPr lang="zh-CN" altLang="en-US" sz="3600" dirty="0">
              <a:solidFill>
                <a:schemeClr val="bg1"/>
              </a:solidFill>
            </a:endParaRPr>
          </a:p>
        </p:txBody>
      </p:sp>
      <p:sp>
        <p:nvSpPr>
          <p:cNvPr id="21" name="文本占位符 20"/>
          <p:cNvSpPr>
            <a:spLocks noGrp="1"/>
          </p:cNvSpPr>
          <p:nvPr>
            <p:ph type="body" sz="quarter" idx="10" hasCustomPrompt="1"/>
          </p:nvPr>
        </p:nvSpPr>
        <p:spPr>
          <a:xfrm>
            <a:off x="0" y="3554413"/>
            <a:ext cx="12192000" cy="914400"/>
          </a:xfrm>
          <a:prstGeom prst="rect">
            <a:avLst/>
          </a:prstGeom>
        </p:spPr>
        <p:txBody>
          <a:bodyPr/>
          <a:lstStyle>
            <a:lvl1pPr marL="0" indent="0" algn="ctr">
              <a:buFontTx/>
              <a:buNone/>
              <a:defRPr sz="48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endParaRPr lang="zh-CN" altLang="en-US" dirty="0"/>
          </a:p>
        </p:txBody>
      </p:sp>
      <p:sp>
        <p:nvSpPr>
          <p:cNvPr id="23" name="文本占位符 22"/>
          <p:cNvSpPr>
            <a:spLocks noGrp="1"/>
          </p:cNvSpPr>
          <p:nvPr>
            <p:ph type="body" sz="quarter" idx="11" hasCustomPrompt="1"/>
          </p:nvPr>
        </p:nvSpPr>
        <p:spPr>
          <a:xfrm>
            <a:off x="5632140" y="2125081"/>
            <a:ext cx="927717" cy="664298"/>
          </a:xfrm>
          <a:prstGeom prst="rect">
            <a:avLst/>
          </a:prstGeom>
        </p:spPr>
        <p:txBody>
          <a:bodyPr/>
          <a:lstStyle>
            <a:lvl1pPr marL="0" indent="0" algn="ctr">
              <a:buNone/>
              <a:defRPr sz="40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321907" y="143635"/>
            <a:ext cx="8414387" cy="692978"/>
          </a:xfrm>
          <a:prstGeom prst="rect">
            <a:avLst/>
          </a:prstGeom>
        </p:spPr>
        <p:txBody>
          <a:bodyPr/>
          <a:lstStyle>
            <a:lvl1pPr>
              <a:defRPr lang="zh-CN" altLang="en-US" sz="3600" b="1" dirty="0">
                <a:solidFill>
                  <a:srgbClr val="3D58A7"/>
                </a:solidFill>
                <a:latin typeface="微软雅黑" panose="020B0503020204020204" pitchFamily="34" charset="-122"/>
                <a:ea typeface="微软雅黑" panose="020B0503020204020204" pitchFamily="34" charset="-122"/>
              </a:defRPr>
            </a:lvl1pPr>
          </a:lstStyle>
          <a:p>
            <a:pPr lvl="0"/>
            <a:endParaRPr lang="zh-CN" altLang="en-US" dirty="0"/>
          </a:p>
        </p:txBody>
      </p:sp>
      <p:sp>
        <p:nvSpPr>
          <p:cNvPr id="5" name="文本占位符 4"/>
          <p:cNvSpPr>
            <a:spLocks noGrp="1"/>
          </p:cNvSpPr>
          <p:nvPr>
            <p:ph type="body" sz="quarter" idx="10" hasCustomPrompt="1"/>
          </p:nvPr>
        </p:nvSpPr>
        <p:spPr>
          <a:xfrm>
            <a:off x="321906" y="1043736"/>
            <a:ext cx="11669039" cy="495055"/>
          </a:xfrm>
          <a:prstGeom prst="rect">
            <a:avLst/>
          </a:prstGeom>
        </p:spPr>
        <p:txBody>
          <a:bodyPr anchor="ctr"/>
          <a:lstStyle>
            <a:lvl1pPr marL="449580" indent="-449580">
              <a:buFont typeface="Wingdings" panose="05000000000000000000" pitchFamily="2" charset="2"/>
              <a:buChar char="n"/>
              <a:defRPr sz="2400" b="1">
                <a:solidFill>
                  <a:srgbClr val="FF0000"/>
                </a:solidFill>
                <a:latin typeface="微软雅黑" panose="020B0503020204020204" pitchFamily="34" charset="-122"/>
                <a:ea typeface="微软雅黑" panose="020B0503020204020204" pitchFamily="34" charset="-122"/>
              </a:defRPr>
            </a:lvl1pPr>
            <a:lvl2pPr marL="342900" indent="0">
              <a:buNone/>
              <a:defRPr/>
            </a:lvl2pPr>
          </a:lstStyle>
          <a:p>
            <a:pPr marL="449580" indent="-449580">
              <a:buFont typeface="Wingdings" panose="05000000000000000000" pitchFamily="2" charset="2"/>
              <a:buChar char="n"/>
            </a:pPr>
            <a:r>
              <a:rPr lang="zh-CN" altLang="en-US" sz="2400" b="1" dirty="0">
                <a:solidFill>
                  <a:srgbClr val="FF0000"/>
                </a:solidFill>
                <a:latin typeface="微软雅黑" panose="020B0503020204020204" pitchFamily="34" charset="-122"/>
                <a:ea typeface="微软雅黑" panose="020B0503020204020204" pitchFamily="34" charset="-122"/>
              </a:rPr>
              <a:t>标题</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321907" y="143635"/>
            <a:ext cx="8414387" cy="692978"/>
          </a:xfrm>
          <a:prstGeom prst="rect">
            <a:avLst/>
          </a:prstGeom>
        </p:spPr>
        <p:txBody>
          <a:bodyPr/>
          <a:lstStyle>
            <a:lvl1pPr>
              <a:defRPr lang="zh-CN" altLang="en-US" sz="3600" b="1" dirty="0">
                <a:solidFill>
                  <a:srgbClr val="3D58A7"/>
                </a:solidFill>
                <a:latin typeface="微软雅黑" panose="020B0503020204020204" pitchFamily="34" charset="-122"/>
                <a:ea typeface="微软雅黑" panose="020B0503020204020204" pitchFamily="34" charset="-122"/>
              </a:defRPr>
            </a:lvl1pPr>
          </a:lstStyle>
          <a:p>
            <a:pPr lvl="0"/>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5_标题幻灯片">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a:extLst>
              <a:ext uri="{28A0092B-C50C-407E-A947-70E740481C1C}">
                <a14:useLocalDpi xmlns:a14="http://schemas.microsoft.com/office/drawing/2010/main" val="0"/>
              </a:ext>
            </a:extLst>
          </a:blip>
          <a:srcRect l="7693"/>
          <a:stretch>
            <a:fillRect/>
          </a:stretch>
        </p:blipFill>
        <p:spPr>
          <a:xfrm>
            <a:off x="-24680" y="2081622"/>
            <a:ext cx="12241021" cy="2018755"/>
          </a:xfrm>
          <a:prstGeom prst="rect">
            <a:avLst/>
          </a:prstGeom>
        </p:spPr>
      </p:pic>
      <p:sp>
        <p:nvSpPr>
          <p:cNvPr id="16" name="平行四边形 9"/>
          <p:cNvSpPr/>
          <p:nvPr userDrawn="1"/>
        </p:nvSpPr>
        <p:spPr>
          <a:xfrm>
            <a:off x="8688288" y="4184457"/>
            <a:ext cx="3503712" cy="144016"/>
          </a:xfrm>
          <a:custGeom>
            <a:avLst/>
            <a:gdLst>
              <a:gd name="connsiteX0" fmla="*/ 0 w 2627784"/>
              <a:gd name="connsiteY0" fmla="*/ 144016 h 144016"/>
              <a:gd name="connsiteX1" fmla="*/ 79565 w 2627784"/>
              <a:gd name="connsiteY1" fmla="*/ 0 h 144016"/>
              <a:gd name="connsiteX2" fmla="*/ 2627784 w 2627784"/>
              <a:gd name="connsiteY2" fmla="*/ 0 h 144016"/>
              <a:gd name="connsiteX3" fmla="*/ 2548219 w 2627784"/>
              <a:gd name="connsiteY3" fmla="*/ 144016 h 144016"/>
              <a:gd name="connsiteX4" fmla="*/ 0 w 2627784"/>
              <a:gd name="connsiteY4" fmla="*/ 144016 h 144016"/>
              <a:gd name="connsiteX0-1" fmla="*/ 0 w 2627784"/>
              <a:gd name="connsiteY0-2" fmla="*/ 144016 h 144016"/>
              <a:gd name="connsiteX1-3" fmla="*/ 79565 w 2627784"/>
              <a:gd name="connsiteY1-4" fmla="*/ 0 h 144016"/>
              <a:gd name="connsiteX2-5" fmla="*/ 2627784 w 2627784"/>
              <a:gd name="connsiteY2-6" fmla="*/ 0 h 144016"/>
              <a:gd name="connsiteX3-7" fmla="*/ 2626507 w 2627784"/>
              <a:gd name="connsiteY3-8" fmla="*/ 140885 h 144016"/>
              <a:gd name="connsiteX4-9" fmla="*/ 0 w 2627784"/>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27784" h="144016">
                <a:moveTo>
                  <a:pt x="0" y="144016"/>
                </a:moveTo>
                <a:lnTo>
                  <a:pt x="79565" y="0"/>
                </a:lnTo>
                <a:lnTo>
                  <a:pt x="2627784" y="0"/>
                </a:lnTo>
                <a:cubicBezTo>
                  <a:pt x="2627358" y="46962"/>
                  <a:pt x="2626933" y="93923"/>
                  <a:pt x="2626507" y="140885"/>
                </a:cubicBezTo>
                <a:lnTo>
                  <a:pt x="0" y="144016"/>
                </a:lnTo>
                <a:close/>
              </a:path>
            </a:pathLst>
          </a:cu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平行四边形 10"/>
          <p:cNvSpPr/>
          <p:nvPr userDrawn="1"/>
        </p:nvSpPr>
        <p:spPr>
          <a:xfrm>
            <a:off x="-2473" y="4184457"/>
            <a:ext cx="8690760" cy="144016"/>
          </a:xfrm>
          <a:custGeom>
            <a:avLst/>
            <a:gdLst>
              <a:gd name="connsiteX0" fmla="*/ 0 w 6516215"/>
              <a:gd name="connsiteY0" fmla="*/ 144016 h 144016"/>
              <a:gd name="connsiteX1" fmla="*/ 79565 w 6516215"/>
              <a:gd name="connsiteY1" fmla="*/ 0 h 144016"/>
              <a:gd name="connsiteX2" fmla="*/ 6516215 w 6516215"/>
              <a:gd name="connsiteY2" fmla="*/ 0 h 144016"/>
              <a:gd name="connsiteX3" fmla="*/ 6436650 w 6516215"/>
              <a:gd name="connsiteY3" fmla="*/ 144016 h 144016"/>
              <a:gd name="connsiteX4" fmla="*/ 0 w 6516215"/>
              <a:gd name="connsiteY4" fmla="*/ 144016 h 144016"/>
              <a:gd name="connsiteX0-1" fmla="*/ 1855 w 6518070"/>
              <a:gd name="connsiteY0-2" fmla="*/ 144016 h 144016"/>
              <a:gd name="connsiteX1-3" fmla="*/ 0 w 6518070"/>
              <a:gd name="connsiteY1-4" fmla="*/ 0 h 144016"/>
              <a:gd name="connsiteX2-5" fmla="*/ 6518070 w 6518070"/>
              <a:gd name="connsiteY2-6" fmla="*/ 0 h 144016"/>
              <a:gd name="connsiteX3-7" fmla="*/ 6438505 w 6518070"/>
              <a:gd name="connsiteY3-8" fmla="*/ 144016 h 144016"/>
              <a:gd name="connsiteX4-9" fmla="*/ 1855 w 6518070"/>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18070" h="144016">
                <a:moveTo>
                  <a:pt x="1855" y="144016"/>
                </a:moveTo>
                <a:cubicBezTo>
                  <a:pt x="1237" y="96011"/>
                  <a:pt x="618" y="48005"/>
                  <a:pt x="0" y="0"/>
                </a:cubicBezTo>
                <a:lnTo>
                  <a:pt x="6518070" y="0"/>
                </a:lnTo>
                <a:lnTo>
                  <a:pt x="6438505" y="144016"/>
                </a:lnTo>
                <a:lnTo>
                  <a:pt x="1855" y="144016"/>
                </a:lnTo>
                <a:close/>
              </a:path>
            </a:pathLst>
          </a:custGeom>
          <a:solidFill>
            <a:srgbClr val="0971CE"/>
          </a:solidFill>
          <a:ln>
            <a:solidFill>
              <a:srgbClr val="156B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userDrawn="1"/>
        </p:nvSpPr>
        <p:spPr>
          <a:xfrm>
            <a:off x="-24679" y="2096226"/>
            <a:ext cx="12241021" cy="2016222"/>
          </a:xfrm>
          <a:prstGeom prst="rect">
            <a:avLst/>
          </a:prstGeom>
        </p:spPr>
        <p:txBody>
          <a:bodyPr wrap="square" anchor="ctr">
            <a:noAutofit/>
          </a:bodyPr>
          <a:lstStyle/>
          <a:p>
            <a:pPr algn="ctr">
              <a:lnSpc>
                <a:spcPct val="120000"/>
              </a:lnSpc>
            </a:pPr>
            <a:r>
              <a:rPr lang="zh-CN" altLang="en-US" sz="5400" b="1" kern="1200" spc="0" dirty="0">
                <a:gradFill>
                  <a:gsLst>
                    <a:gs pos="0">
                      <a:schemeClr val="bg1"/>
                    </a:gs>
                    <a:gs pos="100000">
                      <a:schemeClr val="bg1"/>
                    </a:gs>
                  </a:gsLst>
                  <a:lin ang="5400000" scaled="0"/>
                </a:gradFill>
                <a:latin typeface="微软雅黑" panose="020B0503020204020204" pitchFamily="34" charset="-122"/>
                <a:ea typeface="微软雅黑" panose="020B0503020204020204" pitchFamily="34" charset="-122"/>
                <a:cs typeface="+mn-cs"/>
              </a:rPr>
              <a:t>谢谢大家 欢迎指正</a:t>
            </a:r>
            <a:endParaRPr lang="zh-CN" altLang="en-US" sz="5400" b="1" kern="1200" spc="0" dirty="0">
              <a:gradFill>
                <a:gsLst>
                  <a:gs pos="0">
                    <a:schemeClr val="bg1"/>
                  </a:gs>
                  <a:gs pos="100000">
                    <a:schemeClr val="bg1"/>
                  </a:gs>
                </a:gsLst>
                <a:lin ang="5400000" scaled="0"/>
              </a:gradFill>
              <a:latin typeface="微软雅黑" panose="020B0503020204020204" pitchFamily="34" charset="-122"/>
              <a:ea typeface="微软雅黑" panose="020B0503020204020204" pitchFamily="34" charset="-122"/>
              <a:cs typeface="+mn-cs"/>
            </a:endParaRPr>
          </a:p>
        </p:txBody>
      </p:sp>
      <p:sp>
        <p:nvSpPr>
          <p:cNvPr id="12" name="平行四边形 11"/>
          <p:cNvSpPr/>
          <p:nvPr userDrawn="1"/>
        </p:nvSpPr>
        <p:spPr>
          <a:xfrm>
            <a:off x="4865179" y="1358770"/>
            <a:ext cx="7326821" cy="674618"/>
          </a:xfrm>
          <a:prstGeom prst="parallelogram">
            <a:avLst>
              <a:gd name="adj" fmla="val 23419"/>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文本占位符 4"/>
          <p:cNvSpPr>
            <a:spLocks noGrp="1"/>
          </p:cNvSpPr>
          <p:nvPr>
            <p:ph type="body" sz="quarter" idx="11" hasCustomPrompt="1"/>
          </p:nvPr>
        </p:nvSpPr>
        <p:spPr>
          <a:xfrm>
            <a:off x="5075887" y="1367189"/>
            <a:ext cx="6867144" cy="642683"/>
          </a:xfrm>
          <a:prstGeom prst="rect">
            <a:avLst/>
          </a:prstGeom>
        </p:spPr>
        <p:txBody>
          <a:bodyPr anchor="ctr"/>
          <a:lstStyle>
            <a:lvl1pPr marL="0" indent="0" algn="ctr">
              <a:lnSpc>
                <a:spcPct val="100000"/>
              </a:lnSpc>
              <a:spcBef>
                <a:spcPts val="0"/>
              </a:spcBef>
              <a:buFontTx/>
              <a:buNone/>
              <a:defRPr lang="zh-CN" altLang="en-US" sz="2000" b="0" kern="1200" spc="0" dirty="0">
                <a:solidFill>
                  <a:srgbClr val="003F98"/>
                </a:solidFill>
                <a:latin typeface="Arial" panose="020B0604020202020204" pitchFamily="34" charset="0"/>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latin typeface="华文楷体" panose="02010600040101010101" pitchFamily="2" charset="-122"/>
                <a:ea typeface="华文楷体" panose="02010600040101010101" pitchFamily="2" charset="-122"/>
              </a:rPr>
              <a:t>智能信息处理与通信技术省高校重点实验室</a:t>
            </a:r>
            <a:endParaRPr lang="zh-CN" altLang="en-US" sz="1800" b="1"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76320" y="53625"/>
            <a:ext cx="3027010" cy="795287"/>
          </a:xfrm>
          <a:prstGeom prst="rect">
            <a:avLst/>
          </a:prstGeom>
        </p:spPr>
      </p:pic>
      <p:pic>
        <p:nvPicPr>
          <p:cNvPr id="3" name="图片 2" descr="徽标&#10;&#10;描述已自动生成"/>
          <p:cNvPicPr>
            <a:picLocks noChangeAspect="1"/>
          </p:cNvPicPr>
          <p:nvPr userDrawn="1"/>
        </p:nvPicPr>
        <p:blipFill>
          <a:blip r:embed="rId4"/>
          <a:stretch>
            <a:fillRect/>
          </a:stretch>
        </p:blipFill>
        <p:spPr>
          <a:xfrm>
            <a:off x="323685" y="1133745"/>
            <a:ext cx="1078695" cy="996462"/>
          </a:xfrm>
          <a:prstGeom prst="rect">
            <a:avLst/>
          </a:prstGeom>
        </p:spPr>
      </p:pic>
      <p:pic>
        <p:nvPicPr>
          <p:cNvPr id="4" name="图片 3"/>
          <p:cNvPicPr>
            <a:picLocks noChangeAspect="1"/>
          </p:cNvPicPr>
          <p:nvPr userDrawn="1"/>
        </p:nvPicPr>
        <p:blipFill>
          <a:blip r:embed="rId5"/>
          <a:stretch>
            <a:fillRect/>
          </a:stretch>
        </p:blipFill>
        <p:spPr>
          <a:xfrm>
            <a:off x="1415480" y="1263031"/>
            <a:ext cx="3000750" cy="7378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2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4" name="图片 3"/>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00346" y="124241"/>
            <a:ext cx="3813608" cy="919494"/>
          </a:xfrm>
          <a:prstGeom prst="rect">
            <a:avLst/>
          </a:prstGeom>
          <a:noFill/>
          <a:ln>
            <a:noFill/>
          </a:ln>
        </p:spPr>
      </p:pic>
      <p:sp>
        <p:nvSpPr>
          <p:cNvPr id="9" name="文本占位符 8"/>
          <p:cNvSpPr>
            <a:spLocks noGrp="1"/>
          </p:cNvSpPr>
          <p:nvPr>
            <p:ph type="body" sz="quarter" idx="10" hasCustomPrompt="1"/>
          </p:nvPr>
        </p:nvSpPr>
        <p:spPr>
          <a:xfrm>
            <a:off x="35328" y="1444685"/>
            <a:ext cx="12156673" cy="914400"/>
          </a:xfrm>
          <a:prstGeom prst="rect">
            <a:avLst/>
          </a:prstGeom>
        </p:spPr>
        <p:txBody>
          <a:bodyPr anchor="ctr"/>
          <a:lstStyle>
            <a:lvl1pPr marL="0" indent="0" algn="ctr">
              <a:buFontTx/>
              <a:buNone/>
              <a:defRPr lang="zh-CN" altLang="en-US" sz="5400" b="1" kern="1200" dirty="0">
                <a:solidFill>
                  <a:srgbClr val="FFFF00"/>
                </a:solidFill>
                <a:latin typeface="微软雅黑" panose="020B0503020204020204" pitchFamily="34" charset="-122"/>
                <a:ea typeface="微软雅黑" panose="020B0503020204020204" pitchFamily="34" charset="-122"/>
                <a:cs typeface="+mn-cs"/>
              </a:defRPr>
            </a:lvl1pPr>
          </a:lstStyle>
          <a:p>
            <a:pPr lvl="0"/>
            <a:r>
              <a:rPr lang="zh-CN" altLang="en-US" dirty="0"/>
              <a:t>热烈欢迎</a:t>
            </a:r>
            <a:endParaRPr lang="zh-CN" altLang="en-US" dirty="0"/>
          </a:p>
        </p:txBody>
      </p:sp>
      <p:sp>
        <p:nvSpPr>
          <p:cNvPr id="10" name="文本占位符 8"/>
          <p:cNvSpPr>
            <a:spLocks noGrp="1"/>
          </p:cNvSpPr>
          <p:nvPr>
            <p:ph type="body" sz="quarter" idx="11" hasCustomPrompt="1"/>
          </p:nvPr>
        </p:nvSpPr>
        <p:spPr>
          <a:xfrm>
            <a:off x="35328" y="2669073"/>
            <a:ext cx="12156673" cy="914400"/>
          </a:xfrm>
          <a:prstGeom prst="rect">
            <a:avLst/>
          </a:prstGeom>
        </p:spPr>
        <p:txBody>
          <a:bodyPr anchor="ctr"/>
          <a:lstStyle>
            <a:lvl1pPr marL="0" indent="0" algn="ctr">
              <a:buFontTx/>
              <a:buNone/>
              <a:defRPr lang="zh-CN" altLang="en-US" sz="4800" b="1" kern="1200" dirty="0">
                <a:solidFill>
                  <a:srgbClr val="FFFF00"/>
                </a:solidFill>
                <a:latin typeface="微软雅黑" panose="020B0503020204020204" pitchFamily="34" charset="-122"/>
                <a:ea typeface="微软雅黑" panose="020B0503020204020204" pitchFamily="34" charset="-122"/>
                <a:cs typeface="+mn-cs"/>
              </a:defRPr>
            </a:lvl1pPr>
          </a:lstStyle>
          <a:p>
            <a:pPr lvl="0"/>
            <a:r>
              <a:rPr lang="zh-CN" altLang="en-US" dirty="0"/>
              <a:t>南京邮电大学</a:t>
            </a:r>
            <a:endParaRPr lang="zh-CN" altLang="en-US" dirty="0"/>
          </a:p>
        </p:txBody>
      </p:sp>
      <p:sp>
        <p:nvSpPr>
          <p:cNvPr id="11" name="文本占位符 8"/>
          <p:cNvSpPr>
            <a:spLocks noGrp="1"/>
          </p:cNvSpPr>
          <p:nvPr>
            <p:ph type="body" sz="quarter" idx="12" hasCustomPrompt="1"/>
          </p:nvPr>
        </p:nvSpPr>
        <p:spPr>
          <a:xfrm>
            <a:off x="35326" y="3846909"/>
            <a:ext cx="12156673" cy="914400"/>
          </a:xfrm>
          <a:prstGeom prst="rect">
            <a:avLst/>
          </a:prstGeom>
        </p:spPr>
        <p:txBody>
          <a:bodyPr anchor="ctr"/>
          <a:lstStyle>
            <a:lvl1pPr marL="0" indent="0" algn="ctr">
              <a:buFontTx/>
              <a:buNone/>
              <a:defRPr lang="zh-CN" altLang="en-US" sz="4000" b="1" kern="1200" dirty="0">
                <a:solidFill>
                  <a:srgbClr val="FFFF00"/>
                </a:solidFill>
                <a:latin typeface="微软雅黑" panose="020B0503020204020204" pitchFamily="34" charset="-122"/>
                <a:ea typeface="微软雅黑" panose="020B0503020204020204" pitchFamily="34" charset="-122"/>
                <a:cs typeface="+mn-cs"/>
              </a:defRPr>
            </a:lvl1pPr>
          </a:lstStyle>
          <a:p>
            <a:pPr lvl="0"/>
            <a:r>
              <a:rPr lang="zh-CN" altLang="en-US" dirty="0"/>
              <a:t>莅临南京邮电大学边缘智能研究院</a:t>
            </a:r>
            <a:endParaRPr lang="zh-CN" altLang="en-US" dirty="0"/>
          </a:p>
        </p:txBody>
      </p:sp>
      <p:pic>
        <p:nvPicPr>
          <p:cNvPr id="8" name="图片 7"/>
          <p:cNvPicPr>
            <a:picLocks noChangeAspect="1"/>
          </p:cNvPicPr>
          <p:nvPr userDrawn="1"/>
        </p:nvPicPr>
        <p:blipFill>
          <a:blip r:embed="rId4">
            <a:biLevel thresh="25000"/>
            <a:extLst>
              <a:ext uri="{28A0092B-C50C-407E-A947-70E740481C1C}">
                <a14:useLocalDpi xmlns:a14="http://schemas.microsoft.com/office/drawing/2010/main" val="0"/>
              </a:ext>
            </a:extLst>
          </a:blip>
          <a:stretch>
            <a:fillRect/>
          </a:stretch>
        </p:blipFill>
        <p:spPr>
          <a:xfrm>
            <a:off x="7446150" y="176662"/>
            <a:ext cx="4612734" cy="567901"/>
          </a:xfrm>
          <a:prstGeom prst="rect">
            <a:avLst/>
          </a:prstGeom>
        </p:spPr>
      </p:pic>
      <p:sp>
        <p:nvSpPr>
          <p:cNvPr id="13" name="文本框 12"/>
          <p:cNvSpPr txBox="1"/>
          <p:nvPr userDrawn="1"/>
        </p:nvSpPr>
        <p:spPr>
          <a:xfrm>
            <a:off x="4992201" y="5787468"/>
            <a:ext cx="224292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fld id="{D6891E28-1E21-4621-B9C7-5A0B3731C0FC}" type="datetime2">
              <a:rPr lang="zh-CN" altLang="en-US" sz="2400" b="1" kern="1200" smtClean="0">
                <a:solidFill>
                  <a:srgbClr val="FFFF00"/>
                </a:solidFill>
                <a:latin typeface="微软雅黑" panose="020B0503020204020204" pitchFamily="34" charset="-122"/>
                <a:ea typeface="微软雅黑" panose="020B0503020204020204" pitchFamily="34" charset="-122"/>
                <a:cs typeface="+mn-cs"/>
              </a:rPr>
            </a:fld>
            <a:endParaRPr lang="zh-CN" altLang="en-US" sz="2400" b="1" kern="1200" dirty="0">
              <a:solidFill>
                <a:srgbClr val="FFFF00"/>
              </a:solidFill>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12_自定义版式">
    <p:spTree>
      <p:nvGrpSpPr>
        <p:cNvPr id="1" name=""/>
        <p:cNvGrpSpPr/>
        <p:nvPr/>
      </p:nvGrpSpPr>
      <p:grpSpPr>
        <a:xfrm>
          <a:off x="0" y="0"/>
          <a:ext cx="0" cy="0"/>
          <a:chOff x="0" y="0"/>
          <a:chExt cx="0" cy="0"/>
        </a:xfrm>
      </p:grpSpPr>
      <p:grpSp>
        <p:nvGrpSpPr>
          <p:cNvPr id="2" name="组合 42"/>
          <p:cNvGrpSpPr/>
          <p:nvPr userDrawn="1"/>
        </p:nvGrpSpPr>
        <p:grpSpPr bwMode="auto">
          <a:xfrm>
            <a:off x="337752" y="998731"/>
            <a:ext cx="4438101" cy="2161665"/>
            <a:chOff x="3188065" y="1778329"/>
            <a:chExt cx="2489174" cy="2267160"/>
          </a:xfrm>
        </p:grpSpPr>
        <p:sp>
          <p:nvSpPr>
            <p:cNvPr id="3" name="圆角矩形 14"/>
            <p:cNvSpPr>
              <a:spLocks noChangeArrowheads="1"/>
            </p:cNvSpPr>
            <p:nvPr/>
          </p:nvSpPr>
          <p:spPr bwMode="auto">
            <a:xfrm>
              <a:off x="3188065" y="1778329"/>
              <a:ext cx="2489174" cy="2267160"/>
            </a:xfrm>
            <a:prstGeom prst="roundRect">
              <a:avLst>
                <a:gd name="adj" fmla="val 5015"/>
              </a:avLst>
            </a:prstGeom>
            <a:solidFill>
              <a:schemeClr val="bg1"/>
            </a:solidFill>
            <a:ln w="6350">
              <a:solidFill>
                <a:srgbClr val="0971CE"/>
              </a:solidFill>
              <a:prstDash val="dash"/>
              <a:rou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35000"/>
                </a:lnSpc>
                <a:spcBef>
                  <a:spcPts val="1200"/>
                </a:spcBef>
                <a:spcAft>
                  <a:spcPts val="1200"/>
                </a:spcAft>
                <a:buClr>
                  <a:srgbClr val="202A36"/>
                </a:buClr>
                <a:buFontTx/>
                <a:buNone/>
              </a:pPr>
              <a:endParaRPr lang="zh-CN" altLang="en-US" sz="1600">
                <a:latin typeface="Arial" panose="020B0604020202020204" pitchFamily="34" charset="0"/>
                <a:ea typeface="微软雅黑" panose="020B0503020204020204" pitchFamily="34" charset="-122"/>
              </a:endParaRPr>
            </a:p>
          </p:txBody>
        </p:sp>
        <p:sp>
          <p:nvSpPr>
            <p:cNvPr id="4" name="矩形 3"/>
            <p:cNvSpPr/>
            <p:nvPr/>
          </p:nvSpPr>
          <p:spPr>
            <a:xfrm>
              <a:off x="3188436" y="1850969"/>
              <a:ext cx="2488803" cy="458308"/>
            </a:xfrm>
            <a:prstGeom prst="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5" name="文本占位符 13"/>
          <p:cNvSpPr>
            <a:spLocks noGrp="1"/>
          </p:cNvSpPr>
          <p:nvPr>
            <p:ph type="body" sz="quarter" idx="10" hasCustomPrompt="1"/>
          </p:nvPr>
        </p:nvSpPr>
        <p:spPr>
          <a:xfrm>
            <a:off x="400867" y="3322513"/>
            <a:ext cx="4819411" cy="448095"/>
          </a:xfrm>
          <a:prstGeom prst="rect">
            <a:avLst/>
          </a:prstGeom>
        </p:spPr>
        <p:txBody>
          <a:bodyPr anchor="ctr"/>
          <a:lstStyle>
            <a:lvl1pPr>
              <a:defRPr sz="1400" b="1">
                <a:latin typeface="微软雅黑" panose="020B0503020204020204" pitchFamily="34" charset="-122"/>
                <a:ea typeface="微软雅黑" panose="020B0503020204020204" pitchFamily="34" charset="-122"/>
              </a:defRPr>
            </a:lvl1pPr>
          </a:lstStyle>
          <a:p>
            <a:pPr lvl="0"/>
            <a:r>
              <a:rPr lang="zh-CN" altLang="en-US" dirty="0"/>
              <a:t>文字</a:t>
            </a:r>
            <a:endParaRPr lang="zh-CN" altLang="en-US" dirty="0"/>
          </a:p>
        </p:txBody>
      </p:sp>
      <p:sp>
        <p:nvSpPr>
          <p:cNvPr id="6" name="文本占位符 13"/>
          <p:cNvSpPr>
            <a:spLocks noGrp="1"/>
          </p:cNvSpPr>
          <p:nvPr>
            <p:ph type="body" sz="quarter" idx="11" hasCustomPrompt="1"/>
          </p:nvPr>
        </p:nvSpPr>
        <p:spPr>
          <a:xfrm>
            <a:off x="343970" y="1036659"/>
            <a:ext cx="4431884" cy="448095"/>
          </a:xfrm>
          <a:prstGeom prst="rect">
            <a:avLst/>
          </a:prstGeom>
        </p:spPr>
        <p:txBody>
          <a:bodyPr anchor="ctr"/>
          <a:lstStyle>
            <a:lvl1pPr marL="0" indent="0" algn="ctr">
              <a:buFontTx/>
              <a:buNone/>
              <a:defRPr sz="1600" b="1">
                <a:solidFill>
                  <a:schemeClr val="bg1"/>
                </a:solidFill>
                <a:latin typeface="微软雅黑" panose="020B0503020204020204" pitchFamily="34" charset="-122"/>
                <a:ea typeface="微软雅黑" panose="020B0503020204020204" pitchFamily="34" charset="-122"/>
              </a:defRPr>
            </a:lvl1pPr>
          </a:lstStyle>
          <a:p>
            <a:pPr lvl="0"/>
            <a:r>
              <a:rPr lang="zh-CN" altLang="en-US" dirty="0"/>
              <a:t>文字</a:t>
            </a:r>
            <a:endParaRPr lang="zh-CN" altLang="en-US" dirty="0"/>
          </a:p>
        </p:txBody>
      </p:sp>
      <p:sp>
        <p:nvSpPr>
          <p:cNvPr id="7" name="圆角矩形 6"/>
          <p:cNvSpPr/>
          <p:nvPr userDrawn="1"/>
        </p:nvSpPr>
        <p:spPr>
          <a:xfrm>
            <a:off x="2975653" y="4734146"/>
            <a:ext cx="8628464" cy="97883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36000" rtlCol="0" anchor="ctr"/>
          <a:lstStyle/>
          <a:p>
            <a:pPr>
              <a:lnSpc>
                <a:spcPct val="135000"/>
              </a:lnSpc>
            </a:pPr>
            <a:endParaRPr lang="en-US" altLang="zh-CN" sz="1600" dirty="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8" name="圆角矩形 7"/>
          <p:cNvSpPr/>
          <p:nvPr userDrawn="1"/>
        </p:nvSpPr>
        <p:spPr>
          <a:xfrm>
            <a:off x="754781" y="4820051"/>
            <a:ext cx="1805651" cy="807022"/>
          </a:xfrm>
          <a:prstGeom prst="round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endParaRPr lang="zh-CN" altLang="zh-CN" sz="1800" dirty="0">
              <a:ln w="11430"/>
              <a:solidFill>
                <a:schemeClr val="bg1"/>
              </a:solidFill>
              <a:latin typeface="微软雅黑" panose="020B0503020204020204" pitchFamily="34" charset="-122"/>
              <a:ea typeface="微软雅黑" panose="020B0503020204020204" pitchFamily="34" charset="-122"/>
            </a:endParaRPr>
          </a:p>
        </p:txBody>
      </p:sp>
      <p:sp>
        <p:nvSpPr>
          <p:cNvPr id="9" name="右箭头 8"/>
          <p:cNvSpPr/>
          <p:nvPr userDrawn="1"/>
        </p:nvSpPr>
        <p:spPr>
          <a:xfrm>
            <a:off x="2629147" y="5102028"/>
            <a:ext cx="277792" cy="243068"/>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文本占位符 19"/>
          <p:cNvSpPr>
            <a:spLocks noGrp="1"/>
          </p:cNvSpPr>
          <p:nvPr>
            <p:ph type="body" sz="quarter" idx="12" hasCustomPrompt="1"/>
          </p:nvPr>
        </p:nvSpPr>
        <p:spPr>
          <a:xfrm>
            <a:off x="755407" y="4820855"/>
            <a:ext cx="1791565" cy="806218"/>
          </a:xfrm>
          <a:prstGeom prst="rect">
            <a:avLst/>
          </a:prstGeom>
        </p:spPr>
        <p:txBody>
          <a:bodyPr anchor="ctr"/>
          <a:lstStyle>
            <a:lvl1pPr marL="0" indent="0" algn="ctr">
              <a:buFontTx/>
              <a:buNone/>
              <a:defRPr lang="zh-CN" altLang="en-US" sz="1800" b="1" kern="1200" dirty="0">
                <a:ln w="11430"/>
                <a:solidFill>
                  <a:schemeClr val="bg1"/>
                </a:solidFill>
                <a:latin typeface="微软雅黑" panose="020B0503020204020204" pitchFamily="34" charset="-122"/>
                <a:ea typeface="微软雅黑" panose="020B0503020204020204" pitchFamily="34" charset="-122"/>
                <a:cs typeface="+mn-cs"/>
              </a:defRPr>
            </a:lvl1pPr>
          </a:lstStyle>
          <a:p>
            <a:pPr lvl="0"/>
            <a:r>
              <a:rPr lang="zh-CN" altLang="en-US" dirty="0"/>
              <a:t>文字</a:t>
            </a:r>
            <a:endParaRPr lang="en-US" altLang="zh-CN" dirty="0"/>
          </a:p>
        </p:txBody>
      </p:sp>
      <p:sp>
        <p:nvSpPr>
          <p:cNvPr id="11" name="文本占位符 21"/>
          <p:cNvSpPr>
            <a:spLocks noGrp="1"/>
          </p:cNvSpPr>
          <p:nvPr>
            <p:ph type="body" sz="quarter" idx="13" hasCustomPrompt="1"/>
          </p:nvPr>
        </p:nvSpPr>
        <p:spPr>
          <a:xfrm>
            <a:off x="3092339" y="4766362"/>
            <a:ext cx="8344255" cy="914400"/>
          </a:xfrm>
          <a:prstGeom prst="rect">
            <a:avLst/>
          </a:prstGeom>
        </p:spPr>
        <p:txBody>
          <a:bodyPr anchor="ctr"/>
          <a:lstStyle>
            <a:lvl1pPr>
              <a:defRPr sz="1600" b="1">
                <a:latin typeface="微软雅黑" panose="020B0503020204020204" pitchFamily="34" charset="-122"/>
                <a:ea typeface="微软雅黑" panose="020B0503020204020204" pitchFamily="34" charset="-122"/>
              </a:defRPr>
            </a:lvl1pPr>
          </a:lstStyle>
          <a:p>
            <a:pPr lvl="0"/>
            <a:r>
              <a:rPr lang="zh-CN" altLang="en-US" dirty="0"/>
              <a:t>文字</a:t>
            </a:r>
            <a:endParaRPr lang="en-US" altLang="zh-CN" dirty="0"/>
          </a:p>
        </p:txBody>
      </p:sp>
      <p:sp>
        <p:nvSpPr>
          <p:cNvPr id="12" name="矩形 11"/>
          <p:cNvSpPr/>
          <p:nvPr userDrawn="1"/>
        </p:nvSpPr>
        <p:spPr>
          <a:xfrm>
            <a:off x="6270435" y="1529346"/>
            <a:ext cx="5166159" cy="863797"/>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圆角矩形 12"/>
          <p:cNvSpPr/>
          <p:nvPr userDrawn="1"/>
        </p:nvSpPr>
        <p:spPr>
          <a:xfrm>
            <a:off x="6389169" y="1637929"/>
            <a:ext cx="835936"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管理部门</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 name="矩形 34"/>
          <p:cNvSpPr>
            <a:spLocks noChangeArrowheads="1"/>
          </p:cNvSpPr>
          <p:nvPr userDrawn="1"/>
        </p:nvSpPr>
        <p:spPr bwMode="auto">
          <a:xfrm>
            <a:off x="5641670" y="1521639"/>
            <a:ext cx="628765" cy="879454"/>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对象</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圆角矩形 14"/>
          <p:cNvSpPr/>
          <p:nvPr userDrawn="1"/>
        </p:nvSpPr>
        <p:spPr>
          <a:xfrm>
            <a:off x="7301540" y="1637929"/>
            <a:ext cx="861931"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医疗机构</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6" name="圆角矩形 15"/>
          <p:cNvSpPr/>
          <p:nvPr userDrawn="1"/>
        </p:nvSpPr>
        <p:spPr>
          <a:xfrm>
            <a:off x="7753106" y="2000368"/>
            <a:ext cx="895925" cy="295029"/>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诊疗信息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7" name="圆角矩形 16"/>
          <p:cNvSpPr/>
          <p:nvPr userDrawn="1"/>
        </p:nvSpPr>
        <p:spPr>
          <a:xfrm>
            <a:off x="8731725" y="2008386"/>
            <a:ext cx="900887"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随访信息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8" name="圆角矩形 17"/>
          <p:cNvSpPr/>
          <p:nvPr userDrawn="1"/>
        </p:nvSpPr>
        <p:spPr>
          <a:xfrm>
            <a:off x="9752824" y="2003199"/>
            <a:ext cx="981685"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医保数据</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9" name="圆角矩形 18"/>
          <p:cNvSpPr/>
          <p:nvPr userDrawn="1"/>
        </p:nvSpPr>
        <p:spPr>
          <a:xfrm>
            <a:off x="10466128" y="1637929"/>
            <a:ext cx="86357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研究机构</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0" name="圆角矩形 19"/>
          <p:cNvSpPr/>
          <p:nvPr userDrawn="1"/>
        </p:nvSpPr>
        <p:spPr>
          <a:xfrm>
            <a:off x="6389169" y="2004379"/>
            <a:ext cx="1273152"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患者基本信息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1" name="圆角矩形 20"/>
          <p:cNvSpPr/>
          <p:nvPr userDrawn="1"/>
        </p:nvSpPr>
        <p:spPr>
          <a:xfrm>
            <a:off x="8239905" y="1637929"/>
            <a:ext cx="662251"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家庭</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2" name="圆角矩形 21"/>
          <p:cNvSpPr/>
          <p:nvPr userDrawn="1"/>
        </p:nvSpPr>
        <p:spPr>
          <a:xfrm>
            <a:off x="8978591" y="1637929"/>
            <a:ext cx="69779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患者</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3" name="圆角矩形 22"/>
          <p:cNvSpPr/>
          <p:nvPr userDrawn="1"/>
        </p:nvSpPr>
        <p:spPr>
          <a:xfrm>
            <a:off x="9752825" y="1637929"/>
            <a:ext cx="636868"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企业</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4" name="文本框 23"/>
          <p:cNvSpPr txBox="1"/>
          <p:nvPr userDrawn="1"/>
        </p:nvSpPr>
        <p:spPr>
          <a:xfrm>
            <a:off x="10734509" y="1981725"/>
            <a:ext cx="828739" cy="369332"/>
          </a:xfrm>
          <a:prstGeom prst="rect">
            <a:avLst/>
          </a:prstGeom>
          <a:noFill/>
        </p:spPr>
        <p:txBody>
          <a:bodyPr wrap="square" rtlCol="0">
            <a:spAutoFit/>
          </a:bodyPr>
          <a:lstStyle/>
          <a:p>
            <a:r>
              <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9_自定义版式">
    <p:spTree>
      <p:nvGrpSpPr>
        <p:cNvPr id="1" name=""/>
        <p:cNvGrpSpPr/>
        <p:nvPr/>
      </p:nvGrpSpPr>
      <p:grpSpPr>
        <a:xfrm>
          <a:off x="0" y="0"/>
          <a:ext cx="0" cy="0"/>
          <a:chOff x="0" y="0"/>
          <a:chExt cx="0" cy="0"/>
        </a:xfrm>
      </p:grpSpPr>
      <p:sp>
        <p:nvSpPr>
          <p:cNvPr id="4" name="iṩlîḋé"/>
          <p:cNvSpPr/>
          <p:nvPr userDrawn="1"/>
        </p:nvSpPr>
        <p:spPr>
          <a:xfrm>
            <a:off x="755408" y="1448780"/>
            <a:ext cx="4896921" cy="1225864"/>
          </a:xfrm>
          <a:prstGeom prst="rect">
            <a:avLst/>
          </a:prstGeom>
          <a:solidFill>
            <a:schemeClr val="bg1"/>
          </a:solidFill>
          <a:ln w="76200">
            <a:solidFill>
              <a:srgbClr val="0971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800"/>
          </a:p>
        </p:txBody>
      </p:sp>
      <p:sp>
        <p:nvSpPr>
          <p:cNvPr id="5" name="íslíḓe"/>
          <p:cNvSpPr/>
          <p:nvPr userDrawn="1"/>
        </p:nvSpPr>
        <p:spPr>
          <a:xfrm>
            <a:off x="411323" y="1696259"/>
            <a:ext cx="5527148" cy="768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800"/>
          </a:p>
        </p:txBody>
      </p:sp>
      <p:sp>
        <p:nvSpPr>
          <p:cNvPr id="6" name="矩形 5"/>
          <p:cNvSpPr/>
          <p:nvPr userDrawn="1"/>
        </p:nvSpPr>
        <p:spPr>
          <a:xfrm>
            <a:off x="838534" y="1590583"/>
            <a:ext cx="4747801" cy="400110"/>
          </a:xfrm>
          <a:prstGeom prst="rect">
            <a:avLst/>
          </a:prstGeom>
        </p:spPr>
        <p:txBody>
          <a:bodyPr wrap="square">
            <a:spAutoFit/>
          </a:bodyPr>
          <a:lstStyle/>
          <a:p>
            <a:pPr algn="ctr"/>
            <a:r>
              <a:rPr lang="zh-CN" altLang="en-US" sz="2000" noProof="1">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文字</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710021" y="1996871"/>
            <a:ext cx="4942308" cy="415498"/>
          </a:xfrm>
          <a:prstGeom prst="rect">
            <a:avLst/>
          </a:prstGeom>
        </p:spPr>
        <p:txBody>
          <a:bodyPr wrap="square">
            <a:spAutoFit/>
          </a:bodyPr>
          <a:lstStyle/>
          <a:p>
            <a:pPr algn="ctr">
              <a:lnSpc>
                <a:spcPct val="150000"/>
              </a:lnSpc>
              <a:buClr>
                <a:srgbClr val="262672"/>
              </a:buClr>
            </a:pPr>
            <a:r>
              <a:rPr lang="zh-CN" altLang="en-US" sz="14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文字</a:t>
            </a:r>
            <a:endParaRPr lang="en-US" altLang="zh-CN" sz="14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8" name="直接连接符 7"/>
          <p:cNvCxnSpPr/>
          <p:nvPr userDrawn="1"/>
        </p:nvCxnSpPr>
        <p:spPr>
          <a:xfrm>
            <a:off x="838534" y="2032122"/>
            <a:ext cx="4747801" cy="0"/>
          </a:xfrm>
          <a:prstGeom prst="line">
            <a:avLst/>
          </a:prstGeom>
          <a:ln>
            <a:solidFill>
              <a:schemeClr val="bg2"/>
            </a:solidFill>
            <a:prstDash val="sysDash"/>
          </a:ln>
        </p:spPr>
        <p:style>
          <a:lnRef idx="1">
            <a:schemeClr val="accent1"/>
          </a:lnRef>
          <a:fillRef idx="0">
            <a:schemeClr val="accent1"/>
          </a:fillRef>
          <a:effectRef idx="0">
            <a:schemeClr val="accent1"/>
          </a:effectRef>
          <a:fontRef idx="minor">
            <a:schemeClr val="tx1"/>
          </a:fontRef>
        </p:style>
      </p:cxnSp>
      <p:sp>
        <p:nvSpPr>
          <p:cNvPr id="9" name="iṩlîḋé"/>
          <p:cNvSpPr/>
          <p:nvPr userDrawn="1"/>
        </p:nvSpPr>
        <p:spPr>
          <a:xfrm>
            <a:off x="6487566" y="1448780"/>
            <a:ext cx="4896921" cy="1225864"/>
          </a:xfrm>
          <a:prstGeom prst="rect">
            <a:avLst/>
          </a:prstGeom>
          <a:solidFill>
            <a:schemeClr val="bg1"/>
          </a:solidFill>
          <a:ln w="76200">
            <a:solidFill>
              <a:srgbClr val="D3E4F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800"/>
          </a:p>
        </p:txBody>
      </p:sp>
      <p:sp>
        <p:nvSpPr>
          <p:cNvPr id="10" name="íslíḓe"/>
          <p:cNvSpPr/>
          <p:nvPr userDrawn="1"/>
        </p:nvSpPr>
        <p:spPr>
          <a:xfrm>
            <a:off x="6143482" y="1715218"/>
            <a:ext cx="5527148" cy="768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800"/>
          </a:p>
        </p:txBody>
      </p:sp>
      <p:sp>
        <p:nvSpPr>
          <p:cNvPr id="11" name="矩形 10"/>
          <p:cNvSpPr/>
          <p:nvPr userDrawn="1"/>
        </p:nvSpPr>
        <p:spPr>
          <a:xfrm>
            <a:off x="6570693" y="1609542"/>
            <a:ext cx="4747801" cy="400110"/>
          </a:xfrm>
          <a:prstGeom prst="rect">
            <a:avLst/>
          </a:prstGeom>
        </p:spPr>
        <p:txBody>
          <a:bodyPr wrap="square">
            <a:spAutoFit/>
          </a:bodyPr>
          <a:lstStyle/>
          <a:p>
            <a:pPr algn="ctr"/>
            <a:r>
              <a:rPr lang="zh-CN" altLang="en-US" sz="2000" noProof="1">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文字</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6044609" y="2015830"/>
            <a:ext cx="5823924" cy="415498"/>
          </a:xfrm>
          <a:prstGeom prst="rect">
            <a:avLst/>
          </a:prstGeom>
        </p:spPr>
        <p:txBody>
          <a:bodyPr wrap="square">
            <a:spAutoFit/>
          </a:bodyPr>
          <a:lstStyle/>
          <a:p>
            <a:pPr algn="ctr">
              <a:lnSpc>
                <a:spcPct val="150000"/>
              </a:lnSpc>
              <a:buClr>
                <a:srgbClr val="262672"/>
              </a:buClr>
            </a:pPr>
            <a:r>
              <a:rPr lang="zh-CN" altLang="en-US" sz="14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rPr>
              <a:t>文字</a:t>
            </a:r>
            <a:endParaRPr lang="en-US" altLang="zh-CN" sz="14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3" name="直接连接符 12"/>
          <p:cNvCxnSpPr/>
          <p:nvPr userDrawn="1"/>
        </p:nvCxnSpPr>
        <p:spPr>
          <a:xfrm>
            <a:off x="6570693" y="2051081"/>
            <a:ext cx="4747801" cy="0"/>
          </a:xfrm>
          <a:prstGeom prst="line">
            <a:avLst/>
          </a:prstGeom>
          <a:ln>
            <a:solidFill>
              <a:schemeClr val="bg2"/>
            </a:solidFill>
            <a:prstDash val="sysDash"/>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2204524" y="3248980"/>
            <a:ext cx="1895613" cy="1421710"/>
          </a:xfrm>
          <a:prstGeom prst="ellipse">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2600" spc="50" dirty="0">
                <a:ln w="11430"/>
                <a:solidFill>
                  <a:schemeClr val="bg1"/>
                </a:solidFill>
                <a:latin typeface="微软雅黑" panose="020B0503020204020204" pitchFamily="34" charset="-122"/>
                <a:ea typeface="微软雅黑" panose="020B0503020204020204" pitchFamily="34" charset="-122"/>
                <a:cs typeface="Arial" panose="020B0604020202020204" pitchFamily="34" charset="0"/>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sp>
        <p:nvSpPr>
          <p:cNvPr id="15" name="椭圆 14"/>
          <p:cNvSpPr/>
          <p:nvPr userDrawn="1"/>
        </p:nvSpPr>
        <p:spPr>
          <a:xfrm>
            <a:off x="4591952" y="3248980"/>
            <a:ext cx="1895613" cy="1421710"/>
          </a:xfrm>
          <a:prstGeom prst="ellipse">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sz="2600" spc="50" dirty="0">
                <a:ln w="11430"/>
                <a:solidFill>
                  <a:srgbClr val="003F98"/>
                </a:solidFill>
                <a:latin typeface="微软雅黑" panose="020B0503020204020204" pitchFamily="34" charset="-122"/>
                <a:ea typeface="微软雅黑" panose="020B0503020204020204" pitchFamily="34" charset="-122"/>
                <a:cs typeface="Arial" panose="020B0604020202020204" pitchFamily="34" charset="0"/>
              </a:rPr>
              <a:t>文字</a:t>
            </a:r>
            <a:endParaRPr lang="zh-CN" altLang="en-US" sz="1800" dirty="0">
              <a:solidFill>
                <a:srgbClr val="003F98"/>
              </a:solidFill>
              <a:latin typeface="微软雅黑" panose="020B0503020204020204" pitchFamily="34" charset="-122"/>
              <a:ea typeface="微软雅黑" panose="020B0503020204020204" pitchFamily="34" charset="-122"/>
            </a:endParaRPr>
          </a:p>
        </p:txBody>
      </p:sp>
      <p:sp>
        <p:nvSpPr>
          <p:cNvPr id="16" name="椭圆 15"/>
          <p:cNvSpPr/>
          <p:nvPr userDrawn="1"/>
        </p:nvSpPr>
        <p:spPr>
          <a:xfrm>
            <a:off x="6979380" y="3248980"/>
            <a:ext cx="1895613" cy="1421710"/>
          </a:xfrm>
          <a:prstGeom prst="ellipse">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sz="2600" spc="50" dirty="0">
                <a:ln w="11430"/>
                <a:solidFill>
                  <a:schemeClr val="bg1"/>
                </a:solidFill>
                <a:latin typeface="微软雅黑" panose="020B0503020204020204" pitchFamily="34" charset="-122"/>
                <a:ea typeface="微软雅黑" panose="020B0503020204020204" pitchFamily="34" charset="-122"/>
                <a:cs typeface="Arial" panose="020B0604020202020204" pitchFamily="34" charset="0"/>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11_自定义版式">
    <p:spTree>
      <p:nvGrpSpPr>
        <p:cNvPr id="1" name=""/>
        <p:cNvGrpSpPr/>
        <p:nvPr/>
      </p:nvGrpSpPr>
      <p:grpSpPr>
        <a:xfrm>
          <a:off x="0" y="0"/>
          <a:ext cx="0" cy="0"/>
          <a:chOff x="0" y="0"/>
          <a:chExt cx="0" cy="0"/>
        </a:xfrm>
      </p:grpSpPr>
      <p:sp>
        <p:nvSpPr>
          <p:cNvPr id="2" name="圆角矩形 1"/>
          <p:cNvSpPr/>
          <p:nvPr userDrawn="1"/>
        </p:nvSpPr>
        <p:spPr>
          <a:xfrm>
            <a:off x="9614877" y="527934"/>
            <a:ext cx="2257649" cy="2320782"/>
          </a:xfrm>
          <a:prstGeom prst="roundRect">
            <a:avLst/>
          </a:prstGeom>
          <a:solidFill>
            <a:srgbClr val="003F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矩形 2"/>
          <p:cNvSpPr/>
          <p:nvPr userDrawn="1"/>
        </p:nvSpPr>
        <p:spPr>
          <a:xfrm>
            <a:off x="9632772" y="1363110"/>
            <a:ext cx="2257648" cy="600164"/>
          </a:xfrm>
          <a:prstGeom prst="rect">
            <a:avLst/>
          </a:prstGeom>
        </p:spPr>
        <p:txBody>
          <a:bodyPr wrap="square">
            <a:spAutoFit/>
          </a:bodyPr>
          <a:lstStyle/>
          <a:p>
            <a:pPr algn="ctr">
              <a:lnSpc>
                <a:spcPct val="150000"/>
              </a:lnSpc>
              <a:spcBef>
                <a:spcPts val="600"/>
              </a:spcBef>
              <a:spcAft>
                <a:spcPts val="1200"/>
              </a:spcAft>
            </a:pPr>
            <a:r>
              <a:rPr lang="zh-CN" altLang="en-US" sz="2200" dirty="0">
                <a:solidFill>
                  <a:schemeClr val="bg1"/>
                </a:solidFill>
                <a:latin typeface="微软雅黑" panose="020B0503020204020204" pitchFamily="34" charset="-122"/>
                <a:ea typeface="微软雅黑" panose="020B0503020204020204" pitchFamily="34" charset="-122"/>
              </a:rPr>
              <a:t>文字</a:t>
            </a:r>
            <a:endParaRPr lang="en-US" altLang="zh-CN" sz="2200"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userDrawn="1"/>
        </p:nvSpPr>
        <p:spPr>
          <a:xfrm>
            <a:off x="695401" y="503676"/>
            <a:ext cx="8344396" cy="2345041"/>
          </a:xfrm>
          <a:prstGeom prst="rect">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5" name="组合 4"/>
          <p:cNvGrpSpPr/>
          <p:nvPr userDrawn="1"/>
        </p:nvGrpSpPr>
        <p:grpSpPr>
          <a:xfrm>
            <a:off x="1009260" y="713101"/>
            <a:ext cx="5497133" cy="430811"/>
            <a:chOff x="734158" y="1580869"/>
            <a:chExt cx="4122850" cy="430811"/>
          </a:xfrm>
        </p:grpSpPr>
        <p:sp>
          <p:nvSpPr>
            <p:cNvPr id="6" name="圆角矩形 5"/>
            <p:cNvSpPr/>
            <p:nvPr/>
          </p:nvSpPr>
          <p:spPr>
            <a:xfrm>
              <a:off x="734158" y="1580869"/>
              <a:ext cx="4122850"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矩形 6"/>
            <p:cNvSpPr/>
            <p:nvPr/>
          </p:nvSpPr>
          <p:spPr>
            <a:xfrm>
              <a:off x="734158" y="1611608"/>
              <a:ext cx="4122850" cy="369332"/>
            </a:xfrm>
            <a:prstGeom prst="rect">
              <a:avLst/>
            </a:prstGeom>
          </p:spPr>
          <p:txBody>
            <a:bodyPr wrap="square">
              <a:spAutoFit/>
            </a:bodyPr>
            <a:lstStyle/>
            <a:p>
              <a:pPr algn="ctr">
                <a:spcBef>
                  <a:spcPts val="600"/>
                </a:spcBef>
                <a:spcAft>
                  <a:spcPts val="1200"/>
                </a:spcAft>
              </a:pPr>
              <a:r>
                <a:rPr lang="en-US" altLang="zh-CN" sz="1800" spc="50" dirty="0">
                  <a:ln w="1143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8" name="组合 7"/>
          <p:cNvGrpSpPr/>
          <p:nvPr userDrawn="1"/>
        </p:nvGrpSpPr>
        <p:grpSpPr>
          <a:xfrm>
            <a:off x="1009259" y="1472641"/>
            <a:ext cx="5497135" cy="430811"/>
            <a:chOff x="734157" y="2306214"/>
            <a:chExt cx="4122851" cy="430811"/>
          </a:xfrm>
        </p:grpSpPr>
        <p:sp>
          <p:nvSpPr>
            <p:cNvPr id="9" name="圆角矩形 8"/>
            <p:cNvSpPr/>
            <p:nvPr/>
          </p:nvSpPr>
          <p:spPr>
            <a:xfrm>
              <a:off x="734158" y="2306214"/>
              <a:ext cx="4122850"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p:nvSpPr>
          <p:spPr>
            <a:xfrm>
              <a:off x="734157" y="2336953"/>
              <a:ext cx="4122851" cy="369332"/>
            </a:xfrm>
            <a:prstGeom prst="rect">
              <a:avLst/>
            </a:prstGeom>
          </p:spPr>
          <p:txBody>
            <a:bodyPr wrap="square">
              <a:spAutoFit/>
            </a:bodyPr>
            <a:lstStyle/>
            <a:p>
              <a:pPr algn="ctr">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11" name="组合 10"/>
          <p:cNvGrpSpPr/>
          <p:nvPr userDrawn="1"/>
        </p:nvGrpSpPr>
        <p:grpSpPr>
          <a:xfrm>
            <a:off x="1009257" y="2232180"/>
            <a:ext cx="5497136" cy="507831"/>
            <a:chOff x="734156" y="3099948"/>
            <a:chExt cx="4122852" cy="507831"/>
          </a:xfrm>
        </p:grpSpPr>
        <p:sp>
          <p:nvSpPr>
            <p:cNvPr id="12" name="圆角矩形 11"/>
            <p:cNvSpPr/>
            <p:nvPr/>
          </p:nvSpPr>
          <p:spPr>
            <a:xfrm>
              <a:off x="734158" y="3113997"/>
              <a:ext cx="4122850"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p:nvSpPr>
          <p:spPr>
            <a:xfrm>
              <a:off x="734156" y="3099948"/>
              <a:ext cx="4110593" cy="507831"/>
            </a:xfrm>
            <a:prstGeom prst="rect">
              <a:avLst/>
            </a:prstGeom>
          </p:spPr>
          <p:txBody>
            <a:bodyPr wrap="square">
              <a:spAutoFit/>
            </a:bodyPr>
            <a:lstStyle/>
            <a:p>
              <a:pPr algn="ctr">
                <a:lnSpc>
                  <a:spcPct val="1500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14" name="组合 13"/>
          <p:cNvGrpSpPr/>
          <p:nvPr userDrawn="1"/>
        </p:nvGrpSpPr>
        <p:grpSpPr>
          <a:xfrm>
            <a:off x="6807491" y="559873"/>
            <a:ext cx="1992605" cy="618118"/>
            <a:chOff x="5439081" y="1380142"/>
            <a:chExt cx="1494454" cy="618118"/>
          </a:xfrm>
        </p:grpSpPr>
        <p:sp>
          <p:nvSpPr>
            <p:cNvPr id="15" name="圆角矩形 14"/>
            <p:cNvSpPr/>
            <p:nvPr/>
          </p:nvSpPr>
          <p:spPr>
            <a:xfrm>
              <a:off x="5439081" y="1518673"/>
              <a:ext cx="1494454"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5439081" y="1380142"/>
              <a:ext cx="1494454" cy="618118"/>
            </a:xfrm>
            <a:prstGeom prst="rect">
              <a:avLst/>
            </a:prstGeom>
          </p:spPr>
          <p:txBody>
            <a:bodyPr wrap="square">
              <a:spAutoFit/>
            </a:bodyPr>
            <a:lstStyle/>
            <a:p>
              <a:pPr algn="ctr">
                <a:lnSpc>
                  <a:spcPts val="41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17" name="组合 16"/>
          <p:cNvGrpSpPr/>
          <p:nvPr userDrawn="1"/>
        </p:nvGrpSpPr>
        <p:grpSpPr>
          <a:xfrm>
            <a:off x="6807491" y="1339467"/>
            <a:ext cx="1992605" cy="618118"/>
            <a:chOff x="5439081" y="2195402"/>
            <a:chExt cx="1494454" cy="618118"/>
          </a:xfrm>
        </p:grpSpPr>
        <p:sp>
          <p:nvSpPr>
            <p:cNvPr id="18" name="圆角矩形 17"/>
            <p:cNvSpPr/>
            <p:nvPr/>
          </p:nvSpPr>
          <p:spPr>
            <a:xfrm>
              <a:off x="5439081" y="2311668"/>
              <a:ext cx="1494454"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矩形 18"/>
            <p:cNvSpPr/>
            <p:nvPr/>
          </p:nvSpPr>
          <p:spPr>
            <a:xfrm>
              <a:off x="5943935" y="2195402"/>
              <a:ext cx="484748" cy="618118"/>
            </a:xfrm>
            <a:prstGeom prst="rect">
              <a:avLst/>
            </a:prstGeom>
          </p:spPr>
          <p:txBody>
            <a:bodyPr wrap="none">
              <a:spAutoFit/>
            </a:bodyPr>
            <a:lstStyle/>
            <a:p>
              <a:pPr algn="ctr">
                <a:lnSpc>
                  <a:spcPts val="41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20" name="组合 19"/>
          <p:cNvGrpSpPr/>
          <p:nvPr userDrawn="1"/>
        </p:nvGrpSpPr>
        <p:grpSpPr>
          <a:xfrm>
            <a:off x="6807491" y="2096796"/>
            <a:ext cx="1992605" cy="618118"/>
            <a:chOff x="5439081" y="2940815"/>
            <a:chExt cx="1494454" cy="618118"/>
          </a:xfrm>
        </p:grpSpPr>
        <p:sp>
          <p:nvSpPr>
            <p:cNvPr id="21" name="圆角矩形 20"/>
            <p:cNvSpPr/>
            <p:nvPr/>
          </p:nvSpPr>
          <p:spPr>
            <a:xfrm>
              <a:off x="5439081" y="3082942"/>
              <a:ext cx="1494454" cy="430811"/>
            </a:xfrm>
            <a:prstGeom prst="roundRect">
              <a:avLst/>
            </a:prstGeom>
            <a:solidFill>
              <a:srgbClr val="0971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2" name="矩形 21"/>
            <p:cNvSpPr/>
            <p:nvPr/>
          </p:nvSpPr>
          <p:spPr>
            <a:xfrm>
              <a:off x="5943934" y="2940815"/>
              <a:ext cx="484748" cy="618118"/>
            </a:xfrm>
            <a:prstGeom prst="rect">
              <a:avLst/>
            </a:prstGeom>
          </p:spPr>
          <p:txBody>
            <a:bodyPr wrap="none">
              <a:spAutoFit/>
            </a:bodyPr>
            <a:lstStyle/>
            <a:p>
              <a:pPr algn="ctr">
                <a:lnSpc>
                  <a:spcPts val="41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23" name="组合 22"/>
          <p:cNvGrpSpPr/>
          <p:nvPr userDrawn="1"/>
        </p:nvGrpSpPr>
        <p:grpSpPr>
          <a:xfrm>
            <a:off x="449156" y="3969060"/>
            <a:ext cx="11587505" cy="1890210"/>
            <a:chOff x="336866" y="3969060"/>
            <a:chExt cx="8690629" cy="1890210"/>
          </a:xfrm>
        </p:grpSpPr>
        <p:sp>
          <p:nvSpPr>
            <p:cNvPr id="24" name="矩形 23"/>
            <p:cNvSpPr/>
            <p:nvPr/>
          </p:nvSpPr>
          <p:spPr>
            <a:xfrm>
              <a:off x="336866" y="3969060"/>
              <a:ext cx="8690629" cy="1890210"/>
            </a:xfrm>
            <a:prstGeom prst="rect">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5" name="圆角矩形 24"/>
            <p:cNvSpPr/>
            <p:nvPr/>
          </p:nvSpPr>
          <p:spPr>
            <a:xfrm>
              <a:off x="7188370" y="4059070"/>
              <a:ext cx="1693237" cy="1642565"/>
            </a:xfrm>
            <a:prstGeom prst="roundRect">
              <a:avLst/>
            </a:prstGeom>
            <a:solidFill>
              <a:srgbClr val="003F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矩形 25"/>
            <p:cNvSpPr/>
            <p:nvPr/>
          </p:nvSpPr>
          <p:spPr>
            <a:xfrm>
              <a:off x="7224579" y="4681528"/>
              <a:ext cx="1693237" cy="430887"/>
            </a:xfrm>
            <a:prstGeom prst="rect">
              <a:avLst/>
            </a:prstGeom>
          </p:spPr>
          <p:txBody>
            <a:bodyPr wrap="square">
              <a:spAutoFit/>
            </a:bodyPr>
            <a:lstStyle/>
            <a:p>
              <a:pPr algn="ctr">
                <a:spcBef>
                  <a:spcPts val="600"/>
                </a:spcBef>
                <a:spcAft>
                  <a:spcPts val="1200"/>
                </a:spcAft>
              </a:pPr>
              <a:r>
                <a:rPr lang="zh-CN" altLang="en-US" sz="2200" dirty="0">
                  <a:solidFill>
                    <a:schemeClr val="bg1"/>
                  </a:solidFill>
                  <a:latin typeface="微软雅黑" panose="020B0503020204020204" pitchFamily="34" charset="-122"/>
                  <a:ea typeface="微软雅黑" panose="020B0503020204020204" pitchFamily="34" charset="-122"/>
                </a:rPr>
                <a:t>文字</a:t>
              </a:r>
              <a:endParaRPr lang="en-US" altLang="zh-CN" sz="2200"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498763" y="4092310"/>
              <a:ext cx="6258297" cy="1609325"/>
            </a:xfrm>
            <a:prstGeom prst="rect">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28" name="组合 27"/>
            <p:cNvGrpSpPr/>
            <p:nvPr/>
          </p:nvGrpSpPr>
          <p:grpSpPr>
            <a:xfrm>
              <a:off x="734158" y="4175025"/>
              <a:ext cx="4122850" cy="507831"/>
              <a:chOff x="734158" y="3827511"/>
              <a:chExt cx="4122850" cy="507831"/>
            </a:xfrm>
          </p:grpSpPr>
          <p:sp>
            <p:nvSpPr>
              <p:cNvPr id="38" name="圆角矩形 37"/>
              <p:cNvSpPr/>
              <p:nvPr/>
            </p:nvSpPr>
            <p:spPr>
              <a:xfrm>
                <a:off x="734158" y="3841560"/>
                <a:ext cx="4122850" cy="430811"/>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矩形 38"/>
              <p:cNvSpPr/>
              <p:nvPr/>
            </p:nvSpPr>
            <p:spPr>
              <a:xfrm>
                <a:off x="756943" y="3827511"/>
                <a:ext cx="4100064" cy="507831"/>
              </a:xfrm>
              <a:prstGeom prst="rect">
                <a:avLst/>
              </a:prstGeom>
            </p:spPr>
            <p:txBody>
              <a:bodyPr wrap="square">
                <a:spAutoFit/>
              </a:bodyPr>
              <a:lstStyle/>
              <a:p>
                <a:pPr algn="ctr">
                  <a:lnSpc>
                    <a:spcPct val="1500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734158" y="4951936"/>
              <a:ext cx="4122850" cy="507831"/>
              <a:chOff x="734158" y="4604422"/>
              <a:chExt cx="4122850" cy="507831"/>
            </a:xfrm>
          </p:grpSpPr>
          <p:sp>
            <p:nvSpPr>
              <p:cNvPr id="36" name="圆角矩形 35"/>
              <p:cNvSpPr/>
              <p:nvPr/>
            </p:nvSpPr>
            <p:spPr>
              <a:xfrm>
                <a:off x="734158" y="4618471"/>
                <a:ext cx="4122850" cy="430811"/>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7" name="矩形 36"/>
              <p:cNvSpPr/>
              <p:nvPr/>
            </p:nvSpPr>
            <p:spPr>
              <a:xfrm>
                <a:off x="734158" y="4604422"/>
                <a:ext cx="4122849" cy="507831"/>
              </a:xfrm>
              <a:prstGeom prst="rect">
                <a:avLst/>
              </a:prstGeom>
            </p:spPr>
            <p:txBody>
              <a:bodyPr wrap="square">
                <a:spAutoFit/>
              </a:bodyPr>
              <a:lstStyle/>
              <a:p>
                <a:pPr algn="ctr">
                  <a:lnSpc>
                    <a:spcPct val="1500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 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5082831" y="4092310"/>
              <a:ext cx="1494454" cy="618118"/>
              <a:chOff x="5082831" y="3790906"/>
              <a:chExt cx="1494454" cy="618118"/>
            </a:xfrm>
          </p:grpSpPr>
          <p:sp>
            <p:nvSpPr>
              <p:cNvPr id="34" name="圆角矩形 33"/>
              <p:cNvSpPr/>
              <p:nvPr/>
            </p:nvSpPr>
            <p:spPr>
              <a:xfrm>
                <a:off x="5082831" y="3901718"/>
                <a:ext cx="1494454" cy="430811"/>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5" name="矩形 34"/>
              <p:cNvSpPr/>
              <p:nvPr/>
            </p:nvSpPr>
            <p:spPr>
              <a:xfrm>
                <a:off x="5587684" y="3790906"/>
                <a:ext cx="484748" cy="618118"/>
              </a:xfrm>
              <a:prstGeom prst="rect">
                <a:avLst/>
              </a:prstGeom>
            </p:spPr>
            <p:txBody>
              <a:bodyPr wrap="none">
                <a:spAutoFit/>
              </a:bodyPr>
              <a:lstStyle/>
              <a:p>
                <a:pPr algn="ctr">
                  <a:lnSpc>
                    <a:spcPts val="41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5082831" y="4853376"/>
              <a:ext cx="1494454" cy="618118"/>
              <a:chOff x="5439081" y="4506787"/>
              <a:chExt cx="1494454" cy="618118"/>
            </a:xfrm>
          </p:grpSpPr>
          <p:sp>
            <p:nvSpPr>
              <p:cNvPr id="32" name="圆角矩形 31"/>
              <p:cNvSpPr/>
              <p:nvPr/>
            </p:nvSpPr>
            <p:spPr>
              <a:xfrm>
                <a:off x="5439081" y="4633444"/>
                <a:ext cx="1494454" cy="430811"/>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3" name="矩形 32"/>
              <p:cNvSpPr/>
              <p:nvPr/>
            </p:nvSpPr>
            <p:spPr>
              <a:xfrm>
                <a:off x="5943935" y="4506787"/>
                <a:ext cx="484748" cy="618118"/>
              </a:xfrm>
              <a:prstGeom prst="rect">
                <a:avLst/>
              </a:prstGeom>
            </p:spPr>
            <p:txBody>
              <a:bodyPr wrap="none">
                <a:spAutoFit/>
              </a:bodyPr>
              <a:lstStyle/>
              <a:p>
                <a:pPr algn="ctr">
                  <a:lnSpc>
                    <a:spcPts val="4100"/>
                  </a:lnSpc>
                  <a:spcBef>
                    <a:spcPts val="600"/>
                  </a:spcBef>
                  <a:spcAft>
                    <a:spcPts val="1200"/>
                  </a:spcAft>
                </a:pPr>
                <a:r>
                  <a:rPr lang="zh-CN" altLang="en-US" sz="1800" dirty="0">
                    <a:solidFill>
                      <a:schemeClr val="bg1"/>
                    </a:solidFill>
                    <a:latin typeface="微软雅黑" panose="020B0503020204020204" pitchFamily="34" charset="-122"/>
                    <a:ea typeface="微软雅黑" panose="020B0503020204020204" pitchFamily="34" charset="-122"/>
                  </a:rPr>
                  <a:t>文字</a:t>
                </a:r>
                <a:endParaRPr lang="en-US" altLang="zh-CN" sz="1800" dirty="0">
                  <a:solidFill>
                    <a:schemeClr val="bg1"/>
                  </a:solidFill>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3_自定义版式">
    <p:spTree>
      <p:nvGrpSpPr>
        <p:cNvPr id="1" name=""/>
        <p:cNvGrpSpPr/>
        <p:nvPr/>
      </p:nvGrpSpPr>
      <p:grpSpPr>
        <a:xfrm>
          <a:off x="0" y="0"/>
          <a:ext cx="0" cy="0"/>
          <a:chOff x="0" y="0"/>
          <a:chExt cx="0" cy="0"/>
        </a:xfrm>
      </p:grpSpPr>
      <p:sp>
        <p:nvSpPr>
          <p:cNvPr id="2" name="矩形 1"/>
          <p:cNvSpPr/>
          <p:nvPr userDrawn="1"/>
        </p:nvSpPr>
        <p:spPr bwMode="auto">
          <a:xfrm>
            <a:off x="335361" y="143636"/>
            <a:ext cx="10991849" cy="2115235"/>
          </a:xfrm>
          <a:prstGeom prst="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p>
        </p:txBody>
      </p:sp>
      <p:sp>
        <p:nvSpPr>
          <p:cNvPr id="5" name="文本占位符 4"/>
          <p:cNvSpPr>
            <a:spLocks noGrp="1"/>
          </p:cNvSpPr>
          <p:nvPr>
            <p:ph type="body" sz="quarter" idx="10" hasCustomPrompt="1"/>
          </p:nvPr>
        </p:nvSpPr>
        <p:spPr>
          <a:xfrm>
            <a:off x="515381" y="278651"/>
            <a:ext cx="10621179" cy="1845205"/>
          </a:xfrm>
          <a:prstGeom prst="rect">
            <a:avLst/>
          </a:prstGeom>
        </p:spPr>
        <p:txBody>
          <a:bodyPr anchor="ctr"/>
          <a:lstStyle>
            <a:lvl1pPr marL="0" indent="0">
              <a:buFontTx/>
              <a:buNone/>
              <a:defRPr lang="zh-CN" altLang="en-US" sz="2000" kern="1200" dirty="0">
                <a:gradFill>
                  <a:gsLst>
                    <a:gs pos="0">
                      <a:srgbClr val="202A36"/>
                    </a:gs>
                    <a:gs pos="100000">
                      <a:srgbClr val="202A36"/>
                    </a:gs>
                  </a:gsLst>
                  <a:lin ang="5400000" scaled="1"/>
                </a:gradFill>
                <a:latin typeface="微软雅黑" panose="020B0503020204020204" pitchFamily="34" charset="-122"/>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grpSp>
        <p:nvGrpSpPr>
          <p:cNvPr id="6" name="组合 5"/>
          <p:cNvGrpSpPr/>
          <p:nvPr userDrawn="1"/>
        </p:nvGrpSpPr>
        <p:grpSpPr>
          <a:xfrm>
            <a:off x="1175453" y="2753926"/>
            <a:ext cx="5397048" cy="3795801"/>
            <a:chOff x="4772658" y="1641912"/>
            <a:chExt cx="4047786" cy="4353310"/>
          </a:xfrm>
        </p:grpSpPr>
        <p:grpSp>
          <p:nvGrpSpPr>
            <p:cNvPr id="7" name="组合 6"/>
            <p:cNvGrpSpPr/>
            <p:nvPr/>
          </p:nvGrpSpPr>
          <p:grpSpPr>
            <a:xfrm>
              <a:off x="4772658" y="1641912"/>
              <a:ext cx="4047786" cy="4353310"/>
              <a:chOff x="4772658" y="1641912"/>
              <a:chExt cx="4047786" cy="4353310"/>
            </a:xfrm>
          </p:grpSpPr>
          <p:grpSp>
            <p:nvGrpSpPr>
              <p:cNvPr id="19" name="组合 18"/>
              <p:cNvGrpSpPr/>
              <p:nvPr/>
            </p:nvGrpSpPr>
            <p:grpSpPr>
              <a:xfrm>
                <a:off x="5653659" y="1641912"/>
                <a:ext cx="2280106" cy="4353310"/>
                <a:chOff x="6030176" y="1984737"/>
                <a:chExt cx="2567744" cy="3620065"/>
              </a:xfrm>
            </p:grpSpPr>
            <p:sp>
              <p:nvSpPr>
                <p:cNvPr id="22" name="圆角矩形 21"/>
                <p:cNvSpPr/>
                <p:nvPr/>
              </p:nvSpPr>
              <p:spPr>
                <a:xfrm>
                  <a:off x="6030176" y="1984737"/>
                  <a:ext cx="2567744" cy="746311"/>
                </a:xfrm>
                <a:prstGeom prst="round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服务</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圆角矩形 22"/>
                <p:cNvSpPr/>
                <p:nvPr/>
              </p:nvSpPr>
              <p:spPr>
                <a:xfrm>
                  <a:off x="6030176" y="2942655"/>
                  <a:ext cx="2567744" cy="746311"/>
                </a:xfrm>
                <a:prstGeom prst="round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数据</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6030176" y="3900573"/>
                  <a:ext cx="2567744" cy="746311"/>
                </a:xfrm>
                <a:prstGeom prst="round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网络</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6030176" y="4858491"/>
                  <a:ext cx="2567744" cy="746311"/>
                </a:xfrm>
                <a:prstGeom prst="round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接入</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0" name="圆角矩形 19"/>
              <p:cNvSpPr/>
              <p:nvPr/>
            </p:nvSpPr>
            <p:spPr>
              <a:xfrm>
                <a:off x="4772658" y="1641912"/>
                <a:ext cx="552378" cy="4353310"/>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微软雅黑" panose="020B0503020204020204" pitchFamily="34" charset="-122"/>
                    <a:ea typeface="微软雅黑" panose="020B0503020204020204" pitchFamily="34" charset="-122"/>
                  </a:rPr>
                  <a:t>关键技术</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8268066" y="1641912"/>
                <a:ext cx="552378" cy="4353310"/>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微软雅黑" panose="020B0503020204020204" pitchFamily="34" charset="-122"/>
                    <a:ea typeface="微软雅黑" panose="020B0503020204020204" pitchFamily="34" charset="-122"/>
                  </a:rPr>
                  <a:t>标准安全</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
          <p:nvSpPr>
            <p:cNvPr id="8" name="下箭头 7"/>
            <p:cNvSpPr/>
            <p:nvPr/>
          </p:nvSpPr>
          <p:spPr>
            <a:xfrm flipV="1">
              <a:off x="6681653" y="4868103"/>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下箭头 8"/>
            <p:cNvSpPr/>
            <p:nvPr/>
          </p:nvSpPr>
          <p:spPr>
            <a:xfrm flipV="1">
              <a:off x="6676939" y="3716158"/>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下箭头 9"/>
            <p:cNvSpPr/>
            <p:nvPr/>
          </p:nvSpPr>
          <p:spPr>
            <a:xfrm flipV="1">
              <a:off x="6676939" y="2564214"/>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下箭头 10"/>
            <p:cNvSpPr/>
            <p:nvPr/>
          </p:nvSpPr>
          <p:spPr>
            <a:xfrm rot="5400000" flipV="1">
              <a:off x="5374450" y="1988242"/>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下箭头 11"/>
            <p:cNvSpPr/>
            <p:nvPr/>
          </p:nvSpPr>
          <p:spPr>
            <a:xfrm rot="5400000" flipV="1">
              <a:off x="5374451" y="3140187"/>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下箭头 12"/>
            <p:cNvSpPr/>
            <p:nvPr/>
          </p:nvSpPr>
          <p:spPr>
            <a:xfrm rot="5400000" flipV="1">
              <a:off x="5374450" y="4292131"/>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下箭头 13"/>
            <p:cNvSpPr/>
            <p:nvPr/>
          </p:nvSpPr>
          <p:spPr>
            <a:xfrm rot="5400000" flipV="1">
              <a:off x="5374451" y="5444075"/>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下箭头 14"/>
            <p:cNvSpPr/>
            <p:nvPr/>
          </p:nvSpPr>
          <p:spPr>
            <a:xfrm rot="16200000" flipH="1" flipV="1">
              <a:off x="7988854" y="5444076"/>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下箭头 15"/>
            <p:cNvSpPr/>
            <p:nvPr/>
          </p:nvSpPr>
          <p:spPr>
            <a:xfrm rot="16200000" flipH="1" flipV="1">
              <a:off x="7985782" y="4292131"/>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下箭头 16"/>
            <p:cNvSpPr/>
            <p:nvPr/>
          </p:nvSpPr>
          <p:spPr>
            <a:xfrm rot="16200000" flipH="1" flipV="1">
              <a:off x="7985782" y="3140187"/>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 name="下箭头 17"/>
            <p:cNvSpPr/>
            <p:nvPr/>
          </p:nvSpPr>
          <p:spPr>
            <a:xfrm rot="16200000" flipH="1" flipV="1">
              <a:off x="7985782" y="1988242"/>
              <a:ext cx="224118" cy="204817"/>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cxnSp>
        <p:nvCxnSpPr>
          <p:cNvPr id="26" name="直接连接符 25"/>
          <p:cNvCxnSpPr/>
          <p:nvPr userDrawn="1"/>
        </p:nvCxnSpPr>
        <p:spPr>
          <a:xfrm>
            <a:off x="8076220" y="3557941"/>
            <a:ext cx="2875136"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4_自定义版式">
    <p:spTree>
      <p:nvGrpSpPr>
        <p:cNvPr id="1" name=""/>
        <p:cNvGrpSpPr/>
        <p:nvPr/>
      </p:nvGrpSpPr>
      <p:grpSpPr>
        <a:xfrm>
          <a:off x="0" y="0"/>
          <a:ext cx="0" cy="0"/>
          <a:chOff x="0" y="0"/>
          <a:chExt cx="0" cy="0"/>
        </a:xfrm>
      </p:grpSpPr>
      <p:cxnSp>
        <p:nvCxnSpPr>
          <p:cNvPr id="2" name="直接连接符 1"/>
          <p:cNvCxnSpPr/>
          <p:nvPr userDrawn="1"/>
        </p:nvCxnSpPr>
        <p:spPr>
          <a:xfrm>
            <a:off x="384000" y="2111563"/>
            <a:ext cx="11353259" cy="0"/>
          </a:xfrm>
          <a:prstGeom prst="line">
            <a:avLst/>
          </a:prstGeom>
          <a:ln>
            <a:solidFill>
              <a:srgbClr val="003F98"/>
            </a:solidFill>
            <a:prstDash val="dash"/>
          </a:ln>
        </p:spPr>
        <p:style>
          <a:lnRef idx="1">
            <a:schemeClr val="dk1"/>
          </a:lnRef>
          <a:fillRef idx="0">
            <a:schemeClr val="dk1"/>
          </a:fillRef>
          <a:effectRef idx="0">
            <a:schemeClr val="dk1"/>
          </a:effectRef>
          <a:fontRef idx="minor">
            <a:schemeClr val="tx1"/>
          </a:fontRef>
        </p:style>
      </p:cxnSp>
      <p:cxnSp>
        <p:nvCxnSpPr>
          <p:cNvPr id="3" name="直接连接符 2"/>
          <p:cNvCxnSpPr/>
          <p:nvPr userDrawn="1"/>
        </p:nvCxnSpPr>
        <p:spPr>
          <a:xfrm>
            <a:off x="384000" y="3172805"/>
            <a:ext cx="11353259" cy="0"/>
          </a:xfrm>
          <a:prstGeom prst="line">
            <a:avLst/>
          </a:prstGeom>
          <a:ln>
            <a:solidFill>
              <a:srgbClr val="003F98"/>
            </a:solidFill>
            <a:prstDash val="dash"/>
          </a:ln>
        </p:spPr>
        <p:style>
          <a:lnRef idx="1">
            <a:schemeClr val="dk1"/>
          </a:lnRef>
          <a:fillRef idx="0">
            <a:schemeClr val="dk1"/>
          </a:fillRef>
          <a:effectRef idx="0">
            <a:schemeClr val="dk1"/>
          </a:effectRef>
          <a:fontRef idx="minor">
            <a:schemeClr val="tx1"/>
          </a:fontRef>
        </p:style>
      </p:cxnSp>
      <p:cxnSp>
        <p:nvCxnSpPr>
          <p:cNvPr id="4" name="直接连接符 3"/>
          <p:cNvCxnSpPr/>
          <p:nvPr userDrawn="1"/>
        </p:nvCxnSpPr>
        <p:spPr>
          <a:xfrm>
            <a:off x="384000" y="4953373"/>
            <a:ext cx="11353259" cy="0"/>
          </a:xfrm>
          <a:prstGeom prst="line">
            <a:avLst/>
          </a:prstGeom>
          <a:ln>
            <a:solidFill>
              <a:srgbClr val="003F98"/>
            </a:solidFill>
            <a:prstDash val="dash"/>
          </a:ln>
        </p:spPr>
        <p:style>
          <a:lnRef idx="1">
            <a:schemeClr val="dk1"/>
          </a:lnRef>
          <a:fillRef idx="0">
            <a:schemeClr val="dk1"/>
          </a:fillRef>
          <a:effectRef idx="0">
            <a:schemeClr val="dk1"/>
          </a:effectRef>
          <a:fontRef idx="minor">
            <a:schemeClr val="tx1"/>
          </a:fontRef>
        </p:style>
      </p:cxnSp>
      <p:cxnSp>
        <p:nvCxnSpPr>
          <p:cNvPr id="5" name="直接连接符 4"/>
          <p:cNvCxnSpPr/>
          <p:nvPr userDrawn="1"/>
        </p:nvCxnSpPr>
        <p:spPr>
          <a:xfrm>
            <a:off x="384000" y="5648002"/>
            <a:ext cx="11353259" cy="0"/>
          </a:xfrm>
          <a:prstGeom prst="line">
            <a:avLst/>
          </a:prstGeom>
          <a:ln>
            <a:solidFill>
              <a:srgbClr val="003F98"/>
            </a:solidFill>
            <a:prstDash val="dash"/>
          </a:ln>
        </p:spPr>
        <p:style>
          <a:lnRef idx="1">
            <a:schemeClr val="dk1"/>
          </a:lnRef>
          <a:fillRef idx="0">
            <a:schemeClr val="dk1"/>
          </a:fillRef>
          <a:effectRef idx="0">
            <a:schemeClr val="dk1"/>
          </a:effectRef>
          <a:fontRef idx="minor">
            <a:schemeClr val="tx1"/>
          </a:fontRef>
        </p:style>
      </p:cxnSp>
      <p:grpSp>
        <p:nvGrpSpPr>
          <p:cNvPr id="6" name="组合 5"/>
          <p:cNvGrpSpPr/>
          <p:nvPr userDrawn="1"/>
        </p:nvGrpSpPr>
        <p:grpSpPr>
          <a:xfrm>
            <a:off x="2531003" y="933634"/>
            <a:ext cx="9295493" cy="5293239"/>
            <a:chOff x="946904" y="992994"/>
            <a:chExt cx="7222207" cy="5293239"/>
          </a:xfrm>
        </p:grpSpPr>
        <p:cxnSp>
          <p:nvCxnSpPr>
            <p:cNvPr id="7" name="直接连接符 6"/>
            <p:cNvCxnSpPr/>
            <p:nvPr/>
          </p:nvCxnSpPr>
          <p:spPr>
            <a:xfrm flipV="1">
              <a:off x="2043953" y="3281083"/>
              <a:ext cx="0" cy="968188"/>
            </a:xfrm>
            <a:prstGeom prst="line">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cxnSp>
        <p:grpSp>
          <p:nvGrpSpPr>
            <p:cNvPr id="8" name="组合 7"/>
            <p:cNvGrpSpPr/>
            <p:nvPr/>
          </p:nvGrpSpPr>
          <p:grpSpPr>
            <a:xfrm>
              <a:off x="1671483" y="992994"/>
              <a:ext cx="5729315" cy="1006776"/>
              <a:chOff x="1671483" y="992994"/>
              <a:chExt cx="5729315" cy="1006776"/>
            </a:xfrm>
          </p:grpSpPr>
          <p:sp>
            <p:nvSpPr>
              <p:cNvPr id="29" name="圆角矩形 28"/>
              <p:cNvSpPr/>
              <p:nvPr/>
            </p:nvSpPr>
            <p:spPr>
              <a:xfrm>
                <a:off x="1671483" y="1207739"/>
                <a:ext cx="5729314" cy="792031"/>
              </a:xfrm>
              <a:prstGeom prst="roundRect">
                <a:avLst>
                  <a:gd name="adj" fmla="val 12638"/>
                </a:avLst>
              </a:prstGeom>
              <a:solidFill>
                <a:srgbClr val="D3E4F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endParaRPr lang="zh-CN" altLang="en-US" sz="14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endParaRPr>
              </a:p>
            </p:txBody>
          </p:sp>
          <p:sp>
            <p:nvSpPr>
              <p:cNvPr id="30" name="文本框 29"/>
              <p:cNvSpPr txBox="1"/>
              <p:nvPr/>
            </p:nvSpPr>
            <p:spPr>
              <a:xfrm>
                <a:off x="1671483" y="1400276"/>
                <a:ext cx="5729315" cy="307777"/>
              </a:xfrm>
              <a:prstGeom prst="rect">
                <a:avLst/>
              </a:prstGeom>
            </p:spPr>
            <p:txBody>
              <a:bodyPr wrap="square">
                <a:spAutoFit/>
              </a:bodyPr>
              <a:lstStyle>
                <a:defPPr>
                  <a:defRPr lang="zh-CN"/>
                </a:defPPr>
                <a:lvl1pPr algn="ctr">
                  <a:defRPr sz="140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defRPr>
                </a:lvl1pPr>
              </a:lstStyle>
              <a:p>
                <a:r>
                  <a:rPr lang="zh-CN" altLang="en-US" sz="1400" dirty="0">
                    <a:solidFill>
                      <a:schemeClr val="tx1">
                        <a:lumMod val="95000"/>
                        <a:lumOff val="5000"/>
                      </a:schemeClr>
                    </a:solidFill>
                    <a:latin typeface="微软雅黑" panose="020B0503020204020204" pitchFamily="34" charset="-122"/>
                    <a:cs typeface="+mn-cs"/>
                  </a:rPr>
                  <a:t>文字</a:t>
                </a:r>
                <a:endParaRPr lang="zh-CN" altLang="en-US" sz="1400" dirty="0">
                  <a:solidFill>
                    <a:schemeClr val="tx1">
                      <a:lumMod val="95000"/>
                      <a:lumOff val="5000"/>
                    </a:schemeClr>
                  </a:solidFill>
                  <a:latin typeface="微软雅黑" panose="020B0503020204020204" pitchFamily="34" charset="-122"/>
                  <a:cs typeface="+mn-cs"/>
                </a:endParaRPr>
              </a:p>
            </p:txBody>
          </p:sp>
          <p:sp>
            <p:nvSpPr>
              <p:cNvPr id="31" name="圆角矩形 30"/>
              <p:cNvSpPr/>
              <p:nvPr/>
            </p:nvSpPr>
            <p:spPr>
              <a:xfrm>
                <a:off x="3722778" y="992994"/>
                <a:ext cx="1698442" cy="387445"/>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文字</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9" name="圆角矩形 8"/>
            <p:cNvSpPr/>
            <p:nvPr/>
          </p:nvSpPr>
          <p:spPr>
            <a:xfrm>
              <a:off x="3712471" y="2734235"/>
              <a:ext cx="1680283" cy="359284"/>
            </a:xfrm>
            <a:prstGeom prst="roundRect">
              <a:avLst/>
            </a:prstGeom>
            <a:solidFill>
              <a:srgbClr val="D3E4F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文字</a:t>
              </a:r>
              <a:endPar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圆角矩形 9"/>
            <p:cNvSpPr/>
            <p:nvPr/>
          </p:nvSpPr>
          <p:spPr>
            <a:xfrm>
              <a:off x="1819745" y="2734235"/>
              <a:ext cx="1680283" cy="359284"/>
            </a:xfrm>
            <a:prstGeom prst="roundRect">
              <a:avLst/>
            </a:prstGeom>
            <a:solidFill>
              <a:srgbClr val="D3E4F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文字</a:t>
              </a:r>
              <a:endPar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圆角矩形 10"/>
            <p:cNvSpPr/>
            <p:nvPr/>
          </p:nvSpPr>
          <p:spPr>
            <a:xfrm>
              <a:off x="5621672" y="2734234"/>
              <a:ext cx="1680283" cy="359284"/>
            </a:xfrm>
            <a:prstGeom prst="roundRect">
              <a:avLst/>
            </a:prstGeom>
            <a:solidFill>
              <a:srgbClr val="D3E4F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文字</a:t>
              </a:r>
              <a:endParaRPr lang="zh-CN" altLang="en-US" sz="1400" dirty="0">
                <a:ln w="1143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圆角矩形 11"/>
            <p:cNvSpPr/>
            <p:nvPr/>
          </p:nvSpPr>
          <p:spPr>
            <a:xfrm>
              <a:off x="946904" y="3390297"/>
              <a:ext cx="2404861" cy="749760"/>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50000"/>
                </a:lnSpc>
              </a:pPr>
              <a:r>
                <a:rPr lang="zh-CN" altLang="en-US" sz="1400" dirty="0">
                  <a:ln w="11430"/>
                  <a:solidFill>
                    <a:schemeClr val="bg1"/>
                  </a:solidFill>
                  <a:latin typeface="微软雅黑" panose="020B0503020204020204" pitchFamily="34" charset="-122"/>
                  <a:ea typeface="微软雅黑" panose="020B0503020204020204" pitchFamily="34" charset="-122"/>
                </a:rPr>
                <a:t>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1671483" y="5816044"/>
              <a:ext cx="5729314" cy="470189"/>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bg1"/>
                  </a:solidFill>
                  <a:latin typeface="微软雅黑" panose="020B0503020204020204" pitchFamily="34" charset="-122"/>
                  <a:ea typeface="微软雅黑" panose="020B0503020204020204" pitchFamily="34" charset="-122"/>
                </a:rPr>
                <a:t>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1671483" y="5122555"/>
              <a:ext cx="5729314" cy="470189"/>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bg1"/>
                  </a:solidFill>
                  <a:latin typeface="微软雅黑" panose="020B0503020204020204" pitchFamily="34" charset="-122"/>
                  <a:ea typeface="微软雅黑" panose="020B0503020204020204" pitchFamily="34" charset="-122"/>
                </a:rPr>
                <a:t> 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1671483" y="4429066"/>
              <a:ext cx="5729314" cy="470189"/>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400" dirty="0">
                  <a:ln w="11430"/>
                  <a:solidFill>
                    <a:schemeClr val="bg1"/>
                  </a:solidFill>
                  <a:latin typeface="微软雅黑" panose="020B0503020204020204" pitchFamily="34" charset="-122"/>
                  <a:ea typeface="微软雅黑" panose="020B0503020204020204" pitchFamily="34" charset="-122"/>
                </a:rPr>
                <a:t>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1569525" y="2413043"/>
              <a:ext cx="6004949" cy="754321"/>
            </a:xfrm>
            <a:prstGeom prst="rect">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圆角矩形 16"/>
            <p:cNvSpPr/>
            <p:nvPr/>
          </p:nvSpPr>
          <p:spPr>
            <a:xfrm>
              <a:off x="3686917" y="2223070"/>
              <a:ext cx="1698442" cy="387445"/>
            </a:xfrm>
            <a:prstGeom prst="round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文字</a:t>
              </a: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8" name="直接连接符 17"/>
            <p:cNvCxnSpPr/>
            <p:nvPr/>
          </p:nvCxnSpPr>
          <p:spPr>
            <a:xfrm flipV="1">
              <a:off x="4518209" y="3281083"/>
              <a:ext cx="0" cy="968188"/>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直接连接符 18"/>
            <p:cNvCxnSpPr/>
            <p:nvPr/>
          </p:nvCxnSpPr>
          <p:spPr>
            <a:xfrm flipV="1">
              <a:off x="7027833" y="3281083"/>
              <a:ext cx="0" cy="968188"/>
            </a:xfrm>
            <a:prstGeom prst="line">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cxnSp>
        <p:sp>
          <p:nvSpPr>
            <p:cNvPr id="20" name="圆角矩形 19"/>
            <p:cNvSpPr/>
            <p:nvPr/>
          </p:nvSpPr>
          <p:spPr>
            <a:xfrm>
              <a:off x="3524113" y="3362026"/>
              <a:ext cx="2141298" cy="749760"/>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50000"/>
                </a:lnSpc>
              </a:pPr>
              <a:r>
                <a:rPr lang="zh-CN" altLang="en-US" sz="1400" dirty="0">
                  <a:ln w="11430"/>
                  <a:solidFill>
                    <a:schemeClr val="bg1"/>
                  </a:solidFill>
                  <a:latin typeface="微软雅黑" panose="020B0503020204020204" pitchFamily="34" charset="-122"/>
                  <a:ea typeface="微软雅黑" panose="020B0503020204020204" pitchFamily="34" charset="-122"/>
                </a:rPr>
                <a:t>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5826020" y="3376525"/>
              <a:ext cx="2343091" cy="749760"/>
            </a:xfrm>
            <a:prstGeom prst="roundRect">
              <a:avLst/>
            </a:prstGeom>
            <a:solidFill>
              <a:srgbClr val="0971C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50000"/>
                </a:lnSpc>
              </a:pPr>
              <a:r>
                <a:rPr lang="zh-CN" altLang="en-US" sz="1400" dirty="0">
                  <a:ln w="11430"/>
                  <a:solidFill>
                    <a:schemeClr val="bg1"/>
                  </a:solidFill>
                  <a:latin typeface="微软雅黑" panose="020B0503020204020204" pitchFamily="34" charset="-122"/>
                  <a:ea typeface="微软雅黑" panose="020B0503020204020204" pitchFamily="34" charset="-122"/>
                </a:rPr>
                <a:t>文字</a:t>
              </a:r>
              <a:endParaRPr lang="zh-CN" altLang="en-US" sz="1400" dirty="0">
                <a:ln w="11430"/>
                <a:solidFill>
                  <a:schemeClr val="bg1"/>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2053408" y="3281083"/>
              <a:ext cx="4965460" cy="0"/>
            </a:xfrm>
            <a:prstGeom prst="line">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直接连接符 22"/>
            <p:cNvCxnSpPr/>
            <p:nvPr/>
          </p:nvCxnSpPr>
          <p:spPr>
            <a:xfrm>
              <a:off x="2043953" y="4249271"/>
              <a:ext cx="4983880" cy="0"/>
            </a:xfrm>
            <a:prstGeom prst="line">
              <a:avLst/>
            </a:prstGeom>
            <a:noFill/>
            <a:ln w="6350">
              <a:solidFill>
                <a:srgbClr val="0971CE"/>
              </a:solidFill>
            </a:ln>
          </p:spPr>
          <p:style>
            <a:lnRef idx="2">
              <a:schemeClr val="accent1">
                <a:shade val="50000"/>
              </a:schemeClr>
            </a:lnRef>
            <a:fillRef idx="1">
              <a:schemeClr val="accent1"/>
            </a:fillRef>
            <a:effectRef idx="0">
              <a:schemeClr val="accent1"/>
            </a:effectRef>
            <a:fontRef idx="minor">
              <a:schemeClr val="lt1"/>
            </a:fontRef>
          </p:style>
        </p:cxnSp>
        <p:sp>
          <p:nvSpPr>
            <p:cNvPr id="24" name="下箭头 23"/>
            <p:cNvSpPr/>
            <p:nvPr/>
          </p:nvSpPr>
          <p:spPr>
            <a:xfrm rot="10800000" flipV="1">
              <a:off x="4439399" y="2047440"/>
              <a:ext cx="192987" cy="140597"/>
            </a:xfrm>
            <a:prstGeom prst="downArrow">
              <a:avLst>
                <a:gd name="adj1" fmla="val 50000"/>
                <a:gd name="adj2" fmla="val 66341"/>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5" name="下箭头 24"/>
            <p:cNvSpPr/>
            <p:nvPr/>
          </p:nvSpPr>
          <p:spPr>
            <a:xfrm rot="10800000" flipV="1">
              <a:off x="4421715" y="3172735"/>
              <a:ext cx="192987" cy="140597"/>
            </a:xfrm>
            <a:prstGeom prst="downArrow">
              <a:avLst>
                <a:gd name="adj1" fmla="val 50000"/>
                <a:gd name="adj2" fmla="val 66341"/>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6" name="下箭头 25"/>
            <p:cNvSpPr/>
            <p:nvPr/>
          </p:nvSpPr>
          <p:spPr>
            <a:xfrm rot="10800000" flipV="1">
              <a:off x="4421714" y="4272527"/>
              <a:ext cx="192987" cy="140597"/>
            </a:xfrm>
            <a:prstGeom prst="downArrow">
              <a:avLst>
                <a:gd name="adj1" fmla="val 50000"/>
                <a:gd name="adj2" fmla="val 66341"/>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下箭头 26"/>
            <p:cNvSpPr/>
            <p:nvPr/>
          </p:nvSpPr>
          <p:spPr>
            <a:xfrm rot="10800000" flipV="1">
              <a:off x="4426265" y="4940606"/>
              <a:ext cx="192987" cy="140597"/>
            </a:xfrm>
            <a:prstGeom prst="downArrow">
              <a:avLst>
                <a:gd name="adj1" fmla="val 50000"/>
                <a:gd name="adj2" fmla="val 66341"/>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8" name="下箭头 27"/>
            <p:cNvSpPr/>
            <p:nvPr/>
          </p:nvSpPr>
          <p:spPr>
            <a:xfrm rot="10800000" flipV="1">
              <a:off x="4426265" y="5634095"/>
              <a:ext cx="192987" cy="140597"/>
            </a:xfrm>
            <a:prstGeom prst="downArrow">
              <a:avLst>
                <a:gd name="adj1" fmla="val 50000"/>
                <a:gd name="adj2" fmla="val 66341"/>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grpSp>
        <p:nvGrpSpPr>
          <p:cNvPr id="32" name="组合 31"/>
          <p:cNvGrpSpPr/>
          <p:nvPr userDrawn="1"/>
        </p:nvGrpSpPr>
        <p:grpSpPr>
          <a:xfrm>
            <a:off x="407919" y="1344853"/>
            <a:ext cx="2015047" cy="4953249"/>
            <a:chOff x="305939" y="1344852"/>
            <a:chExt cx="1511285" cy="4953249"/>
          </a:xfrm>
        </p:grpSpPr>
        <p:sp>
          <p:nvSpPr>
            <p:cNvPr id="33" name="矩形 32"/>
            <p:cNvSpPr/>
            <p:nvPr/>
          </p:nvSpPr>
          <p:spPr>
            <a:xfrm>
              <a:off x="305939" y="1344852"/>
              <a:ext cx="1511285" cy="437354"/>
            </a:xfrm>
            <a:prstGeom prst="rect">
              <a:avLst/>
            </a:prstGeom>
            <a:solidFill>
              <a:schemeClr val="accent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文字</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endParaRPr>
            </a:p>
          </p:txBody>
        </p:sp>
        <p:sp>
          <p:nvSpPr>
            <p:cNvPr id="34" name="矩形 33"/>
            <p:cNvSpPr/>
            <p:nvPr/>
          </p:nvSpPr>
          <p:spPr>
            <a:xfrm>
              <a:off x="305939" y="2445751"/>
              <a:ext cx="1511285" cy="437354"/>
            </a:xfrm>
            <a:prstGeom prst="rect">
              <a:avLst/>
            </a:prstGeom>
            <a:solidFill>
              <a:schemeClr val="accent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文字</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endParaRPr>
            </a:p>
          </p:txBody>
        </p:sp>
        <p:sp>
          <p:nvSpPr>
            <p:cNvPr id="35" name="矩形 34"/>
            <p:cNvSpPr/>
            <p:nvPr/>
          </p:nvSpPr>
          <p:spPr>
            <a:xfrm>
              <a:off x="305939" y="3817130"/>
              <a:ext cx="1511285" cy="437354"/>
            </a:xfrm>
            <a:prstGeom prst="rect">
              <a:avLst/>
            </a:prstGeom>
            <a:solidFill>
              <a:schemeClr val="accent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rPr>
                <a:t>文字</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endParaRPr>
            </a:p>
          </p:txBody>
        </p:sp>
        <p:sp>
          <p:nvSpPr>
            <p:cNvPr id="36" name="矩形 35"/>
            <p:cNvSpPr/>
            <p:nvPr/>
          </p:nvSpPr>
          <p:spPr>
            <a:xfrm>
              <a:off x="305939" y="5027456"/>
              <a:ext cx="1511285" cy="437355"/>
            </a:xfrm>
            <a:prstGeom prst="rect">
              <a:avLst/>
            </a:prstGeom>
            <a:solidFill>
              <a:schemeClr val="accent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文字</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endParaRPr>
            </a:p>
          </p:txBody>
        </p:sp>
        <p:sp>
          <p:nvSpPr>
            <p:cNvPr id="37" name="矩形 36"/>
            <p:cNvSpPr/>
            <p:nvPr/>
          </p:nvSpPr>
          <p:spPr>
            <a:xfrm>
              <a:off x="305939" y="5860747"/>
              <a:ext cx="1511285" cy="437354"/>
            </a:xfrm>
            <a:prstGeom prst="rect">
              <a:avLst/>
            </a:prstGeom>
            <a:solidFill>
              <a:schemeClr val="accent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文字</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sym typeface="+mn-ea"/>
              </a:endParaRPr>
            </a:p>
          </p:txBody>
        </p:sp>
        <p:sp>
          <p:nvSpPr>
            <p:cNvPr id="38" name="下箭头 37"/>
            <p:cNvSpPr/>
            <p:nvPr/>
          </p:nvSpPr>
          <p:spPr>
            <a:xfrm>
              <a:off x="899535" y="1926960"/>
              <a:ext cx="324091" cy="351698"/>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971CE"/>
                </a:solidFill>
              </a:endParaRPr>
            </a:p>
          </p:txBody>
        </p:sp>
        <p:sp>
          <p:nvSpPr>
            <p:cNvPr id="39" name="下箭头 38"/>
            <p:cNvSpPr/>
            <p:nvPr/>
          </p:nvSpPr>
          <p:spPr>
            <a:xfrm>
              <a:off x="899535" y="3297487"/>
              <a:ext cx="324091" cy="351698"/>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971CE"/>
                </a:solidFill>
              </a:endParaRPr>
            </a:p>
          </p:txBody>
        </p:sp>
        <p:sp>
          <p:nvSpPr>
            <p:cNvPr id="40" name="下箭头 39"/>
            <p:cNvSpPr/>
            <p:nvPr/>
          </p:nvSpPr>
          <p:spPr>
            <a:xfrm>
              <a:off x="899534" y="4435517"/>
              <a:ext cx="324091" cy="351698"/>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971CE"/>
                </a:solidFill>
              </a:endParaRPr>
            </a:p>
          </p:txBody>
        </p:sp>
        <p:sp>
          <p:nvSpPr>
            <p:cNvPr id="41" name="下箭头 40"/>
            <p:cNvSpPr/>
            <p:nvPr/>
          </p:nvSpPr>
          <p:spPr>
            <a:xfrm>
              <a:off x="896243" y="5497060"/>
              <a:ext cx="324091" cy="351698"/>
            </a:xfrm>
            <a:prstGeom prst="down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971CE"/>
                </a:solidFil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16_自定义版式">
    <p:spTree>
      <p:nvGrpSpPr>
        <p:cNvPr id="1" name=""/>
        <p:cNvGrpSpPr/>
        <p:nvPr/>
      </p:nvGrpSpPr>
      <p:grpSpPr>
        <a:xfrm>
          <a:off x="0" y="0"/>
          <a:ext cx="0" cy="0"/>
          <a:chOff x="0" y="0"/>
          <a:chExt cx="0" cy="0"/>
        </a:xfrm>
      </p:grpSpPr>
      <p:sp>
        <p:nvSpPr>
          <p:cNvPr id="2" name="矩形 1"/>
          <p:cNvSpPr/>
          <p:nvPr userDrawn="1"/>
        </p:nvSpPr>
        <p:spPr bwMode="auto">
          <a:xfrm>
            <a:off x="515381" y="413665"/>
            <a:ext cx="10991849" cy="2919226"/>
          </a:xfrm>
          <a:prstGeom prst="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18_自定义版式">
    <p:spTree>
      <p:nvGrpSpPr>
        <p:cNvPr id="1" name=""/>
        <p:cNvGrpSpPr/>
        <p:nvPr/>
      </p:nvGrpSpPr>
      <p:grpSpPr>
        <a:xfrm>
          <a:off x="0" y="0"/>
          <a:ext cx="0" cy="0"/>
          <a:chOff x="0" y="0"/>
          <a:chExt cx="0" cy="0"/>
        </a:xfrm>
      </p:grpSpPr>
      <p:sp>
        <p:nvSpPr>
          <p:cNvPr id="3" name="矩形 2"/>
          <p:cNvSpPr/>
          <p:nvPr userDrawn="1"/>
        </p:nvSpPr>
        <p:spPr>
          <a:xfrm>
            <a:off x="2615614" y="368661"/>
            <a:ext cx="8354647" cy="552339"/>
          </a:xfrm>
          <a:prstGeom prst="rect">
            <a:avLst/>
          </a:prstGeom>
          <a:noFill/>
          <a:ln w="6350">
            <a:solidFill>
              <a:srgbClr val="003F9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4" name="矩形 3"/>
          <p:cNvSpPr/>
          <p:nvPr userDrawn="1"/>
        </p:nvSpPr>
        <p:spPr>
          <a:xfrm>
            <a:off x="2615614" y="2880829"/>
            <a:ext cx="8354647" cy="403200"/>
          </a:xfrm>
          <a:prstGeom prst="rect">
            <a:avLst/>
          </a:prstGeom>
          <a:noFill/>
          <a:ln w="6350">
            <a:solidFill>
              <a:srgbClr val="003F9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5" name="矩形 4"/>
          <p:cNvSpPr/>
          <p:nvPr userDrawn="1"/>
        </p:nvSpPr>
        <p:spPr>
          <a:xfrm>
            <a:off x="2615614" y="953725"/>
            <a:ext cx="8354647" cy="587076"/>
          </a:xfrm>
          <a:prstGeom prst="rect">
            <a:avLst/>
          </a:prstGeom>
          <a:noFill/>
          <a:ln w="6350">
            <a:solidFill>
              <a:srgbClr val="003F9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6" name="矩形 5"/>
          <p:cNvSpPr/>
          <p:nvPr userDrawn="1"/>
        </p:nvSpPr>
        <p:spPr>
          <a:xfrm>
            <a:off x="2615614" y="1565917"/>
            <a:ext cx="8354647" cy="273600"/>
          </a:xfrm>
          <a:prstGeom prst="rect">
            <a:avLst/>
          </a:prstGeom>
          <a:noFill/>
          <a:ln w="6350">
            <a:solidFill>
              <a:srgbClr val="003F9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7" name="矩形 6"/>
          <p:cNvSpPr/>
          <p:nvPr userDrawn="1"/>
        </p:nvSpPr>
        <p:spPr>
          <a:xfrm>
            <a:off x="2615614" y="1881126"/>
            <a:ext cx="8354647" cy="943200"/>
          </a:xfrm>
          <a:prstGeom prst="rect">
            <a:avLst/>
          </a:prstGeom>
          <a:noFill/>
          <a:ln w="6350">
            <a:solidFill>
              <a:srgbClr val="003F9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文本框 7"/>
          <p:cNvSpPr txBox="1"/>
          <p:nvPr userDrawn="1"/>
        </p:nvSpPr>
        <p:spPr>
          <a:xfrm rot="16200000">
            <a:off x="955442" y="545586"/>
            <a:ext cx="494674" cy="230832"/>
          </a:xfrm>
          <a:prstGeom prst="rect">
            <a:avLst/>
          </a:prstGeom>
          <a:noFill/>
        </p:spPr>
        <p:txBody>
          <a:bodyPr wrap="square" rtlCol="0">
            <a:spAutoFit/>
          </a:bodyPr>
          <a:lstStyle/>
          <a:p>
            <a:pPr algn="ctr"/>
            <a:r>
              <a:rPr lang="en-US" altLang="zh-CN" sz="900" dirty="0">
                <a:latin typeface="微软雅黑" panose="020B0503020204020204" pitchFamily="34" charset="-122"/>
                <a:ea typeface="微软雅黑" panose="020B0503020204020204" pitchFamily="34" charset="-122"/>
              </a:rPr>
              <a:t>SaaS</a:t>
            </a:r>
            <a:endParaRPr lang="en-US" altLang="zh-CN" sz="900" dirty="0">
              <a:latin typeface="微软雅黑" panose="020B0503020204020204" pitchFamily="34" charset="-122"/>
              <a:ea typeface="微软雅黑" panose="020B0503020204020204" pitchFamily="34" charset="-122"/>
            </a:endParaRPr>
          </a:p>
        </p:txBody>
      </p:sp>
      <p:sp>
        <p:nvSpPr>
          <p:cNvPr id="9" name="文本框 8"/>
          <p:cNvSpPr txBox="1"/>
          <p:nvPr userDrawn="1"/>
        </p:nvSpPr>
        <p:spPr>
          <a:xfrm rot="16200000">
            <a:off x="958847" y="1127244"/>
            <a:ext cx="487859" cy="230832"/>
          </a:xfrm>
          <a:prstGeom prst="rect">
            <a:avLst/>
          </a:prstGeom>
          <a:noFill/>
        </p:spPr>
        <p:txBody>
          <a:bodyPr wrap="square" rtlCol="0">
            <a:spAutoFit/>
          </a:bodyPr>
          <a:lstStyle/>
          <a:p>
            <a:pPr algn="ctr"/>
            <a:r>
              <a:rPr lang="en-US" altLang="zh-CN" sz="900" dirty="0" err="1">
                <a:latin typeface="微软雅黑" panose="020B0503020204020204" pitchFamily="34" charset="-122"/>
                <a:ea typeface="微软雅黑" panose="020B0503020204020204" pitchFamily="34" charset="-122"/>
              </a:rPr>
              <a:t>AaaS</a:t>
            </a:r>
            <a:endParaRPr lang="en-US" altLang="zh-CN" sz="900" dirty="0">
              <a:latin typeface="微软雅黑" panose="020B0503020204020204" pitchFamily="34" charset="-122"/>
              <a:ea typeface="微软雅黑" panose="020B0503020204020204" pitchFamily="34" charset="-122"/>
            </a:endParaRPr>
          </a:p>
        </p:txBody>
      </p:sp>
      <p:sp>
        <p:nvSpPr>
          <p:cNvPr id="10" name="文本框 9"/>
          <p:cNvSpPr txBox="1"/>
          <p:nvPr userDrawn="1"/>
        </p:nvSpPr>
        <p:spPr>
          <a:xfrm rot="16200000">
            <a:off x="933788" y="1603604"/>
            <a:ext cx="539640" cy="230832"/>
          </a:xfrm>
          <a:prstGeom prst="rect">
            <a:avLst/>
          </a:prstGeom>
          <a:noFill/>
        </p:spPr>
        <p:txBody>
          <a:bodyPr wrap="square" rtlCol="0">
            <a:spAutoFit/>
          </a:bodyPr>
          <a:lstStyle/>
          <a:p>
            <a:pPr algn="ctr"/>
            <a:r>
              <a:rPr lang="en-US" altLang="zh-CN" sz="900" dirty="0" err="1">
                <a:latin typeface="微软雅黑" panose="020B0503020204020204" pitchFamily="34" charset="-122"/>
                <a:ea typeface="微软雅黑" panose="020B0503020204020204" pitchFamily="34" charset="-122"/>
              </a:rPr>
              <a:t>DaaS</a:t>
            </a:r>
            <a:endParaRPr lang="en-US" altLang="zh-CN" sz="900" dirty="0">
              <a:latin typeface="微软雅黑" panose="020B0503020204020204" pitchFamily="34" charset="-122"/>
              <a:ea typeface="微软雅黑" panose="020B0503020204020204" pitchFamily="34" charset="-122"/>
            </a:endParaRPr>
          </a:p>
        </p:txBody>
      </p:sp>
      <p:sp>
        <p:nvSpPr>
          <p:cNvPr id="11" name="文本框 10"/>
          <p:cNvSpPr txBox="1"/>
          <p:nvPr userDrawn="1"/>
        </p:nvSpPr>
        <p:spPr>
          <a:xfrm rot="16200000">
            <a:off x="954844" y="2255562"/>
            <a:ext cx="495864" cy="230832"/>
          </a:xfrm>
          <a:prstGeom prst="rect">
            <a:avLst/>
          </a:prstGeom>
          <a:noFill/>
        </p:spPr>
        <p:txBody>
          <a:bodyPr wrap="square" rtlCol="0">
            <a:spAutoFit/>
          </a:bodyPr>
          <a:lstStyle/>
          <a:p>
            <a:pPr algn="ctr"/>
            <a:r>
              <a:rPr lang="en-US" altLang="zh-CN" sz="900" dirty="0">
                <a:latin typeface="微软雅黑" panose="020B0503020204020204" pitchFamily="34" charset="-122"/>
                <a:ea typeface="微软雅黑" panose="020B0503020204020204" pitchFamily="34" charset="-122"/>
              </a:rPr>
              <a:t>PaaS</a:t>
            </a:r>
            <a:endParaRPr lang="en-US" altLang="zh-CN" sz="900" dirty="0">
              <a:latin typeface="微软雅黑" panose="020B0503020204020204" pitchFamily="34" charset="-122"/>
              <a:ea typeface="微软雅黑" panose="020B0503020204020204" pitchFamily="34" charset="-122"/>
            </a:endParaRPr>
          </a:p>
        </p:txBody>
      </p:sp>
      <p:sp>
        <p:nvSpPr>
          <p:cNvPr id="12" name="矩形 11"/>
          <p:cNvSpPr/>
          <p:nvPr userDrawn="1"/>
        </p:nvSpPr>
        <p:spPr>
          <a:xfrm>
            <a:off x="1304503" y="368660"/>
            <a:ext cx="1229893" cy="566140"/>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zh-CN" sz="1000" dirty="0">
                <a:solidFill>
                  <a:schemeClr val="bg1"/>
                </a:solidFill>
                <a:latin typeface="微软雅黑" panose="020B0503020204020204" pitchFamily="34" charset="-122"/>
                <a:ea typeface="微软雅黑" panose="020B0503020204020204" pitchFamily="34" charset="-122"/>
              </a:rPr>
              <a:t>服务</a:t>
            </a:r>
            <a:r>
              <a:rPr lang="zh-CN" altLang="en-US" sz="1000" dirty="0">
                <a:solidFill>
                  <a:schemeClr val="bg1"/>
                </a:solidFill>
                <a:latin typeface="微软雅黑" panose="020B0503020204020204" pitchFamily="34" charset="-122"/>
                <a:ea typeface="微软雅黑" panose="020B0503020204020204" pitchFamily="34" charset="-122"/>
              </a:rPr>
              <a:t>层</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userDrawn="1"/>
        </p:nvSpPr>
        <p:spPr>
          <a:xfrm>
            <a:off x="1304503" y="960967"/>
            <a:ext cx="1229893" cy="579835"/>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solidFill>
                  <a:schemeClr val="bg1"/>
                </a:solidFill>
                <a:latin typeface="微软雅黑" panose="020B0503020204020204" pitchFamily="34" charset="-122"/>
                <a:ea typeface="微软雅黑" panose="020B0503020204020204" pitchFamily="34" charset="-122"/>
                <a:sym typeface="+mn-ea"/>
              </a:rPr>
              <a:t>分析层</a:t>
            </a:r>
            <a:endParaRPr lang="zh-CN" altLang="en-US" sz="1000" dirty="0">
              <a:solidFill>
                <a:schemeClr val="bg1"/>
              </a:solidFill>
              <a:latin typeface="微软雅黑" panose="020B0503020204020204" pitchFamily="34" charset="-122"/>
              <a:ea typeface="微软雅黑" panose="020B0503020204020204" pitchFamily="34" charset="-122"/>
              <a:sym typeface="+mn-ea"/>
            </a:endParaRPr>
          </a:p>
        </p:txBody>
      </p:sp>
      <p:sp>
        <p:nvSpPr>
          <p:cNvPr id="14" name="矩形 13"/>
          <p:cNvSpPr/>
          <p:nvPr userDrawn="1"/>
        </p:nvSpPr>
        <p:spPr>
          <a:xfrm>
            <a:off x="1304503" y="1565917"/>
            <a:ext cx="1229893" cy="272474"/>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zh-CN" sz="1000" dirty="0">
                <a:solidFill>
                  <a:schemeClr val="bg1"/>
                </a:solidFill>
                <a:latin typeface="微软雅黑" panose="020B0503020204020204" pitchFamily="34" charset="-122"/>
                <a:ea typeface="微软雅黑" panose="020B0503020204020204" pitchFamily="34" charset="-122"/>
              </a:rPr>
              <a:t>数据层</a:t>
            </a:r>
            <a:endParaRPr lang="zh-CN" altLang="zh-CN" sz="1000"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1304503" y="1881126"/>
            <a:ext cx="1229893" cy="944580"/>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solidFill>
                  <a:schemeClr val="bg1"/>
                </a:solidFill>
                <a:latin typeface="微软雅黑" panose="020B0503020204020204" pitchFamily="34" charset="-122"/>
                <a:ea typeface="微软雅黑" panose="020B0503020204020204" pitchFamily="34" charset="-122"/>
                <a:sym typeface="+mn-ea"/>
              </a:rPr>
              <a:t>平台层</a:t>
            </a:r>
            <a:endParaRPr lang="zh-CN" altLang="en-US" sz="1000" dirty="0">
              <a:solidFill>
                <a:schemeClr val="bg1"/>
              </a:solidFill>
              <a:latin typeface="微软雅黑" panose="020B0503020204020204" pitchFamily="34" charset="-122"/>
              <a:ea typeface="微软雅黑" panose="020B0503020204020204" pitchFamily="34" charset="-122"/>
              <a:sym typeface="+mn-ea"/>
            </a:endParaRPr>
          </a:p>
        </p:txBody>
      </p:sp>
      <p:sp>
        <p:nvSpPr>
          <p:cNvPr id="16" name="矩形 15"/>
          <p:cNvSpPr/>
          <p:nvPr userDrawn="1"/>
        </p:nvSpPr>
        <p:spPr>
          <a:xfrm>
            <a:off x="1304503" y="2880829"/>
            <a:ext cx="1229893" cy="403998"/>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solidFill>
                  <a:schemeClr val="bg1"/>
                </a:solidFill>
                <a:latin typeface="微软雅黑" panose="020B0503020204020204" pitchFamily="34" charset="-122"/>
                <a:ea typeface="微软雅黑" panose="020B0503020204020204" pitchFamily="34" charset="-122"/>
                <a:sym typeface="+mn-ea"/>
              </a:rPr>
              <a:t>基础设施层</a:t>
            </a:r>
            <a:endParaRPr lang="zh-CN" altLang="en-US" sz="1000" dirty="0">
              <a:solidFill>
                <a:schemeClr val="bg1"/>
              </a:solidFill>
              <a:latin typeface="微软雅黑" panose="020B0503020204020204" pitchFamily="34" charset="-122"/>
              <a:ea typeface="微软雅黑" panose="020B0503020204020204" pitchFamily="34" charset="-122"/>
              <a:sym typeface="+mn-ea"/>
            </a:endParaRPr>
          </a:p>
        </p:txBody>
      </p:sp>
      <p:sp>
        <p:nvSpPr>
          <p:cNvPr id="17" name="圆角矩形 16"/>
          <p:cNvSpPr/>
          <p:nvPr userDrawn="1"/>
        </p:nvSpPr>
        <p:spPr>
          <a:xfrm>
            <a:off x="6488246" y="413666"/>
            <a:ext cx="648580"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圆角矩形 17"/>
          <p:cNvSpPr/>
          <p:nvPr userDrawn="1"/>
        </p:nvSpPr>
        <p:spPr>
          <a:xfrm>
            <a:off x="4303071" y="413666"/>
            <a:ext cx="689272"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圆角矩形 18"/>
          <p:cNvSpPr/>
          <p:nvPr userDrawn="1"/>
        </p:nvSpPr>
        <p:spPr>
          <a:xfrm>
            <a:off x="5747674" y="413666"/>
            <a:ext cx="691764"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圆角矩形 19"/>
          <p:cNvSpPr/>
          <p:nvPr userDrawn="1"/>
        </p:nvSpPr>
        <p:spPr>
          <a:xfrm>
            <a:off x="8657642" y="413666"/>
            <a:ext cx="680137"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圆角矩形 20"/>
          <p:cNvSpPr/>
          <p:nvPr userDrawn="1"/>
        </p:nvSpPr>
        <p:spPr>
          <a:xfrm>
            <a:off x="7948627" y="413666"/>
            <a:ext cx="660207"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圆角矩形 21"/>
          <p:cNvSpPr/>
          <p:nvPr userDrawn="1"/>
        </p:nvSpPr>
        <p:spPr>
          <a:xfrm>
            <a:off x="7185634" y="413666"/>
            <a:ext cx="714185"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圆角矩形 22"/>
          <p:cNvSpPr/>
          <p:nvPr userDrawn="1"/>
        </p:nvSpPr>
        <p:spPr>
          <a:xfrm>
            <a:off x="5041151" y="413665"/>
            <a:ext cx="657715" cy="27981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圆角矩形 23"/>
          <p:cNvSpPr/>
          <p:nvPr userDrawn="1"/>
        </p:nvSpPr>
        <p:spPr>
          <a:xfrm>
            <a:off x="2795375" y="413666"/>
            <a:ext cx="777277"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5" name="圆角矩形 24"/>
          <p:cNvSpPr/>
          <p:nvPr userDrawn="1"/>
        </p:nvSpPr>
        <p:spPr>
          <a:xfrm>
            <a:off x="3589074" y="413666"/>
            <a:ext cx="665189"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6" name="矩形 25"/>
          <p:cNvSpPr/>
          <p:nvPr userDrawn="1"/>
        </p:nvSpPr>
        <p:spPr>
          <a:xfrm>
            <a:off x="2795374" y="769832"/>
            <a:ext cx="8000293" cy="138888"/>
          </a:xfrm>
          <a:prstGeom prst="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000" dirty="0">
                <a:ln w="11430"/>
                <a:solidFill>
                  <a:schemeClr val="bg1"/>
                </a:solidFill>
                <a:latin typeface="微软雅黑" panose="020B0503020204020204" pitchFamily="34" charset="-122"/>
                <a:ea typeface="微软雅黑" panose="020B0503020204020204" pitchFamily="34" charset="-122"/>
                <a:sym typeface="+mn-ea"/>
              </a:rPr>
              <a:t>医疗分析挖掘服务模型</a:t>
            </a:r>
            <a:endParaRPr lang="zh-CN" altLang="en-US" sz="1000" dirty="0">
              <a:ln w="11430"/>
              <a:solidFill>
                <a:schemeClr val="bg1"/>
              </a:solidFill>
              <a:latin typeface="微软雅黑" panose="020B0503020204020204" pitchFamily="34" charset="-122"/>
              <a:ea typeface="微软雅黑" panose="020B0503020204020204" pitchFamily="34" charset="-122"/>
              <a:sym typeface="+mn-ea"/>
            </a:endParaRPr>
          </a:p>
        </p:txBody>
      </p:sp>
      <p:sp>
        <p:nvSpPr>
          <p:cNvPr id="27" name="Rounded Rectangle 13"/>
          <p:cNvSpPr/>
          <p:nvPr userDrawn="1"/>
        </p:nvSpPr>
        <p:spPr>
          <a:xfrm>
            <a:off x="2795373" y="995263"/>
            <a:ext cx="1126483"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Rounded Rectangle 13"/>
          <p:cNvSpPr/>
          <p:nvPr userDrawn="1"/>
        </p:nvSpPr>
        <p:spPr>
          <a:xfrm>
            <a:off x="4943208" y="995263"/>
            <a:ext cx="977027"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Rounded Rectangle 13"/>
          <p:cNvSpPr/>
          <p:nvPr userDrawn="1"/>
        </p:nvSpPr>
        <p:spPr>
          <a:xfrm>
            <a:off x="3980456" y="995263"/>
            <a:ext cx="904153"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0" name="矩形 29"/>
          <p:cNvSpPr/>
          <p:nvPr userDrawn="1"/>
        </p:nvSpPr>
        <p:spPr>
          <a:xfrm>
            <a:off x="2794782" y="1613276"/>
            <a:ext cx="2811879" cy="193834"/>
          </a:xfrm>
          <a:prstGeom prst="rect">
            <a:avLst/>
          </a:prstGeom>
          <a:solidFill>
            <a:srgbClr val="156BE3"/>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zh-CN" sz="1000" dirty="0">
                <a:ln w="11430"/>
                <a:solidFill>
                  <a:schemeClr val="bg1"/>
                </a:solidFill>
                <a:latin typeface="微软雅黑" panose="020B0503020204020204" pitchFamily="34" charset="-122"/>
                <a:ea typeface="微软雅黑" panose="020B0503020204020204" pitchFamily="34" charset="-122"/>
              </a:rPr>
              <a:t>数据采集集成与建模</a:t>
            </a:r>
            <a:endParaRPr lang="zh-CN" altLang="zh-CN" sz="1000" dirty="0">
              <a:ln w="11430"/>
              <a:solidFill>
                <a:schemeClr val="bg1"/>
              </a:solidFill>
              <a:latin typeface="微软雅黑" panose="020B0503020204020204" pitchFamily="34" charset="-122"/>
              <a:ea typeface="微软雅黑" panose="020B0503020204020204" pitchFamily="34" charset="-122"/>
            </a:endParaRPr>
          </a:p>
        </p:txBody>
      </p:sp>
      <p:sp>
        <p:nvSpPr>
          <p:cNvPr id="31" name="Flowchart: Magnetic Disk 149"/>
          <p:cNvSpPr/>
          <p:nvPr userDrawn="1"/>
        </p:nvSpPr>
        <p:spPr>
          <a:xfrm>
            <a:off x="5700016" y="1620922"/>
            <a:ext cx="5095651" cy="186189"/>
          </a:xfrm>
          <a:prstGeom prst="flowChartMagneticDisk">
            <a:avLst/>
          </a:prstGeom>
          <a:solidFill>
            <a:srgbClr val="156BE3"/>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bg1"/>
                </a:solidFill>
                <a:latin typeface="微软雅黑" panose="020B0503020204020204" pitchFamily="34" charset="-122"/>
                <a:ea typeface="微软雅黑" panose="020B0503020204020204" pitchFamily="34" charset="-122"/>
              </a:rPr>
              <a:t>糖尿病综合性大数据资源库</a:t>
            </a:r>
            <a:endParaRPr lang="zh-CN" altLang="en-US" sz="1000" dirty="0">
              <a:ln w="11430"/>
              <a:solidFill>
                <a:schemeClr val="bg1"/>
              </a:solidFill>
              <a:latin typeface="微软雅黑" panose="020B0503020204020204" pitchFamily="34" charset="-122"/>
              <a:ea typeface="微软雅黑" panose="020B0503020204020204" pitchFamily="34" charset="-122"/>
            </a:endParaRPr>
          </a:p>
        </p:txBody>
      </p:sp>
      <p:sp>
        <p:nvSpPr>
          <p:cNvPr id="32" name="Rounded Rectangle 13"/>
          <p:cNvSpPr/>
          <p:nvPr userDrawn="1"/>
        </p:nvSpPr>
        <p:spPr>
          <a:xfrm>
            <a:off x="2794782" y="2960936"/>
            <a:ext cx="1405940" cy="28512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数据采集服务器</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3" name="Rounded Rectangle 13"/>
          <p:cNvSpPr/>
          <p:nvPr userDrawn="1"/>
        </p:nvSpPr>
        <p:spPr>
          <a:xfrm>
            <a:off x="4261559" y="2960937"/>
            <a:ext cx="1847708" cy="28512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数据库</a:t>
            </a: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/Web</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服务器</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4" name="Rounded Rectangle 13"/>
          <p:cNvSpPr/>
          <p:nvPr userDrawn="1"/>
        </p:nvSpPr>
        <p:spPr>
          <a:xfrm>
            <a:off x="6170105" y="2960936"/>
            <a:ext cx="1511169" cy="28512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Rounded Rectangle 13"/>
          <p:cNvSpPr/>
          <p:nvPr userDrawn="1"/>
        </p:nvSpPr>
        <p:spPr>
          <a:xfrm>
            <a:off x="7742111" y="2960936"/>
            <a:ext cx="1503029" cy="28512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资源配置管理</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6" name="Rounded Rectangle 13"/>
          <p:cNvSpPr/>
          <p:nvPr userDrawn="1"/>
        </p:nvSpPr>
        <p:spPr>
          <a:xfrm>
            <a:off x="9305979" y="2960936"/>
            <a:ext cx="1489687" cy="28512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安全管理</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7" name="Rounded Rectangle 13"/>
          <p:cNvSpPr/>
          <p:nvPr userDrawn="1"/>
        </p:nvSpPr>
        <p:spPr>
          <a:xfrm>
            <a:off x="2840783" y="1920046"/>
            <a:ext cx="7819501" cy="131307"/>
          </a:xfrm>
          <a:prstGeom prst="roundRect">
            <a:avLst/>
          </a:prstGeom>
          <a:noFill/>
          <a:ln>
            <a:noFill/>
          </a:ln>
          <a:effectLst/>
          <a:extLst>
            <a:ext uri="{909E8E84-426E-40DD-AFC4-6F175D3DCCD1}">
              <a14:hiddenFill xmlns:a14="http://schemas.microsoft.com/office/drawing/2010/main">
                <a:solidFill>
                  <a:srgbClr val="0066FF"/>
                </a:solidFill>
              </a14:hiddenFill>
            </a:ext>
          </a:extLst>
        </p:spPr>
        <p:style>
          <a:lnRef idx="1">
            <a:schemeClr val="accent5"/>
          </a:lnRef>
          <a:fillRef idx="3">
            <a:schemeClr val="accent5"/>
          </a:fillRef>
          <a:effectRef idx="2">
            <a:schemeClr val="accent5"/>
          </a:effectRef>
          <a:fontRef idx="minor">
            <a:schemeClr val="lt1"/>
          </a:fontRef>
        </p:style>
        <p:txBody>
          <a:bodyPr lIns="0" rIns="0" rtlCol="0" anchor="ctr"/>
          <a:lstStyle/>
          <a:p>
            <a:pPr algn="ctr"/>
            <a:r>
              <a:rPr lang="zh-CN" altLang="en-US" sz="900" dirty="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sym typeface="+mn-ea"/>
              </a:rPr>
              <a:t>医疗大数据统一存储访问与编程接口</a:t>
            </a:r>
            <a:endParaRPr lang="zh-CN" altLang="en-US" sz="900" dirty="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sym typeface="+mn-ea"/>
            </a:endParaRPr>
          </a:p>
        </p:txBody>
      </p:sp>
      <p:sp>
        <p:nvSpPr>
          <p:cNvPr id="38" name="Rounded Rectangle 122"/>
          <p:cNvSpPr/>
          <p:nvPr userDrawn="1"/>
        </p:nvSpPr>
        <p:spPr>
          <a:xfrm>
            <a:off x="3753445" y="2072810"/>
            <a:ext cx="997369"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 数据库访问接口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Rounded Rectangle 123"/>
          <p:cNvSpPr/>
          <p:nvPr userDrawn="1"/>
        </p:nvSpPr>
        <p:spPr>
          <a:xfrm>
            <a:off x="7179119" y="2072810"/>
            <a:ext cx="1012316"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HBase</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Rounded Rectangle 124"/>
          <p:cNvSpPr/>
          <p:nvPr userDrawn="1"/>
        </p:nvSpPr>
        <p:spPr>
          <a:xfrm>
            <a:off x="2794782" y="2504733"/>
            <a:ext cx="890567" cy="26813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Web</a:t>
            </a:r>
            <a:endPar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服务器</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Rounded Rectangle 127"/>
          <p:cNvSpPr/>
          <p:nvPr userDrawn="1"/>
        </p:nvSpPr>
        <p:spPr>
          <a:xfrm>
            <a:off x="5872824" y="2072810"/>
            <a:ext cx="1253977"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HDFS</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访问接口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Rounded Rectangle 128"/>
          <p:cNvSpPr/>
          <p:nvPr userDrawn="1"/>
        </p:nvSpPr>
        <p:spPr>
          <a:xfrm>
            <a:off x="8243753" y="2072810"/>
            <a:ext cx="1308807"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MapReduce</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编程接口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TextBox 133"/>
          <p:cNvSpPr txBox="1"/>
          <p:nvPr userDrawn="1"/>
        </p:nvSpPr>
        <p:spPr>
          <a:xfrm>
            <a:off x="2794782" y="2327549"/>
            <a:ext cx="8000884" cy="230832"/>
          </a:xfrm>
          <a:prstGeom prst="rect">
            <a:avLst/>
          </a:prstGeom>
          <a:noFill/>
          <a:extLst>
            <a:ext uri="{909E8E84-426E-40DD-AFC4-6F175D3DCCD1}">
              <a14:hiddenFill xmlns:a14="http://schemas.microsoft.com/office/drawing/2010/main">
                <a:solidFill>
                  <a:srgbClr val="003F98"/>
                </a:solidFill>
              </a14:hiddenFill>
            </a:ext>
          </a:extLst>
        </p:spPr>
        <p:txBody>
          <a:bodyPr wrap="square" rtlCol="0">
            <a:spAutoFit/>
          </a:bodyPr>
          <a:lstStyle/>
          <a:p>
            <a:pPr algn="ctr"/>
            <a:r>
              <a:rPr lang="zh-CN" altLang="en-US" sz="900" dirty="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rPr>
              <a:t>医疗大数据存储和并行计算系统</a:t>
            </a:r>
            <a:endParaRPr lang="zh-CN" altLang="en-US" sz="900" dirty="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44" name="Rounded Rectangle 180"/>
          <p:cNvSpPr/>
          <p:nvPr userDrawn="1"/>
        </p:nvSpPr>
        <p:spPr>
          <a:xfrm>
            <a:off x="4807357" y="2072810"/>
            <a:ext cx="1013147"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内存数据库接口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Rounded Rectangle 244"/>
          <p:cNvSpPr/>
          <p:nvPr userDrawn="1"/>
        </p:nvSpPr>
        <p:spPr>
          <a:xfrm>
            <a:off x="2794783" y="2072810"/>
            <a:ext cx="906344"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Web</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访问接口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Rounded Rectangle 137"/>
          <p:cNvSpPr/>
          <p:nvPr userDrawn="1"/>
        </p:nvSpPr>
        <p:spPr>
          <a:xfrm>
            <a:off x="9630042" y="2072810"/>
            <a:ext cx="1195015" cy="288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rPr>
              <a:t>Spark</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编程接口</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Rounded Rectangle 124"/>
          <p:cNvSpPr/>
          <p:nvPr userDrawn="1"/>
        </p:nvSpPr>
        <p:spPr>
          <a:xfrm>
            <a:off x="3763217" y="2504734"/>
            <a:ext cx="969964" cy="26813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关系数据库</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p:nvGrpSpPr>
          <p:cNvPr id="48" name="组合 47"/>
          <p:cNvGrpSpPr/>
          <p:nvPr userDrawn="1"/>
        </p:nvGrpSpPr>
        <p:grpSpPr>
          <a:xfrm>
            <a:off x="4840669" y="2496805"/>
            <a:ext cx="5984387" cy="276060"/>
            <a:chOff x="4387759" y="5548036"/>
            <a:chExt cx="3649626" cy="185081"/>
          </a:xfrm>
        </p:grpSpPr>
        <p:sp>
          <p:nvSpPr>
            <p:cNvPr id="49" name="Rounded Rectangle 114"/>
            <p:cNvSpPr/>
            <p:nvPr/>
          </p:nvSpPr>
          <p:spPr>
            <a:xfrm>
              <a:off x="7362612" y="5553351"/>
              <a:ext cx="674773" cy="179766"/>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Spark</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系统</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50" name="Rounded Rectangle 114"/>
            <p:cNvSpPr/>
            <p:nvPr/>
          </p:nvSpPr>
          <p:spPr>
            <a:xfrm>
              <a:off x="4387759" y="5553351"/>
              <a:ext cx="1025380" cy="179766"/>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分布式内存数据库</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51" name="Rounded Rectangle 114"/>
            <p:cNvSpPr/>
            <p:nvPr/>
          </p:nvSpPr>
          <p:spPr>
            <a:xfrm>
              <a:off x="5455607" y="5553351"/>
              <a:ext cx="459532" cy="179766"/>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HDFS</a:t>
              </a:r>
              <a:endPar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52" name="Rounded Rectangle 114"/>
            <p:cNvSpPr/>
            <p:nvPr/>
          </p:nvSpPr>
          <p:spPr>
            <a:xfrm>
              <a:off x="5949337" y="5553351"/>
              <a:ext cx="445439" cy="179766"/>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HBase</a:t>
              </a:r>
              <a:endParaRPr lang="en-US" altLang="zh-CN"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53" name="Rounded Rectangle 114"/>
            <p:cNvSpPr/>
            <p:nvPr/>
          </p:nvSpPr>
          <p:spPr>
            <a:xfrm>
              <a:off x="6436601" y="5548036"/>
              <a:ext cx="864000" cy="18508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900" dirty="0" err="1">
                  <a:ln w="11430"/>
                  <a:solidFill>
                    <a:schemeClr val="tx1">
                      <a:lumMod val="95000"/>
                      <a:lumOff val="5000"/>
                    </a:schemeClr>
                  </a:solidFill>
                  <a:latin typeface="微软雅黑" panose="020B0503020204020204" pitchFamily="34" charset="-122"/>
                  <a:ea typeface="微软雅黑" panose="020B0503020204020204" pitchFamily="34" charset="-122"/>
                  <a:sym typeface="+mn-ea"/>
                </a:rPr>
                <a:t>Hadoop</a:t>
              </a: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系统</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p:sp>
        <p:nvSpPr>
          <p:cNvPr id="54" name="矩形 4"/>
          <p:cNvSpPr>
            <a:spLocks noChangeArrowheads="1"/>
          </p:cNvSpPr>
          <p:nvPr userDrawn="1"/>
        </p:nvSpPr>
        <p:spPr bwMode="auto">
          <a:xfrm>
            <a:off x="476546" y="368660"/>
            <a:ext cx="564705" cy="2915542"/>
          </a:xfrm>
          <a:prstGeom prst="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标准规范体系</a:t>
            </a:r>
            <a:endParaRPr lang="zh-CN"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5" name="矩形 5"/>
          <p:cNvSpPr>
            <a:spLocks noChangeArrowheads="1"/>
          </p:cNvSpPr>
          <p:nvPr userDrawn="1"/>
        </p:nvSpPr>
        <p:spPr bwMode="auto">
          <a:xfrm>
            <a:off x="11062367" y="368661"/>
            <a:ext cx="613701" cy="2920231"/>
          </a:xfrm>
          <a:prstGeom prst="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solidFill>
                  <a:schemeClr val="bg1"/>
                </a:solidFill>
                <a:latin typeface="微软雅黑" panose="020B0503020204020204" pitchFamily="34" charset="-122"/>
                <a:ea typeface="微软雅黑" panose="020B0503020204020204" pitchFamily="34" charset="-122"/>
              </a:rPr>
              <a:t>安全保障体系</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56" name="圆角矩形 55"/>
          <p:cNvSpPr/>
          <p:nvPr userDrawn="1"/>
        </p:nvSpPr>
        <p:spPr>
          <a:xfrm>
            <a:off x="8859218" y="995263"/>
            <a:ext cx="1063177"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7" name="圆角矩形 56"/>
          <p:cNvSpPr/>
          <p:nvPr userDrawn="1"/>
        </p:nvSpPr>
        <p:spPr>
          <a:xfrm>
            <a:off x="9980998" y="995263"/>
            <a:ext cx="814669"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圆角矩形 57"/>
          <p:cNvSpPr/>
          <p:nvPr userDrawn="1"/>
        </p:nvSpPr>
        <p:spPr>
          <a:xfrm>
            <a:off x="5978835" y="995263"/>
            <a:ext cx="908511"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圆角矩形 58"/>
          <p:cNvSpPr/>
          <p:nvPr userDrawn="1"/>
        </p:nvSpPr>
        <p:spPr>
          <a:xfrm>
            <a:off x="7924692" y="995263"/>
            <a:ext cx="875925"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0" name="圆角矩形 59"/>
          <p:cNvSpPr/>
          <p:nvPr userDrawn="1"/>
        </p:nvSpPr>
        <p:spPr>
          <a:xfrm>
            <a:off x="6945945" y="995263"/>
            <a:ext cx="920147" cy="50400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1" name="圆角矩形 60"/>
          <p:cNvSpPr/>
          <p:nvPr userDrawn="1"/>
        </p:nvSpPr>
        <p:spPr>
          <a:xfrm>
            <a:off x="9386588" y="413666"/>
            <a:ext cx="680137"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2" name="圆角矩形 61"/>
          <p:cNvSpPr/>
          <p:nvPr userDrawn="1"/>
        </p:nvSpPr>
        <p:spPr>
          <a:xfrm>
            <a:off x="10115530" y="413666"/>
            <a:ext cx="680137" cy="29137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19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0391" y="2402786"/>
            <a:ext cx="4755109" cy="1962426"/>
          </a:xfrm>
          <a:prstGeom prst="rect">
            <a:avLst/>
          </a:prstGeom>
        </p:spPr>
      </p:pic>
      <p:cxnSp>
        <p:nvCxnSpPr>
          <p:cNvPr id="4" name="直接连接符 3"/>
          <p:cNvCxnSpPr/>
          <p:nvPr userDrawn="1"/>
        </p:nvCxnSpPr>
        <p:spPr>
          <a:xfrm>
            <a:off x="583841" y="3408619"/>
            <a:ext cx="2875136"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8509307" y="3362049"/>
            <a:ext cx="2875136"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0131998" y="1176342"/>
            <a:ext cx="1271502" cy="461665"/>
          </a:xfrm>
          <a:prstGeom prst="rect">
            <a:avLst/>
          </a:prstGeom>
        </p:spPr>
        <p:txBody>
          <a:bodyPr wrap="none">
            <a:spAutoFit/>
          </a:bodyPr>
          <a:lstStyle/>
          <a:p>
            <a:pPr algn="r">
              <a:lnSpc>
                <a:spcPct val="150000"/>
              </a:lnSpc>
            </a:pPr>
            <a:r>
              <a:rPr lang="en-US" altLang="zh-CN"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 </a:t>
            </a: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经济效益一</a:t>
            </a:r>
            <a:endParaRPr lang="zh-CN" altLang="zh-CN"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endParaRPr>
          </a:p>
        </p:txBody>
      </p:sp>
      <p:sp>
        <p:nvSpPr>
          <p:cNvPr id="7" name="矩形 6"/>
          <p:cNvSpPr/>
          <p:nvPr userDrawn="1"/>
        </p:nvSpPr>
        <p:spPr>
          <a:xfrm>
            <a:off x="8084508" y="1691056"/>
            <a:ext cx="3297736" cy="313932"/>
          </a:xfrm>
          <a:prstGeom prst="rect">
            <a:avLst/>
          </a:prstGeom>
        </p:spPr>
        <p:txBody>
          <a:bodyPr wrap="square">
            <a:spAutoFit/>
          </a:bodyPr>
          <a:lstStyle/>
          <a:p>
            <a:pPr algn="r">
              <a:lnSpc>
                <a:spcPct val="120000"/>
              </a:lnSpc>
              <a:spcAft>
                <a:spcPts val="600"/>
              </a:spcAft>
            </a:pPr>
            <a:r>
              <a:rPr lang="en-US" altLang="zh-CN"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 </a:t>
            </a:r>
            <a:r>
              <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经济效益</a:t>
            </a:r>
            <a:endPar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sp>
        <p:nvSpPr>
          <p:cNvPr id="8" name="矩形 7"/>
          <p:cNvSpPr/>
          <p:nvPr userDrawn="1"/>
        </p:nvSpPr>
        <p:spPr>
          <a:xfrm>
            <a:off x="7817993" y="3543020"/>
            <a:ext cx="3809563" cy="461665"/>
          </a:xfrm>
          <a:prstGeom prst="rect">
            <a:avLst/>
          </a:prstGeom>
        </p:spPr>
        <p:txBody>
          <a:bodyPr wrap="square">
            <a:spAutoFit/>
          </a:bodyPr>
          <a:lstStyle/>
          <a:p>
            <a:pPr algn="r">
              <a:lnSpc>
                <a:spcPct val="150000"/>
              </a:lnSpc>
            </a:pP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 经济效益二</a:t>
            </a:r>
            <a:endPar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endParaRPr>
          </a:p>
        </p:txBody>
      </p:sp>
      <p:sp>
        <p:nvSpPr>
          <p:cNvPr id="9" name="矩形 8"/>
          <p:cNvSpPr/>
          <p:nvPr userDrawn="1"/>
        </p:nvSpPr>
        <p:spPr>
          <a:xfrm>
            <a:off x="7718495" y="4166364"/>
            <a:ext cx="3796171" cy="313932"/>
          </a:xfrm>
          <a:prstGeom prst="rect">
            <a:avLst/>
          </a:prstGeom>
        </p:spPr>
        <p:txBody>
          <a:bodyPr wrap="square">
            <a:spAutoFit/>
          </a:bodyPr>
          <a:lstStyle/>
          <a:p>
            <a:pPr algn="r">
              <a:lnSpc>
                <a:spcPct val="120000"/>
              </a:lnSpc>
              <a:spcAft>
                <a:spcPts val="600"/>
              </a:spcAft>
            </a:pPr>
            <a:r>
              <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经济效益</a:t>
            </a:r>
            <a:endPar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sp>
        <p:nvSpPr>
          <p:cNvPr id="10" name="矩形 9"/>
          <p:cNvSpPr/>
          <p:nvPr userDrawn="1"/>
        </p:nvSpPr>
        <p:spPr>
          <a:xfrm>
            <a:off x="551884" y="1699008"/>
            <a:ext cx="4485568" cy="612475"/>
          </a:xfrm>
          <a:prstGeom prst="rect">
            <a:avLst/>
          </a:prstGeom>
        </p:spPr>
        <p:txBody>
          <a:bodyPr wrap="square">
            <a:spAutoFit/>
          </a:bodyPr>
          <a:lstStyle/>
          <a:p>
            <a:pPr>
              <a:lnSpc>
                <a:spcPct val="120000"/>
              </a:lnSpc>
              <a:spcAft>
                <a:spcPts val="600"/>
              </a:spcAft>
            </a:pPr>
            <a:r>
              <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社会效益</a:t>
            </a:r>
            <a:endParaRPr lang="en-US" altLang="zh-CN"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a:p>
            <a:pPr>
              <a:lnSpc>
                <a:spcPct val="120000"/>
              </a:lnSpc>
              <a:spcAft>
                <a:spcPts val="600"/>
              </a:spcAft>
            </a:pPr>
            <a:endParaRPr lang="en-US" altLang="zh-CN"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569147" y="1178146"/>
            <a:ext cx="1210588" cy="461665"/>
          </a:xfrm>
          <a:prstGeom prst="rect">
            <a:avLst/>
          </a:prstGeom>
        </p:spPr>
        <p:txBody>
          <a:bodyPr wrap="none">
            <a:spAutoFit/>
          </a:bodyPr>
          <a:lstStyle/>
          <a:p>
            <a:pPr>
              <a:lnSpc>
                <a:spcPct val="150000"/>
              </a:lnSpc>
            </a:pP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社会效益一</a:t>
            </a:r>
            <a:endParaRPr lang="zh-CN" altLang="zh-CN"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551884" y="4163285"/>
            <a:ext cx="3614600" cy="313932"/>
          </a:xfrm>
          <a:prstGeom prst="rect">
            <a:avLst/>
          </a:prstGeom>
        </p:spPr>
        <p:txBody>
          <a:bodyPr wrap="square">
            <a:spAutoFit/>
          </a:bodyPr>
          <a:lstStyle/>
          <a:p>
            <a:pPr>
              <a:lnSpc>
                <a:spcPct val="120000"/>
              </a:lnSpc>
              <a:spcAft>
                <a:spcPts val="600"/>
              </a:spcAft>
            </a:pPr>
            <a:r>
              <a:rPr lang="zh-CN" altLang="en-US"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社会效益</a:t>
            </a:r>
            <a:endParaRPr lang="zh-CN" altLang="zh-CN" sz="1200"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sp>
        <p:nvSpPr>
          <p:cNvPr id="13" name="矩形 12"/>
          <p:cNvSpPr/>
          <p:nvPr userDrawn="1"/>
        </p:nvSpPr>
        <p:spPr>
          <a:xfrm>
            <a:off x="533914" y="3586203"/>
            <a:ext cx="1210588" cy="461665"/>
          </a:xfrm>
          <a:prstGeom prst="rect">
            <a:avLst/>
          </a:prstGeom>
        </p:spPr>
        <p:txBody>
          <a:bodyPr wrap="none">
            <a:spAutoFit/>
          </a:bodyPr>
          <a:lstStyle/>
          <a:p>
            <a:pPr>
              <a:lnSpc>
                <a:spcPct val="150000"/>
              </a:lnSpc>
            </a:pPr>
            <a:r>
              <a:rPr lang="zh-CN" altLang="en-US"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rPr>
              <a:t>社会效益二</a:t>
            </a:r>
            <a:endParaRPr lang="zh-CN" altLang="zh-CN" sz="1600" dirty="0">
              <a:gradFill>
                <a:gsLst>
                  <a:gs pos="0">
                    <a:srgbClr val="FF0000"/>
                  </a:gs>
                  <a:gs pos="100000">
                    <a:srgbClr val="FF0000"/>
                  </a:gs>
                </a:gsLst>
                <a:lin ang="5400000" scaled="1"/>
              </a:gra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20_自定义版式">
    <p:spTree>
      <p:nvGrpSpPr>
        <p:cNvPr id="1" name=""/>
        <p:cNvGrpSpPr/>
        <p:nvPr/>
      </p:nvGrpSpPr>
      <p:grpSpPr>
        <a:xfrm>
          <a:off x="0" y="0"/>
          <a:ext cx="0" cy="0"/>
          <a:chOff x="0" y="0"/>
          <a:chExt cx="0" cy="0"/>
        </a:xfrm>
      </p:grpSpPr>
      <p:grpSp>
        <p:nvGrpSpPr>
          <p:cNvPr id="3" name="组合 2"/>
          <p:cNvGrpSpPr/>
          <p:nvPr userDrawn="1"/>
        </p:nvGrpSpPr>
        <p:grpSpPr>
          <a:xfrm>
            <a:off x="635393" y="1358770"/>
            <a:ext cx="10814755" cy="4871738"/>
            <a:chOff x="491067" y="1029377"/>
            <a:chExt cx="8111066" cy="5281662"/>
          </a:xfrm>
        </p:grpSpPr>
        <p:sp>
          <p:nvSpPr>
            <p:cNvPr id="4" name="圆角矩形 3"/>
            <p:cNvSpPr/>
            <p:nvPr/>
          </p:nvSpPr>
          <p:spPr>
            <a:xfrm>
              <a:off x="694268" y="2896936"/>
              <a:ext cx="7704666" cy="351802"/>
            </a:xfrm>
            <a:prstGeom prst="round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r>
                <a:rPr lang="zh-CN" altLang="en-US" sz="1600" dirty="0">
                  <a:ln w="11430"/>
                  <a:solidFill>
                    <a:schemeClr val="bg1"/>
                  </a:solidFill>
                  <a:latin typeface="微软雅黑" panose="020B0503020204020204" pitchFamily="34" charset="-122"/>
                  <a:ea typeface="微软雅黑" panose="020B0503020204020204" pitchFamily="34" charset="-122"/>
                </a:rPr>
                <a:t>      </a:t>
              </a:r>
              <a:r>
                <a:rPr lang="zh-CN" altLang="en-US" sz="1800" b="1" dirty="0">
                  <a:ln w="11430"/>
                  <a:solidFill>
                    <a:schemeClr val="bg1"/>
                  </a:solidFill>
                  <a:latin typeface="微软雅黑" panose="020B0503020204020204" pitchFamily="34" charset="-122"/>
                  <a:ea typeface="微软雅黑" panose="020B0503020204020204" pitchFamily="34" charset="-122"/>
                </a:rPr>
                <a:t>知识计算</a:t>
              </a:r>
              <a:endParaRPr lang="zh-CN" altLang="en-US" sz="1800" b="1" dirty="0">
                <a:ln w="1143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flipH="1">
              <a:off x="491067" y="1029377"/>
              <a:ext cx="8111066" cy="761323"/>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6" name="圆角矩形 5"/>
            <p:cNvSpPr/>
            <p:nvPr/>
          </p:nvSpPr>
          <p:spPr>
            <a:xfrm>
              <a:off x="3828493" y="1430194"/>
              <a:ext cx="1440000"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个性化推荐</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圆角矩形 6"/>
            <p:cNvSpPr/>
            <p:nvPr/>
          </p:nvSpPr>
          <p:spPr>
            <a:xfrm>
              <a:off x="5395606" y="1427558"/>
              <a:ext cx="14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知识问答</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圆角矩形 7"/>
            <p:cNvSpPr/>
            <p:nvPr/>
          </p:nvSpPr>
          <p:spPr>
            <a:xfrm>
              <a:off x="694267" y="1438576"/>
              <a:ext cx="1440000"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知识推理</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圆角矩形 8"/>
            <p:cNvSpPr/>
            <p:nvPr/>
          </p:nvSpPr>
          <p:spPr>
            <a:xfrm>
              <a:off x="2261380" y="1430194"/>
              <a:ext cx="14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语义搜索</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圆角矩形 9"/>
            <p:cNvSpPr/>
            <p:nvPr/>
          </p:nvSpPr>
          <p:spPr>
            <a:xfrm>
              <a:off x="694268" y="1075756"/>
              <a:ext cx="7704666" cy="272901"/>
            </a:xfrm>
            <a:prstGeom prst="round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800" b="1" dirty="0">
                  <a:ln w="11430"/>
                  <a:solidFill>
                    <a:schemeClr val="bg1"/>
                  </a:solidFill>
                  <a:latin typeface="微软雅黑" panose="020B0503020204020204" pitchFamily="34" charset="-122"/>
                  <a:ea typeface="微软雅黑" panose="020B0503020204020204" pitchFamily="34" charset="-122"/>
                </a:rPr>
                <a:t>知识服务与应用</a:t>
              </a:r>
              <a:endParaRPr lang="zh-CN" altLang="en-US" sz="1800" b="1" dirty="0">
                <a:ln w="11430"/>
                <a:solidFill>
                  <a:schemeClr val="bg1"/>
                </a:solidFill>
                <a:latin typeface="微软雅黑" panose="020B0503020204020204" pitchFamily="34" charset="-122"/>
                <a:ea typeface="微软雅黑" panose="020B0503020204020204" pitchFamily="34" charset="-122"/>
              </a:endParaRPr>
            </a:p>
          </p:txBody>
        </p:sp>
        <p:sp>
          <p:nvSpPr>
            <p:cNvPr id="11" name="右箭头 10"/>
            <p:cNvSpPr/>
            <p:nvPr/>
          </p:nvSpPr>
          <p:spPr>
            <a:xfrm rot="16200000">
              <a:off x="6176656" y="1730625"/>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2" name="圆角矩形 11"/>
            <p:cNvSpPr/>
            <p:nvPr/>
          </p:nvSpPr>
          <p:spPr>
            <a:xfrm>
              <a:off x="6962718" y="1427558"/>
              <a:ext cx="14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en-US" altLang="zh-CN" sz="1200" dirty="0">
                  <a:solidFill>
                    <a:schemeClr val="tx1">
                      <a:lumMod val="95000"/>
                      <a:lumOff val="5000"/>
                    </a:schemeClr>
                  </a:solidFill>
                </a:rPr>
                <a:t>……</a:t>
              </a:r>
              <a:endParaRPr lang="zh-CN" altLang="en-US" sz="1200" dirty="0">
                <a:solidFill>
                  <a:schemeClr val="tx1">
                    <a:lumMod val="95000"/>
                    <a:lumOff val="5000"/>
                  </a:schemeClr>
                </a:solidFill>
              </a:endParaRPr>
            </a:p>
          </p:txBody>
        </p:sp>
        <p:sp>
          <p:nvSpPr>
            <p:cNvPr id="13" name="矩形 12"/>
            <p:cNvSpPr/>
            <p:nvPr/>
          </p:nvSpPr>
          <p:spPr>
            <a:xfrm flipH="1">
              <a:off x="491067" y="1878169"/>
              <a:ext cx="8111066" cy="887891"/>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14" name="圆角矩形 13"/>
            <p:cNvSpPr/>
            <p:nvPr/>
          </p:nvSpPr>
          <p:spPr>
            <a:xfrm>
              <a:off x="679542" y="1933310"/>
              <a:ext cx="3148951" cy="732932"/>
            </a:xfrm>
            <a:prstGeom prst="round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800" b="1" dirty="0">
                  <a:ln w="11430"/>
                  <a:solidFill>
                    <a:schemeClr val="bg1"/>
                  </a:solidFill>
                  <a:latin typeface="微软雅黑" panose="020B0503020204020204" pitchFamily="34" charset="-122"/>
                  <a:ea typeface="微软雅黑" panose="020B0503020204020204" pitchFamily="34" charset="-122"/>
                </a:rPr>
                <a:t>知识存储</a:t>
              </a:r>
              <a:endParaRPr lang="zh-CN" altLang="en-US" sz="1800" b="1" dirty="0">
                <a:ln w="11430"/>
                <a:solidFill>
                  <a:schemeClr val="bg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6116600" y="2056521"/>
              <a:ext cx="2282334"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显式知识存储：</a:t>
              </a:r>
              <a:r>
                <a:rPr lang="en-US" altLang="zh-CN" sz="1200" dirty="0">
                  <a:ln w="11430"/>
                  <a:solidFill>
                    <a:schemeClr val="tx1">
                      <a:lumMod val="95000"/>
                      <a:lumOff val="5000"/>
                    </a:schemeClr>
                  </a:solidFill>
                  <a:latin typeface="微软雅黑" panose="020B0503020204020204" pitchFamily="34" charset="-122"/>
                  <a:ea typeface="微软雅黑" panose="020B0503020204020204" pitchFamily="34" charset="-122"/>
                </a:rPr>
                <a:t>GDB</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6116600" y="2344974"/>
              <a:ext cx="2282334" cy="321173"/>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隐式知识存储：</a:t>
              </a:r>
              <a:endParaRPr lang="en-US" altLang="zh-CN"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关系数据库</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7" name="直接箭头连接符 16"/>
            <p:cNvCxnSpPr>
              <a:endCxn id="15" idx="1"/>
            </p:cNvCxnSpPr>
            <p:nvPr/>
          </p:nvCxnSpPr>
          <p:spPr>
            <a:xfrm>
              <a:off x="3828493" y="2177717"/>
              <a:ext cx="2288107" cy="0"/>
            </a:xfrm>
            <a:prstGeom prst="straightConnector1">
              <a:avLst/>
            </a:prstGeom>
            <a:noFill/>
            <a:ln w="12700">
              <a:solidFill>
                <a:srgbClr val="003F98"/>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8" name="肘形连接符 17"/>
            <p:cNvCxnSpPr>
              <a:stCxn id="16" idx="1"/>
              <a:endCxn id="14" idx="3"/>
            </p:cNvCxnSpPr>
            <p:nvPr/>
          </p:nvCxnSpPr>
          <p:spPr>
            <a:xfrm rot="10800000">
              <a:off x="3828769" y="2300054"/>
              <a:ext cx="2287905" cy="205841"/>
            </a:xfrm>
            <a:prstGeom prst="bentConnector3">
              <a:avLst>
                <a:gd name="adj1" fmla="val 49980"/>
              </a:avLst>
            </a:prstGeom>
            <a:noFill/>
            <a:ln w="12700">
              <a:solidFill>
                <a:srgbClr val="003F98"/>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9" name="肘形连接符 18"/>
            <p:cNvCxnSpPr>
              <a:stCxn id="15" idx="0"/>
            </p:cNvCxnSpPr>
            <p:nvPr/>
          </p:nvCxnSpPr>
          <p:spPr>
            <a:xfrm rot="16200000" flipV="1">
              <a:off x="5488244" y="286997"/>
              <a:ext cx="109745" cy="3429303"/>
            </a:xfrm>
            <a:prstGeom prst="bentConnector2">
              <a:avLst/>
            </a:prstGeom>
            <a:noFill/>
            <a:ln w="12700">
              <a:solidFill>
                <a:srgbClr val="003F98"/>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0" name="矩形 19"/>
            <p:cNvSpPr/>
            <p:nvPr/>
          </p:nvSpPr>
          <p:spPr>
            <a:xfrm flipH="1">
              <a:off x="491067" y="2850557"/>
              <a:ext cx="8111066" cy="898483"/>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21" name="圆角矩形 20"/>
            <p:cNvSpPr/>
            <p:nvPr/>
          </p:nvSpPr>
          <p:spPr>
            <a:xfrm>
              <a:off x="6446468" y="2941456"/>
              <a:ext cx="1800000"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实例计算</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694269" y="3309698"/>
              <a:ext cx="2829596" cy="386002"/>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隐式知识</a:t>
              </a:r>
              <a:endParaRPr lang="en-US" altLang="zh-CN"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显式知识</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圆角矩形 22"/>
            <p:cNvSpPr/>
            <p:nvPr/>
          </p:nvSpPr>
          <p:spPr>
            <a:xfrm>
              <a:off x="2623864" y="2949838"/>
              <a:ext cx="1800000"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属性计算</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4535166" y="2941456"/>
              <a:ext cx="180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关系计算</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36932" y="3324099"/>
              <a:ext cx="355193" cy="355193"/>
            </a:xfrm>
            <a:prstGeom prst="rect">
              <a:avLst/>
            </a:prstGeom>
          </p:spPr>
        </p:pic>
        <p:sp>
          <p:nvSpPr>
            <p:cNvPr id="26" name="矩形 25"/>
            <p:cNvSpPr/>
            <p:nvPr/>
          </p:nvSpPr>
          <p:spPr>
            <a:xfrm>
              <a:off x="7241827" y="3361167"/>
              <a:ext cx="449580" cy="300307"/>
            </a:xfrm>
            <a:prstGeom prst="rect">
              <a:avLst/>
            </a:prstGeom>
          </p:spPr>
          <p:txBody>
            <a:bodyPr wrap="square">
              <a:spAutoFit/>
            </a:bodyP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专家</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7" name="直接连接符 26"/>
            <p:cNvCxnSpPr>
              <a:endCxn id="22" idx="3"/>
            </p:cNvCxnSpPr>
            <p:nvPr/>
          </p:nvCxnSpPr>
          <p:spPr>
            <a:xfrm>
              <a:off x="797599" y="3502699"/>
              <a:ext cx="2726266" cy="0"/>
            </a:xfrm>
            <a:prstGeom prst="line">
              <a:avLst/>
            </a:prstGeom>
            <a:ln w="12700">
              <a:solidFill>
                <a:srgbClr val="003F98"/>
              </a:solidFill>
              <a:prstDash val="dash"/>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5162667" y="3257463"/>
              <a:ext cx="1527245" cy="340347"/>
            </a:xfrm>
            <a:prstGeom prst="rect">
              <a:avLst/>
            </a:prstGeom>
          </p:spPr>
          <p:txBody>
            <a:bodyPr wrap="square">
              <a:spAutoFit/>
            </a:bodyPr>
            <a:lstStyle/>
            <a:p>
              <a:pPr algn="ctr">
                <a:lnSpc>
                  <a:spcPct val="120000"/>
                </a:lnSpc>
              </a:pPr>
              <a:r>
                <a:rPr lang="zh-CN" altLang="en-US" sz="1200" dirty="0">
                  <a:ln w="11430"/>
                  <a:solidFill>
                    <a:srgbClr val="FF0000"/>
                  </a:solidFill>
                  <a:latin typeface="微软雅黑" panose="020B0503020204020204" pitchFamily="34" charset="-122"/>
                  <a:ea typeface="微软雅黑" panose="020B0503020204020204" pitchFamily="34" charset="-122"/>
                </a:rPr>
                <a:t>知识验证与确认</a:t>
              </a:r>
              <a:endParaRPr lang="zh-CN" altLang="en-US" sz="1200" dirty="0">
                <a:ln w="11430"/>
                <a:solidFill>
                  <a:srgbClr val="FF0000"/>
                </a:solidFill>
                <a:latin typeface="微软雅黑" panose="020B0503020204020204" pitchFamily="34" charset="-122"/>
                <a:ea typeface="微软雅黑" panose="020B0503020204020204" pitchFamily="34" charset="-122"/>
              </a:endParaRPr>
            </a:p>
          </p:txBody>
        </p:sp>
        <p:sp>
          <p:nvSpPr>
            <p:cNvPr id="29" name="右箭头 28"/>
            <p:cNvSpPr/>
            <p:nvPr/>
          </p:nvSpPr>
          <p:spPr>
            <a:xfrm rot="16200000">
              <a:off x="6176656" y="2708781"/>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30" name="右箭头 29"/>
            <p:cNvSpPr/>
            <p:nvPr/>
          </p:nvSpPr>
          <p:spPr>
            <a:xfrm rot="5400000" flipV="1">
              <a:off x="4993873" y="3239723"/>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31" name="右箭头 30"/>
            <p:cNvSpPr/>
            <p:nvPr/>
          </p:nvSpPr>
          <p:spPr>
            <a:xfrm rot="16200000">
              <a:off x="4993873" y="3723771"/>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32" name="矩形 31"/>
            <p:cNvSpPr/>
            <p:nvPr/>
          </p:nvSpPr>
          <p:spPr>
            <a:xfrm flipH="1">
              <a:off x="491067" y="3837020"/>
              <a:ext cx="8111066" cy="2380900"/>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33" name="圆角矩形 32"/>
            <p:cNvSpPr/>
            <p:nvPr/>
          </p:nvSpPr>
          <p:spPr>
            <a:xfrm>
              <a:off x="679542" y="3883399"/>
              <a:ext cx="7723176" cy="272901"/>
            </a:xfrm>
            <a:prstGeom prst="roundRect">
              <a:avLst/>
            </a:prstGeom>
            <a:solidFill>
              <a:srgbClr val="0971CE"/>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800" b="1" dirty="0">
                  <a:ln w="11430"/>
                  <a:solidFill>
                    <a:schemeClr val="bg1"/>
                  </a:solidFill>
                  <a:latin typeface="微软雅黑" panose="020B0503020204020204" pitchFamily="34" charset="-122"/>
                  <a:ea typeface="微软雅黑" panose="020B0503020204020204" pitchFamily="34" charset="-122"/>
                </a:rPr>
                <a:t>知识库构建</a:t>
              </a:r>
              <a:endParaRPr lang="zh-CN" altLang="en-US" sz="1800" b="1" dirty="0">
                <a:ln w="11430"/>
                <a:solidFill>
                  <a:schemeClr val="bg1"/>
                </a:solidFill>
                <a:latin typeface="微软雅黑" panose="020B0503020204020204" pitchFamily="34" charset="-122"/>
                <a:ea typeface="微软雅黑" panose="020B0503020204020204" pitchFamily="34" charset="-122"/>
              </a:endParaRPr>
            </a:p>
          </p:txBody>
        </p:sp>
        <p:sp>
          <p:nvSpPr>
            <p:cNvPr id="34" name="矩形 33"/>
            <p:cNvSpPr/>
            <p:nvPr/>
          </p:nvSpPr>
          <p:spPr>
            <a:xfrm flipH="1">
              <a:off x="694265" y="4212341"/>
              <a:ext cx="7704668" cy="793239"/>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35" name="矩形 34"/>
            <p:cNvSpPr/>
            <p:nvPr/>
          </p:nvSpPr>
          <p:spPr>
            <a:xfrm flipH="1">
              <a:off x="694267" y="5076853"/>
              <a:ext cx="7704665" cy="927707"/>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36" name="矩形 35"/>
            <p:cNvSpPr/>
            <p:nvPr/>
          </p:nvSpPr>
          <p:spPr>
            <a:xfrm>
              <a:off x="797599" y="4177135"/>
              <a:ext cx="7448869" cy="340347"/>
            </a:xfrm>
            <a:prstGeom prst="rect">
              <a:avLst/>
            </a:prstGeom>
          </p:spPr>
          <p:txBody>
            <a:bodyPr wrap="square">
              <a:spAutoFit/>
            </a:bodyP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知识融合</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1024805" y="4664199"/>
              <a:ext cx="1510192"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实体链接</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p:nvSpPr>
          <p:spPr>
            <a:xfrm>
              <a:off x="2685804" y="4655817"/>
              <a:ext cx="1510192"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本体扩充</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矩形 38"/>
            <p:cNvSpPr/>
            <p:nvPr/>
          </p:nvSpPr>
          <p:spPr>
            <a:xfrm flipH="1">
              <a:off x="797599" y="4431044"/>
              <a:ext cx="3651018" cy="529379"/>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40" name="矩形 39"/>
            <p:cNvSpPr/>
            <p:nvPr/>
          </p:nvSpPr>
          <p:spPr>
            <a:xfrm>
              <a:off x="1432601" y="4394464"/>
              <a:ext cx="2433080" cy="340347"/>
            </a:xfrm>
            <a:prstGeom prst="rect">
              <a:avLst/>
            </a:prstGeom>
          </p:spPr>
          <p:txBody>
            <a:bodyPr wrap="square">
              <a:spAutoFit/>
            </a:bodyP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时序融合</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圆角矩形 40"/>
            <p:cNvSpPr/>
            <p:nvPr/>
          </p:nvSpPr>
          <p:spPr>
            <a:xfrm>
              <a:off x="4822656" y="4664199"/>
              <a:ext cx="1510192" cy="24239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实例匹配</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圆角矩形 41"/>
            <p:cNvSpPr/>
            <p:nvPr/>
          </p:nvSpPr>
          <p:spPr>
            <a:xfrm>
              <a:off x="6483655" y="4655817"/>
              <a:ext cx="1510192"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概念对齐</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矩形 42"/>
            <p:cNvSpPr/>
            <p:nvPr/>
          </p:nvSpPr>
          <p:spPr>
            <a:xfrm flipH="1">
              <a:off x="4595450" y="4431044"/>
              <a:ext cx="3651018" cy="529379"/>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44" name="矩形 43"/>
            <p:cNvSpPr/>
            <p:nvPr/>
          </p:nvSpPr>
          <p:spPr>
            <a:xfrm>
              <a:off x="5116306" y="4394464"/>
              <a:ext cx="2433080" cy="340347"/>
            </a:xfrm>
            <a:prstGeom prst="rect">
              <a:avLst/>
            </a:prstGeom>
          </p:spPr>
          <p:txBody>
            <a:bodyPr wrap="square">
              <a:spAutoFit/>
            </a:bodyP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多源融合</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圆角矩形 44"/>
            <p:cNvSpPr/>
            <p:nvPr/>
          </p:nvSpPr>
          <p:spPr>
            <a:xfrm>
              <a:off x="797599" y="5143228"/>
              <a:ext cx="2448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概念</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3298034" y="5143228"/>
              <a:ext cx="2448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关系</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圆角矩形 46"/>
            <p:cNvSpPr/>
            <p:nvPr/>
          </p:nvSpPr>
          <p:spPr>
            <a:xfrm>
              <a:off x="5798468" y="5143228"/>
              <a:ext cx="2448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实例</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右箭头 47"/>
            <p:cNvSpPr/>
            <p:nvPr/>
          </p:nvSpPr>
          <p:spPr>
            <a:xfrm rot="16200000">
              <a:off x="1934130" y="4995684"/>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49" name="右箭头 48"/>
            <p:cNvSpPr/>
            <p:nvPr/>
          </p:nvSpPr>
          <p:spPr>
            <a:xfrm rot="16200000">
              <a:off x="6934999" y="4995684"/>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50" name="矩形 49"/>
            <p:cNvSpPr/>
            <p:nvPr/>
          </p:nvSpPr>
          <p:spPr>
            <a:xfrm flipH="1">
              <a:off x="797598" y="5609749"/>
              <a:ext cx="7448869" cy="333165"/>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chemeClr val="tx1"/>
                </a:solidFill>
                <a:latin typeface="等线" panose="02010600030101010101" charset="-122"/>
                <a:ea typeface="等线" panose="02010600030101010101" charset="-122"/>
              </a:endParaRPr>
            </a:p>
          </p:txBody>
        </p:sp>
        <p:sp>
          <p:nvSpPr>
            <p:cNvPr id="51" name="圆角矩形 50"/>
            <p:cNvSpPr/>
            <p:nvPr/>
          </p:nvSpPr>
          <p:spPr>
            <a:xfrm>
              <a:off x="914932" y="5650944"/>
              <a:ext cx="23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网页</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2" name="右箭头 51"/>
            <p:cNvSpPr/>
            <p:nvPr/>
          </p:nvSpPr>
          <p:spPr>
            <a:xfrm rot="16200000">
              <a:off x="4452767" y="5454122"/>
              <a:ext cx="174938" cy="120149"/>
            </a:xfrm>
            <a:prstGeom prst="right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53" name="矩形 52"/>
            <p:cNvSpPr/>
            <p:nvPr/>
          </p:nvSpPr>
          <p:spPr>
            <a:xfrm>
              <a:off x="4472044" y="5361828"/>
              <a:ext cx="1974424" cy="340347"/>
            </a:xfrm>
            <a:prstGeom prst="rect">
              <a:avLst/>
            </a:prstGeom>
          </p:spPr>
          <p:txBody>
            <a:bodyPr wrap="square">
              <a:spAutoFit/>
            </a:bodyP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基于实体的爬取和抽取</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4" name="圆角矩形 53"/>
            <p:cNvSpPr/>
            <p:nvPr/>
          </p:nvSpPr>
          <p:spPr>
            <a:xfrm>
              <a:off x="3353662" y="5650944"/>
              <a:ext cx="23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在线百科</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5" name="圆角矩形 54"/>
            <p:cNvSpPr/>
            <p:nvPr/>
          </p:nvSpPr>
          <p:spPr>
            <a:xfrm>
              <a:off x="5792393" y="5650944"/>
              <a:ext cx="2340000" cy="250774"/>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rPr>
                <a:t>核心词汇</a:t>
              </a:r>
              <a:endParaRPr lang="zh-CN" altLang="en-US" sz="12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6" name="矩形 55"/>
            <p:cNvSpPr/>
            <p:nvPr/>
          </p:nvSpPr>
          <p:spPr>
            <a:xfrm>
              <a:off x="694269" y="5970692"/>
              <a:ext cx="7704663" cy="340347"/>
            </a:xfrm>
            <a:prstGeom prst="rect">
              <a:avLst/>
            </a:prstGeom>
          </p:spPr>
          <p:txBody>
            <a:bodyPr wrap="square">
              <a:spAutoFit/>
            </a:bodyPr>
            <a:lstStyle/>
            <a:p>
              <a:pPr algn="ctr">
                <a:lnSpc>
                  <a:spcPct val="120000"/>
                </a:lnSpc>
              </a:pPr>
              <a:r>
                <a:rPr lang="zh-CN" altLang="en-US" sz="1200" dirty="0">
                  <a:ln w="11430"/>
                  <a:solidFill>
                    <a:srgbClr val="FF0000"/>
                  </a:solidFill>
                  <a:latin typeface="微软雅黑" panose="020B0503020204020204" pitchFamily="34" charset="-122"/>
                  <a:ea typeface="微软雅黑" panose="020B0503020204020204" pitchFamily="34" charset="-122"/>
                </a:rPr>
                <a:t>知识获取</a:t>
              </a:r>
              <a:endParaRPr lang="zh-CN" altLang="en-US" sz="1200" dirty="0">
                <a:ln w="11430"/>
                <a:solidFill>
                  <a:srgbClr val="FF0000"/>
                </a:solidFill>
                <a:latin typeface="微软雅黑" panose="020B0503020204020204" pitchFamily="34" charset="-122"/>
                <a:ea typeface="微软雅黑" panose="020B0503020204020204" pitchFamily="34" charset="-122"/>
              </a:endParaRPr>
            </a:p>
          </p:txBody>
        </p:sp>
        <p:cxnSp>
          <p:nvCxnSpPr>
            <p:cNvPr id="57" name="直接箭头连接符 56"/>
            <p:cNvCxnSpPr/>
            <p:nvPr/>
          </p:nvCxnSpPr>
          <p:spPr>
            <a:xfrm flipH="1">
              <a:off x="3601725" y="3525066"/>
              <a:ext cx="3630642" cy="0"/>
            </a:xfrm>
            <a:prstGeom prst="straightConnector1">
              <a:avLst/>
            </a:prstGeom>
            <a:noFill/>
            <a:ln w="12700">
              <a:solidFill>
                <a:srgbClr val="003F98"/>
              </a:solidFill>
              <a:tailEnd type="arrow"/>
            </a:ln>
          </p:spPr>
          <p:style>
            <a:lnRef idx="2">
              <a:schemeClr val="accent1">
                <a:shade val="50000"/>
              </a:schemeClr>
            </a:lnRef>
            <a:fillRef idx="1">
              <a:schemeClr val="accent1"/>
            </a:fillRef>
            <a:effectRef idx="0">
              <a:schemeClr val="accent1"/>
            </a:effectRef>
            <a:fontRef idx="minor">
              <a:schemeClr val="lt1"/>
            </a:fontRef>
          </p:style>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17_自定义版式">
    <p:spTree>
      <p:nvGrpSpPr>
        <p:cNvPr id="1" name=""/>
        <p:cNvGrpSpPr/>
        <p:nvPr/>
      </p:nvGrpSpPr>
      <p:grpSpPr>
        <a:xfrm>
          <a:off x="0" y="0"/>
          <a:ext cx="0" cy="0"/>
          <a:chOff x="0" y="0"/>
          <a:chExt cx="0" cy="0"/>
        </a:xfrm>
      </p:grpSpPr>
      <p:grpSp>
        <p:nvGrpSpPr>
          <p:cNvPr id="2" name="组合 1"/>
          <p:cNvGrpSpPr/>
          <p:nvPr userDrawn="1"/>
        </p:nvGrpSpPr>
        <p:grpSpPr>
          <a:xfrm>
            <a:off x="426656" y="1457778"/>
            <a:ext cx="4630779" cy="4386835"/>
            <a:chOff x="5490159" y="1753042"/>
            <a:chExt cx="3473084" cy="4386835"/>
          </a:xfrm>
        </p:grpSpPr>
        <p:grpSp>
          <p:nvGrpSpPr>
            <p:cNvPr id="3" name="组合 42"/>
            <p:cNvGrpSpPr/>
            <p:nvPr/>
          </p:nvGrpSpPr>
          <p:grpSpPr bwMode="auto">
            <a:xfrm>
              <a:off x="5490160" y="1753042"/>
              <a:ext cx="3457730" cy="2102460"/>
              <a:chOff x="3188065" y="1778329"/>
              <a:chExt cx="2489174" cy="2267160"/>
            </a:xfrm>
          </p:grpSpPr>
          <p:sp>
            <p:nvSpPr>
              <p:cNvPr id="9" name="圆角矩形 14"/>
              <p:cNvSpPr>
                <a:spLocks noChangeArrowheads="1"/>
              </p:cNvSpPr>
              <p:nvPr/>
            </p:nvSpPr>
            <p:spPr bwMode="auto">
              <a:xfrm>
                <a:off x="3188065" y="1778329"/>
                <a:ext cx="2489174" cy="2267160"/>
              </a:xfrm>
              <a:prstGeom prst="roundRect">
                <a:avLst>
                  <a:gd name="adj" fmla="val 5015"/>
                </a:avLst>
              </a:prstGeom>
              <a:solidFill>
                <a:schemeClr val="bg1"/>
              </a:solidFill>
              <a:ln w="6350">
                <a:solidFill>
                  <a:srgbClr val="0971CE"/>
                </a:solidFill>
                <a:prstDash val="dash"/>
                <a:rou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35000"/>
                  </a:lnSpc>
                  <a:spcBef>
                    <a:spcPts val="1200"/>
                  </a:spcBef>
                  <a:spcAft>
                    <a:spcPts val="1200"/>
                  </a:spcAft>
                  <a:buClr>
                    <a:srgbClr val="202A36"/>
                  </a:buClr>
                  <a:buFontTx/>
                  <a:buNone/>
                </a:pPr>
                <a:endParaRPr lang="zh-CN" altLang="en-US" sz="1600">
                  <a:latin typeface="Arial" panose="020B0604020202020204" pitchFamily="34" charset="0"/>
                  <a:ea typeface="微软雅黑" panose="020B0503020204020204" pitchFamily="34" charset="-122"/>
                </a:endParaRPr>
              </a:p>
            </p:txBody>
          </p:sp>
          <p:sp>
            <p:nvSpPr>
              <p:cNvPr id="10" name="矩形 9"/>
              <p:cNvSpPr/>
              <p:nvPr/>
            </p:nvSpPr>
            <p:spPr>
              <a:xfrm>
                <a:off x="3188436" y="1850969"/>
                <a:ext cx="2488803" cy="458308"/>
              </a:xfrm>
              <a:prstGeom prst="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rPr>
                  <a:t>研究内容</a:t>
                </a:r>
                <a:endParaRPr lang="zh-CN" altLang="en-US" sz="16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4" name="矩形 3"/>
            <p:cNvSpPr/>
            <p:nvPr/>
          </p:nvSpPr>
          <p:spPr>
            <a:xfrm>
              <a:off x="5490160" y="2248551"/>
              <a:ext cx="3473083" cy="1361911"/>
            </a:xfrm>
            <a:prstGeom prst="rect">
              <a:avLst/>
            </a:prstGeom>
          </p:spPr>
          <p:txBody>
            <a:bodyPr wrap="square">
              <a:spAutoFit/>
            </a:bodyPr>
            <a:lstStyle/>
            <a:p>
              <a:pPr marL="171450" indent="-171450">
                <a:lnSpc>
                  <a:spcPts val="25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en-US" altLang="zh-CN"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a:p>
              <a:pPr marL="171450" indent="-171450">
                <a:lnSpc>
                  <a:spcPts val="25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en-US" altLang="zh-CN"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a:p>
              <a:pPr marL="171450" indent="-171450">
                <a:lnSpc>
                  <a:spcPts val="25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grpSp>
          <p:nvGrpSpPr>
            <p:cNvPr id="5" name="组合 42"/>
            <p:cNvGrpSpPr/>
            <p:nvPr/>
          </p:nvGrpSpPr>
          <p:grpSpPr bwMode="auto">
            <a:xfrm>
              <a:off x="5490159" y="4037417"/>
              <a:ext cx="3457730" cy="2102460"/>
              <a:chOff x="3188065" y="1778329"/>
              <a:chExt cx="2489174" cy="2267160"/>
            </a:xfrm>
          </p:grpSpPr>
          <p:sp>
            <p:nvSpPr>
              <p:cNvPr id="7" name="圆角矩形 14"/>
              <p:cNvSpPr>
                <a:spLocks noChangeArrowheads="1"/>
              </p:cNvSpPr>
              <p:nvPr/>
            </p:nvSpPr>
            <p:spPr bwMode="auto">
              <a:xfrm>
                <a:off x="3188065" y="1778329"/>
                <a:ext cx="2489174" cy="2267160"/>
              </a:xfrm>
              <a:prstGeom prst="roundRect">
                <a:avLst>
                  <a:gd name="adj" fmla="val 5015"/>
                </a:avLst>
              </a:prstGeom>
              <a:solidFill>
                <a:schemeClr val="bg1"/>
              </a:solidFill>
              <a:ln w="6350">
                <a:solidFill>
                  <a:srgbClr val="0971CE"/>
                </a:solidFill>
                <a:prstDash val="dash"/>
                <a:rou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35000"/>
                  </a:lnSpc>
                  <a:spcBef>
                    <a:spcPts val="1200"/>
                  </a:spcBef>
                  <a:spcAft>
                    <a:spcPts val="1200"/>
                  </a:spcAft>
                  <a:buClr>
                    <a:srgbClr val="202A36"/>
                  </a:buClr>
                  <a:buFontTx/>
                  <a:buNone/>
                </a:pPr>
                <a:endParaRPr lang="zh-CN" altLang="en-US" sz="1600">
                  <a:ln>
                    <a:solidFill>
                      <a:sysClr val="windowText" lastClr="000000"/>
                    </a:solidFill>
                  </a:ln>
                  <a:solidFill>
                    <a:srgbClr val="003F98"/>
                  </a:solidFill>
                  <a:latin typeface="Arial" panose="020B0604020202020204" pitchFamily="34" charset="0"/>
                  <a:ea typeface="微软雅黑" panose="020B0503020204020204" pitchFamily="34" charset="-122"/>
                </a:endParaRPr>
              </a:p>
            </p:txBody>
          </p:sp>
          <p:sp>
            <p:nvSpPr>
              <p:cNvPr id="8" name="矩形 7"/>
              <p:cNvSpPr/>
              <p:nvPr/>
            </p:nvSpPr>
            <p:spPr>
              <a:xfrm>
                <a:off x="3188436" y="1850969"/>
                <a:ext cx="2488803" cy="458308"/>
              </a:xfrm>
              <a:prstGeom prst="rect">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zh-CN" sz="16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rPr>
                  <a:t>关键技术</a:t>
                </a:r>
                <a:endParaRPr lang="zh-CN" altLang="en-US" sz="1600" dirty="0">
                  <a:ln w="11430"/>
                  <a:gradFill>
                    <a:gsLst>
                      <a:gs pos="25000">
                        <a:schemeClr val="bg1"/>
                      </a:gs>
                      <a:gs pos="100000">
                        <a:schemeClr val="bg1">
                          <a:lumMod val="95000"/>
                        </a:schemeClr>
                      </a:gs>
                    </a:gsLst>
                    <a:lin ang="540000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6" name="矩形 5"/>
            <p:cNvSpPr/>
            <p:nvPr/>
          </p:nvSpPr>
          <p:spPr>
            <a:xfrm>
              <a:off x="5490160" y="4641889"/>
              <a:ext cx="3320466" cy="1060290"/>
            </a:xfrm>
            <a:prstGeom prst="rect">
              <a:avLst/>
            </a:prstGeom>
          </p:spPr>
          <p:txBody>
            <a:bodyPr wrap="square">
              <a:spAutoFit/>
            </a:bodyPr>
            <a:lstStyle/>
            <a:p>
              <a:pPr marL="171450" indent="-171450">
                <a:lnSpc>
                  <a:spcPct val="1300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en-US" altLang="zh-CN"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a:p>
              <a:pPr marL="171450" indent="-171450">
                <a:lnSpc>
                  <a:spcPct val="1300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en-US" altLang="zh-CN"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a:p>
              <a:pPr marL="171450" indent="-171450">
                <a:lnSpc>
                  <a:spcPct val="130000"/>
                </a:lnSpc>
                <a:spcBef>
                  <a:spcPts val="600"/>
                </a:spcBef>
                <a:spcAft>
                  <a:spcPts val="600"/>
                </a:spcAft>
                <a:buFont typeface="Wingdings" panose="05000000000000000000" pitchFamily="2" charset="2"/>
                <a:buChar char="l"/>
              </a:pPr>
              <a:r>
                <a:rPr lang="zh-CN" altLang="en-US"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rPr>
                <a:t>***</a:t>
              </a:r>
              <a:endParaRPr lang="zh-CN" altLang="zh-CN" sz="1100" b="1" dirty="0">
                <a:gradFill>
                  <a:gsLst>
                    <a:gs pos="0">
                      <a:schemeClr val="tx1">
                        <a:lumMod val="85000"/>
                        <a:lumOff val="15000"/>
                      </a:schemeClr>
                    </a:gs>
                    <a:gs pos="100000">
                      <a:schemeClr val="tx1">
                        <a:lumMod val="85000"/>
                        <a:lumOff val="15000"/>
                      </a:schemeClr>
                    </a:gs>
                  </a:gsLst>
                  <a:lin ang="5400000" scaled="1"/>
                </a:gradFill>
                <a:latin typeface="微软雅黑" panose="020B0503020204020204" pitchFamily="34" charset="-122"/>
                <a:ea typeface="微软雅黑" panose="020B0503020204020204" pitchFamily="34" charset="-122"/>
              </a:endParaRPr>
            </a:p>
          </p:txBody>
        </p:sp>
      </p:grpSp>
      <p:sp>
        <p:nvSpPr>
          <p:cNvPr id="11" name="流程图: 磁盘 10"/>
          <p:cNvSpPr/>
          <p:nvPr userDrawn="1"/>
        </p:nvSpPr>
        <p:spPr>
          <a:xfrm>
            <a:off x="5435928" y="1313766"/>
            <a:ext cx="3541457" cy="540841"/>
          </a:xfrm>
          <a:prstGeom prst="flowChartMagneticDisk">
            <a:avLst/>
          </a:prstGeom>
          <a:solidFill>
            <a:srgbClr val="0971CE"/>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w="11430"/>
                <a:solidFill>
                  <a:schemeClr val="bg1"/>
                </a:solidFill>
                <a:effectLst/>
                <a:uLnTx/>
                <a:uFillTx/>
                <a:latin typeface="Arial" panose="020B0604020202020204" pitchFamily="34" charset="0"/>
                <a:ea typeface="微软雅黑" panose="020B0503020204020204" pitchFamily="34" charset="-122"/>
                <a:cs typeface="Arial" panose="020B0604020202020204" pitchFamily="34" charset="0"/>
              </a:rPr>
              <a:t>*****</a:t>
            </a:r>
            <a:endParaRPr kumimoji="0" lang="zh-CN" altLang="en-US" sz="1400" b="0" i="0" u="none" strike="noStrike" kern="1200" cap="none" spc="0" normalizeH="0" baseline="0" noProof="0" dirty="0">
              <a:ln w="11430"/>
              <a:solidFill>
                <a:schemeClr val="bg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2" name="矩形 11"/>
          <p:cNvSpPr/>
          <p:nvPr userDrawn="1"/>
        </p:nvSpPr>
        <p:spPr>
          <a:xfrm>
            <a:off x="6065654" y="1930095"/>
            <a:ext cx="5166159" cy="863797"/>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圆角矩形 12"/>
          <p:cNvSpPr/>
          <p:nvPr userDrawn="1"/>
        </p:nvSpPr>
        <p:spPr>
          <a:xfrm>
            <a:off x="6184388" y="2038679"/>
            <a:ext cx="835936"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管理部门</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 name="矩形 34"/>
          <p:cNvSpPr>
            <a:spLocks noChangeArrowheads="1"/>
          </p:cNvSpPr>
          <p:nvPr userDrawn="1"/>
        </p:nvSpPr>
        <p:spPr bwMode="auto">
          <a:xfrm>
            <a:off x="5436888" y="1922388"/>
            <a:ext cx="628765" cy="879454"/>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对象</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圆角矩形 14"/>
          <p:cNvSpPr/>
          <p:nvPr userDrawn="1"/>
        </p:nvSpPr>
        <p:spPr>
          <a:xfrm>
            <a:off x="7096759" y="2038679"/>
            <a:ext cx="861931"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医疗机构</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6" name="圆角矩形 15"/>
          <p:cNvSpPr/>
          <p:nvPr userDrawn="1"/>
        </p:nvSpPr>
        <p:spPr>
          <a:xfrm>
            <a:off x="7548324" y="2401117"/>
            <a:ext cx="895925" cy="295029"/>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诊疗信息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7" name="圆角矩形 16"/>
          <p:cNvSpPr/>
          <p:nvPr userDrawn="1"/>
        </p:nvSpPr>
        <p:spPr>
          <a:xfrm>
            <a:off x="8526943" y="2409135"/>
            <a:ext cx="900887"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随访信息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8" name="圆角矩形 17"/>
          <p:cNvSpPr/>
          <p:nvPr userDrawn="1"/>
        </p:nvSpPr>
        <p:spPr>
          <a:xfrm>
            <a:off x="9548043" y="2403948"/>
            <a:ext cx="981685"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医保数据</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9" name="圆角矩形 18"/>
          <p:cNvSpPr/>
          <p:nvPr userDrawn="1"/>
        </p:nvSpPr>
        <p:spPr>
          <a:xfrm>
            <a:off x="10261347" y="2038679"/>
            <a:ext cx="86357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研究机构</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0" name="圆角矩形 19"/>
          <p:cNvSpPr/>
          <p:nvPr userDrawn="1"/>
        </p:nvSpPr>
        <p:spPr>
          <a:xfrm>
            <a:off x="6184388" y="2405128"/>
            <a:ext cx="1273152"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患者基本信息</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1" name="圆角矩形 20"/>
          <p:cNvSpPr/>
          <p:nvPr userDrawn="1"/>
        </p:nvSpPr>
        <p:spPr>
          <a:xfrm>
            <a:off x="8035124" y="2038679"/>
            <a:ext cx="662251"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家庭</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2" name="圆角矩形 21"/>
          <p:cNvSpPr/>
          <p:nvPr userDrawn="1"/>
        </p:nvSpPr>
        <p:spPr>
          <a:xfrm>
            <a:off x="8773810" y="2038679"/>
            <a:ext cx="69779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患者</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3" name="圆角矩形 22"/>
          <p:cNvSpPr/>
          <p:nvPr userDrawn="1"/>
        </p:nvSpPr>
        <p:spPr>
          <a:xfrm>
            <a:off x="9548043" y="2038679"/>
            <a:ext cx="636868"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企业</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4" name="圆角矩形 23"/>
          <p:cNvSpPr/>
          <p:nvPr userDrawn="1"/>
        </p:nvSpPr>
        <p:spPr>
          <a:xfrm>
            <a:off x="7940091" y="3057753"/>
            <a:ext cx="1003524" cy="31632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分布式</a:t>
            </a:r>
            <a:endParaRPr lang="en-US" altLang="zh-CN"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数据库</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矩形 24"/>
          <p:cNvSpPr>
            <a:spLocks noChangeArrowheads="1"/>
          </p:cNvSpPr>
          <p:nvPr userDrawn="1"/>
        </p:nvSpPr>
        <p:spPr bwMode="auto">
          <a:xfrm>
            <a:off x="5438331" y="2996451"/>
            <a:ext cx="628765" cy="880914"/>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存储</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6" name="矩形 25"/>
          <p:cNvSpPr/>
          <p:nvPr userDrawn="1"/>
        </p:nvSpPr>
        <p:spPr>
          <a:xfrm>
            <a:off x="6067095" y="2993527"/>
            <a:ext cx="5166159" cy="863797"/>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latin typeface="等线" panose="02010600030101010101" charset="-122"/>
              <a:ea typeface="等线" panose="02010600030101010101" charset="-122"/>
            </a:endParaRPr>
          </a:p>
        </p:txBody>
      </p:sp>
      <p:sp>
        <p:nvSpPr>
          <p:cNvPr id="27" name="圆角矩形 26"/>
          <p:cNvSpPr/>
          <p:nvPr userDrawn="1"/>
        </p:nvSpPr>
        <p:spPr>
          <a:xfrm>
            <a:off x="7940091" y="3460896"/>
            <a:ext cx="1003524" cy="34341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分布式文件系统</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圆角矩形 27"/>
          <p:cNvSpPr/>
          <p:nvPr userDrawn="1"/>
        </p:nvSpPr>
        <p:spPr>
          <a:xfrm>
            <a:off x="9048494" y="3460896"/>
            <a:ext cx="2064964" cy="343417"/>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数据资源目录与管理</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矩形 34"/>
          <p:cNvSpPr>
            <a:spLocks noChangeArrowheads="1"/>
          </p:cNvSpPr>
          <p:nvPr userDrawn="1"/>
        </p:nvSpPr>
        <p:spPr bwMode="auto">
          <a:xfrm>
            <a:off x="5438331" y="4065426"/>
            <a:ext cx="628765" cy="452052"/>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预</a:t>
            </a:r>
            <a:endParaRPr lang="en-US" altLang="zh-CN"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处理</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矩形 29"/>
          <p:cNvSpPr/>
          <p:nvPr userDrawn="1"/>
        </p:nvSpPr>
        <p:spPr>
          <a:xfrm>
            <a:off x="6067095" y="4057204"/>
            <a:ext cx="5166159" cy="451562"/>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latin typeface="等线" panose="02010600030101010101" charset="-122"/>
              <a:ea typeface="等线" panose="02010600030101010101" charset="-122"/>
            </a:endParaRPr>
          </a:p>
        </p:txBody>
      </p:sp>
      <p:sp>
        <p:nvSpPr>
          <p:cNvPr id="31" name="圆角矩形 30"/>
          <p:cNvSpPr/>
          <p:nvPr userDrawn="1"/>
        </p:nvSpPr>
        <p:spPr>
          <a:xfrm>
            <a:off x="6184388" y="4139358"/>
            <a:ext cx="75470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清洗</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2" name="圆角矩形 31"/>
          <p:cNvSpPr/>
          <p:nvPr userDrawn="1"/>
        </p:nvSpPr>
        <p:spPr>
          <a:xfrm>
            <a:off x="7080426" y="4139358"/>
            <a:ext cx="75422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转换</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3" name="圆角矩形 32"/>
          <p:cNvSpPr/>
          <p:nvPr userDrawn="1"/>
        </p:nvSpPr>
        <p:spPr>
          <a:xfrm>
            <a:off x="7975967" y="4139358"/>
            <a:ext cx="75422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解释</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4" name="圆角矩形 33"/>
          <p:cNvSpPr/>
          <p:nvPr userDrawn="1"/>
        </p:nvSpPr>
        <p:spPr>
          <a:xfrm>
            <a:off x="8852074" y="4139358"/>
            <a:ext cx="754229"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融合</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5" name="圆角矩形 34"/>
          <p:cNvSpPr/>
          <p:nvPr userDrawn="1"/>
        </p:nvSpPr>
        <p:spPr>
          <a:xfrm>
            <a:off x="9716869" y="4139358"/>
            <a:ext cx="1391404" cy="287011"/>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rPr>
              <a:t>加工更新</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36" name="圆角矩形 35"/>
          <p:cNvSpPr/>
          <p:nvPr userDrawn="1"/>
        </p:nvSpPr>
        <p:spPr>
          <a:xfrm>
            <a:off x="8732382" y="4799095"/>
            <a:ext cx="1147116" cy="31355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技术标准</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圆角矩形 36"/>
          <p:cNvSpPr/>
          <p:nvPr userDrawn="1"/>
        </p:nvSpPr>
        <p:spPr>
          <a:xfrm>
            <a:off x="9989107" y="4799095"/>
            <a:ext cx="1155216" cy="31355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基础标准</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userDrawn="1"/>
        </p:nvSpPr>
        <p:spPr>
          <a:xfrm>
            <a:off x="7409618" y="4799095"/>
            <a:ext cx="1213156" cy="31355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数据标准</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圆角矩形 38"/>
          <p:cNvSpPr/>
          <p:nvPr userDrawn="1"/>
        </p:nvSpPr>
        <p:spPr>
          <a:xfrm>
            <a:off x="6184388" y="4799095"/>
            <a:ext cx="1115621" cy="31355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采集模型</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流程图: 磁盘 39"/>
          <p:cNvSpPr/>
          <p:nvPr userDrawn="1"/>
        </p:nvSpPr>
        <p:spPr>
          <a:xfrm>
            <a:off x="6184388" y="5191732"/>
            <a:ext cx="996024" cy="763703"/>
          </a:xfrm>
          <a:prstGeom prst="flowChartMagneticDisk">
            <a:avLst/>
          </a:prstGeom>
          <a:solidFill>
            <a:srgbClr val="D3E4FC"/>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41" name="矩形 40"/>
          <p:cNvSpPr/>
          <p:nvPr userDrawn="1"/>
        </p:nvSpPr>
        <p:spPr>
          <a:xfrm>
            <a:off x="6064692" y="5475977"/>
            <a:ext cx="1235317" cy="424732"/>
          </a:xfrm>
          <a:prstGeom prst="rect">
            <a:avLst/>
          </a:prstGeom>
        </p:spPr>
        <p:txBody>
          <a:bodyPr wrap="square">
            <a:spAutoFit/>
          </a:bodyPr>
          <a:lstStyle/>
          <a:p>
            <a:pPr lvl="0" algn="ctr">
              <a:lnSpc>
                <a:spcPct val="120000"/>
              </a:lnSpc>
              <a:defRPr/>
            </a:pP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各级卫生部门</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lvl="0" algn="ctr">
              <a:lnSpc>
                <a:spcPct val="120000"/>
              </a:lnSpc>
              <a:defRPr/>
            </a:pP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电子健康档案</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2" name="组合 41"/>
          <p:cNvGrpSpPr/>
          <p:nvPr userDrawn="1"/>
        </p:nvGrpSpPr>
        <p:grpSpPr>
          <a:xfrm>
            <a:off x="7050805" y="5191730"/>
            <a:ext cx="1424655" cy="763703"/>
            <a:chOff x="4188" y="8911"/>
            <a:chExt cx="2497" cy="1381"/>
          </a:xfrm>
        </p:grpSpPr>
        <p:sp>
          <p:nvSpPr>
            <p:cNvPr id="43" name="流程图: 磁盘 42"/>
            <p:cNvSpPr/>
            <p:nvPr/>
          </p:nvSpPr>
          <p:spPr>
            <a:xfrm>
              <a:off x="4514" y="8911"/>
              <a:ext cx="1845" cy="1381"/>
            </a:xfrm>
            <a:prstGeom prst="flowChartMagneticDisk">
              <a:avLst/>
            </a:prstGeom>
            <a:solidFill>
              <a:srgbClr val="D3E4FC"/>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44" name="文本框 43"/>
            <p:cNvSpPr txBox="1"/>
            <p:nvPr/>
          </p:nvSpPr>
          <p:spPr>
            <a:xfrm>
              <a:off x="4188" y="9425"/>
              <a:ext cx="2497" cy="768"/>
            </a:xfrm>
            <a:prstGeom prst="rect">
              <a:avLst/>
            </a:prstGeom>
          </p:spPr>
          <p:txBody>
            <a:bodyPr wrap="square">
              <a:spAutoFit/>
            </a:bodyPr>
            <a:lstStyle>
              <a:defPPr>
                <a:defRPr lang="zh-CN"/>
              </a:defPPr>
              <a:lvl1pPr lvl="0" algn="ctr">
                <a:lnSpc>
                  <a:spcPct val="120000"/>
                </a:lnSpc>
                <a:defRPr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defRPr>
              </a:lvl1pPr>
            </a:lstStyle>
            <a:p>
              <a:r>
                <a:rPr lang="zh-CN" altLang="en-US" sz="900" dirty="0">
                  <a:solidFill>
                    <a:schemeClr val="tx1">
                      <a:lumMod val="95000"/>
                      <a:lumOff val="5000"/>
                    </a:schemeClr>
                  </a:solidFill>
                </a:rPr>
                <a:t>各类医疗机构</a:t>
              </a:r>
              <a:endParaRPr lang="zh-CN" altLang="en-US" sz="900" dirty="0">
                <a:solidFill>
                  <a:schemeClr val="tx1">
                    <a:lumMod val="95000"/>
                    <a:lumOff val="5000"/>
                  </a:schemeClr>
                </a:solidFill>
              </a:endParaRPr>
            </a:p>
            <a:p>
              <a:r>
                <a:rPr lang="zh-CN" altLang="en-US" sz="900" dirty="0">
                  <a:solidFill>
                    <a:schemeClr val="tx1">
                      <a:lumMod val="95000"/>
                      <a:lumOff val="5000"/>
                    </a:schemeClr>
                  </a:solidFill>
                </a:rPr>
                <a:t>电子病历数据</a:t>
              </a:r>
              <a:endParaRPr lang="zh-CN" altLang="en-US" sz="900" dirty="0">
                <a:solidFill>
                  <a:schemeClr val="tx1">
                    <a:lumMod val="95000"/>
                    <a:lumOff val="5000"/>
                  </a:schemeClr>
                </a:solidFill>
              </a:endParaRPr>
            </a:p>
          </p:txBody>
        </p:sp>
      </p:grpSp>
      <p:grpSp>
        <p:nvGrpSpPr>
          <p:cNvPr id="45" name="组合 44"/>
          <p:cNvGrpSpPr/>
          <p:nvPr userDrawn="1"/>
        </p:nvGrpSpPr>
        <p:grpSpPr>
          <a:xfrm>
            <a:off x="8188285" y="5191730"/>
            <a:ext cx="1436664" cy="763703"/>
            <a:chOff x="6368" y="8911"/>
            <a:chExt cx="2470" cy="1381"/>
          </a:xfrm>
        </p:grpSpPr>
        <p:sp>
          <p:nvSpPr>
            <p:cNvPr id="46" name="流程图: 磁盘 45"/>
            <p:cNvSpPr/>
            <p:nvPr/>
          </p:nvSpPr>
          <p:spPr>
            <a:xfrm>
              <a:off x="6630" y="8911"/>
              <a:ext cx="1845" cy="1381"/>
            </a:xfrm>
            <a:prstGeom prst="flowChartMagneticDisk">
              <a:avLst/>
            </a:prstGeom>
            <a:solidFill>
              <a:srgbClr val="D3E4FC"/>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47" name="矩形 46"/>
            <p:cNvSpPr/>
            <p:nvPr/>
          </p:nvSpPr>
          <p:spPr>
            <a:xfrm>
              <a:off x="6368" y="9430"/>
              <a:ext cx="2470" cy="768"/>
            </a:xfrm>
            <a:prstGeom prst="rect">
              <a:avLst/>
            </a:prstGeom>
          </p:spPr>
          <p:txBody>
            <a:bodyPr wrap="square">
              <a:spAutoFit/>
            </a:bodyPr>
            <a:lstStyle/>
            <a:p>
              <a:pPr algn="ctr">
                <a:lnSpc>
                  <a:spcPct val="120000"/>
                </a:lnSpc>
              </a:pP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疾病控制中心</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rPr>
                <a:t>公共卫生数据</a:t>
              </a: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8" name="组合 47"/>
          <p:cNvGrpSpPr/>
          <p:nvPr userDrawn="1"/>
        </p:nvGrpSpPr>
        <p:grpSpPr>
          <a:xfrm>
            <a:off x="9375179" y="5191730"/>
            <a:ext cx="1098416" cy="763703"/>
            <a:chOff x="8561" y="8911"/>
            <a:chExt cx="2285" cy="1381"/>
          </a:xfrm>
        </p:grpSpPr>
        <p:sp>
          <p:nvSpPr>
            <p:cNvPr id="49" name="流程图: 磁盘 48"/>
            <p:cNvSpPr/>
            <p:nvPr/>
          </p:nvSpPr>
          <p:spPr>
            <a:xfrm>
              <a:off x="8746" y="8911"/>
              <a:ext cx="1845" cy="1381"/>
            </a:xfrm>
            <a:prstGeom prst="flowChartMagneticDisk">
              <a:avLst/>
            </a:prstGeom>
            <a:solidFill>
              <a:srgbClr val="D3E4FC"/>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50" name="文本框 49"/>
            <p:cNvSpPr txBox="1"/>
            <p:nvPr/>
          </p:nvSpPr>
          <p:spPr>
            <a:xfrm>
              <a:off x="8561" y="9425"/>
              <a:ext cx="2285" cy="768"/>
            </a:xfrm>
            <a:prstGeom prst="rect">
              <a:avLst/>
            </a:prstGeom>
          </p:spPr>
          <p:txBody>
            <a:bodyPr wrap="square">
              <a:spAutoFit/>
            </a:bodyPr>
            <a:lstStyle>
              <a:defPPr>
                <a:defRPr lang="zh-CN"/>
              </a:defPPr>
              <a:lvl1pPr lvl="0" algn="ctr">
                <a:lnSpc>
                  <a:spcPct val="120000"/>
                </a:lnSpc>
                <a:defRPr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900" dirty="0">
                  <a:solidFill>
                    <a:schemeClr val="tx1">
                      <a:lumMod val="95000"/>
                      <a:lumOff val="5000"/>
                    </a:schemeClr>
                  </a:solidFill>
                </a:rPr>
                <a:t>基于循证</a:t>
              </a:r>
              <a:endParaRPr lang="zh-CN" altLang="en-US" sz="900" dirty="0">
                <a:solidFill>
                  <a:schemeClr val="tx1">
                    <a:lumMod val="95000"/>
                    <a:lumOff val="5000"/>
                  </a:schemeClr>
                </a:solidFill>
              </a:endParaRPr>
            </a:p>
            <a:p>
              <a:r>
                <a:rPr lang="zh-CN" altLang="en-US" sz="900" dirty="0">
                  <a:solidFill>
                    <a:schemeClr val="tx1">
                      <a:lumMod val="95000"/>
                      <a:lumOff val="5000"/>
                    </a:schemeClr>
                  </a:solidFill>
                </a:rPr>
                <a:t>的网络数据</a:t>
              </a:r>
              <a:endParaRPr lang="zh-CN" altLang="en-US" sz="900" dirty="0">
                <a:solidFill>
                  <a:schemeClr val="tx1">
                    <a:lumMod val="95000"/>
                    <a:lumOff val="5000"/>
                  </a:schemeClr>
                </a:solidFill>
              </a:endParaRPr>
            </a:p>
          </p:txBody>
        </p:sp>
      </p:grpSp>
      <p:grpSp>
        <p:nvGrpSpPr>
          <p:cNvPr id="51" name="组合 50"/>
          <p:cNvGrpSpPr/>
          <p:nvPr userDrawn="1"/>
        </p:nvGrpSpPr>
        <p:grpSpPr>
          <a:xfrm>
            <a:off x="10301389" y="5191730"/>
            <a:ext cx="911340" cy="763703"/>
            <a:chOff x="10683" y="8911"/>
            <a:chExt cx="2158" cy="1381"/>
          </a:xfrm>
        </p:grpSpPr>
        <p:sp>
          <p:nvSpPr>
            <p:cNvPr id="52" name="流程图: 磁盘 51"/>
            <p:cNvSpPr/>
            <p:nvPr/>
          </p:nvSpPr>
          <p:spPr>
            <a:xfrm>
              <a:off x="10862" y="8911"/>
              <a:ext cx="1845" cy="1381"/>
            </a:xfrm>
            <a:prstGeom prst="flowChartMagneticDisk">
              <a:avLst/>
            </a:prstGeom>
            <a:solidFill>
              <a:srgbClr val="D3E4FC"/>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endParaRPr>
            </a:p>
          </p:txBody>
        </p:sp>
        <p:sp>
          <p:nvSpPr>
            <p:cNvPr id="53" name="文本框 52"/>
            <p:cNvSpPr txBox="1"/>
            <p:nvPr/>
          </p:nvSpPr>
          <p:spPr>
            <a:xfrm>
              <a:off x="10683" y="9425"/>
              <a:ext cx="2158" cy="768"/>
            </a:xfrm>
            <a:prstGeom prst="rect">
              <a:avLst/>
            </a:prstGeom>
          </p:spPr>
          <p:txBody>
            <a:bodyPr wrap="square">
              <a:spAutoFit/>
            </a:bodyPr>
            <a:lstStyle>
              <a:defPPr>
                <a:defRPr lang="zh-CN"/>
              </a:defPPr>
              <a:lvl1pPr lvl="0" algn="ctr">
                <a:lnSpc>
                  <a:spcPct val="120000"/>
                </a:lnSpc>
                <a:defRPr sz="800">
                  <a:ln w="11430"/>
                  <a:gradFill>
                    <a:gsLst>
                      <a:gs pos="0">
                        <a:schemeClr val="tx1">
                          <a:lumMod val="95000"/>
                          <a:lumOff val="5000"/>
                        </a:schemeClr>
                      </a:gs>
                      <a:gs pos="100000">
                        <a:schemeClr val="tx1">
                          <a:lumMod val="95000"/>
                          <a:lumOff val="5000"/>
                        </a:schemeClr>
                      </a:gs>
                    </a:gsLst>
                    <a:lin ang="5400000" scaled="1"/>
                  </a:gradFill>
                  <a:latin typeface="微软雅黑" panose="020B0503020204020204" pitchFamily="34" charset="-122"/>
                  <a:ea typeface="微软雅黑" panose="020B0503020204020204" pitchFamily="34" charset="-122"/>
                </a:defRPr>
              </a:lvl1pPr>
            </a:lstStyle>
            <a:p>
              <a:r>
                <a:rPr lang="zh-CN" altLang="en-US" sz="900" dirty="0">
                  <a:solidFill>
                    <a:schemeClr val="tx1">
                      <a:lumMod val="95000"/>
                      <a:lumOff val="5000"/>
                    </a:schemeClr>
                  </a:solidFill>
                </a:rPr>
                <a:t>日常生活</a:t>
              </a:r>
              <a:endParaRPr lang="en-US" altLang="zh-CN" sz="900" dirty="0">
                <a:solidFill>
                  <a:schemeClr val="tx1">
                    <a:lumMod val="95000"/>
                    <a:lumOff val="5000"/>
                  </a:schemeClr>
                </a:solidFill>
              </a:endParaRPr>
            </a:p>
            <a:p>
              <a:r>
                <a:rPr lang="zh-CN" altLang="en-US" sz="900" dirty="0">
                  <a:solidFill>
                    <a:schemeClr val="tx1">
                      <a:lumMod val="95000"/>
                      <a:lumOff val="5000"/>
                    </a:schemeClr>
                  </a:solidFill>
                </a:rPr>
                <a:t>数据</a:t>
              </a:r>
              <a:endParaRPr lang="zh-CN" altLang="en-US" sz="900" dirty="0">
                <a:solidFill>
                  <a:schemeClr val="tx1">
                    <a:lumMod val="95000"/>
                    <a:lumOff val="5000"/>
                  </a:schemeClr>
                </a:solidFill>
              </a:endParaRPr>
            </a:p>
          </p:txBody>
        </p:sp>
      </p:grpSp>
      <p:sp>
        <p:nvSpPr>
          <p:cNvPr id="54" name="矩形 53"/>
          <p:cNvSpPr/>
          <p:nvPr userDrawn="1"/>
        </p:nvSpPr>
        <p:spPr>
          <a:xfrm>
            <a:off x="6065654" y="4707848"/>
            <a:ext cx="5166159" cy="1333300"/>
          </a:xfrm>
          <a:prstGeom prst="rect">
            <a:avLst/>
          </a:prstGeom>
          <a:noFill/>
          <a:ln w="6350">
            <a:solidFill>
              <a:srgbClr val="003F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latin typeface="等线" panose="02010600030101010101" charset="-122"/>
              <a:ea typeface="等线" panose="02010600030101010101" charset="-122"/>
            </a:endParaRPr>
          </a:p>
        </p:txBody>
      </p:sp>
      <p:sp>
        <p:nvSpPr>
          <p:cNvPr id="55" name="矩形 34"/>
          <p:cNvSpPr>
            <a:spLocks noChangeArrowheads="1"/>
          </p:cNvSpPr>
          <p:nvPr userDrawn="1"/>
        </p:nvSpPr>
        <p:spPr bwMode="auto">
          <a:xfrm>
            <a:off x="5436408" y="4708402"/>
            <a:ext cx="629245" cy="1332747"/>
          </a:xfrm>
          <a:prstGeom prst="rect">
            <a:avLst/>
          </a:prstGeom>
          <a:solidFill>
            <a:srgbClr val="003F9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rPr>
              <a:t>采集</a:t>
            </a:r>
            <a:endParaRPr lang="zh-CN" altLang="en-US" sz="1100" dirty="0">
              <a:ln w="1143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6" name="下箭头 55"/>
          <p:cNvSpPr/>
          <p:nvPr userDrawn="1"/>
        </p:nvSpPr>
        <p:spPr>
          <a:xfrm flipV="1">
            <a:off x="8394970" y="2805749"/>
            <a:ext cx="182668" cy="188022"/>
          </a:xfrm>
          <a:prstGeom prst="down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57" name="下箭头 56"/>
          <p:cNvSpPr/>
          <p:nvPr userDrawn="1"/>
        </p:nvSpPr>
        <p:spPr>
          <a:xfrm flipV="1">
            <a:off x="8394970" y="3869182"/>
            <a:ext cx="182668" cy="188022"/>
          </a:xfrm>
          <a:prstGeom prst="down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58" name="下箭头 57"/>
          <p:cNvSpPr/>
          <p:nvPr userDrawn="1"/>
        </p:nvSpPr>
        <p:spPr>
          <a:xfrm flipV="1">
            <a:off x="8394970" y="4509011"/>
            <a:ext cx="182668" cy="188022"/>
          </a:xfrm>
          <a:prstGeom prst="down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59" name="下箭头 58"/>
          <p:cNvSpPr/>
          <p:nvPr userDrawn="1"/>
        </p:nvSpPr>
        <p:spPr>
          <a:xfrm flipV="1">
            <a:off x="8394970" y="1837729"/>
            <a:ext cx="182668" cy="188022"/>
          </a:xfrm>
          <a:prstGeom prst="downArrow">
            <a:avLst/>
          </a:prstGeom>
          <a:solidFill>
            <a:srgbClr val="003F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60" name="矩形 5"/>
          <p:cNvSpPr>
            <a:spLocks noChangeArrowheads="1"/>
          </p:cNvSpPr>
          <p:nvPr userDrawn="1"/>
        </p:nvSpPr>
        <p:spPr bwMode="auto">
          <a:xfrm>
            <a:off x="11420249" y="1930094"/>
            <a:ext cx="381681" cy="4111054"/>
          </a:xfrm>
          <a:prstGeom prst="rect">
            <a:avLst/>
          </a:prstGeom>
          <a:solidFill>
            <a:srgbClr val="0971CE"/>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r>
              <a:rPr lang="zh-CN" altLang="en-US" sz="1200" dirty="0">
                <a:ln w="11430"/>
                <a:solidFill>
                  <a:schemeClr val="bg1"/>
                </a:solidFill>
                <a:latin typeface="微软雅黑" panose="020B0503020204020204" pitchFamily="34" charset="-122"/>
                <a:ea typeface="微软雅黑" panose="020B0503020204020204" pitchFamily="34" charset="-122"/>
              </a:rPr>
              <a:t>安全保障体系</a:t>
            </a:r>
            <a:endParaRPr lang="zh-CN" altLang="en-US" sz="1200" dirty="0">
              <a:ln w="11430"/>
              <a:solidFill>
                <a:schemeClr val="bg1"/>
              </a:solidFill>
              <a:latin typeface="微软雅黑" panose="020B0503020204020204" pitchFamily="34" charset="-122"/>
              <a:ea typeface="微软雅黑" panose="020B0503020204020204" pitchFamily="34" charset="-122"/>
            </a:endParaRPr>
          </a:p>
        </p:txBody>
      </p:sp>
      <p:sp>
        <p:nvSpPr>
          <p:cNvPr id="61" name="文本框 60"/>
          <p:cNvSpPr txBox="1"/>
          <p:nvPr userDrawn="1"/>
        </p:nvSpPr>
        <p:spPr>
          <a:xfrm>
            <a:off x="10529728" y="2382474"/>
            <a:ext cx="828739" cy="369332"/>
          </a:xfrm>
          <a:prstGeom prst="rect">
            <a:avLst/>
          </a:prstGeom>
          <a:noFill/>
        </p:spPr>
        <p:txBody>
          <a:bodyPr wrap="square" rtlCol="0">
            <a:spAutoFit/>
          </a:bodyPr>
          <a:lstStyle/>
          <a:p>
            <a:r>
              <a:rPr lang="en-US" altLang="zh-CN" sz="1800" dirty="0">
                <a:solidFill>
                  <a:schemeClr val="tx1">
                    <a:lumMod val="95000"/>
                    <a:lumOff val="5000"/>
                  </a:schemeClr>
                </a:solidFill>
              </a:rPr>
              <a:t>……</a:t>
            </a:r>
            <a:endParaRPr lang="zh-CN" altLang="en-US" sz="1800" dirty="0">
              <a:solidFill>
                <a:schemeClr val="tx1">
                  <a:lumMod val="95000"/>
                  <a:lumOff val="5000"/>
                </a:schemeClr>
              </a:solidFill>
            </a:endParaRPr>
          </a:p>
        </p:txBody>
      </p:sp>
      <p:sp>
        <p:nvSpPr>
          <p:cNvPr id="62" name="圆角矩形 61"/>
          <p:cNvSpPr/>
          <p:nvPr userDrawn="1"/>
        </p:nvSpPr>
        <p:spPr>
          <a:xfrm>
            <a:off x="9464110" y="1440680"/>
            <a:ext cx="2337820" cy="287011"/>
          </a:xfrm>
          <a:prstGeom prst="roundRect">
            <a:avLst/>
          </a:prstGeom>
          <a:solidFill>
            <a:srgbClr val="0971C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r>
              <a:rPr lang="zh-CN" altLang="en-US" sz="1200" dirty="0">
                <a:solidFill>
                  <a:prstClr val="white"/>
                </a:solidFill>
                <a:latin typeface="等线" panose="02010600030101010101" charset="-122"/>
                <a:ea typeface="等线" panose="02010600030101010101" charset="-122"/>
                <a:sym typeface="+mn-ea"/>
              </a:rPr>
              <a:t>****</a:t>
            </a:r>
            <a:endParaRPr lang="zh-CN" altLang="en-US" sz="1200" dirty="0">
              <a:solidFill>
                <a:prstClr val="white"/>
              </a:solidFill>
              <a:latin typeface="等线" panose="02010600030101010101" charset="-122"/>
              <a:ea typeface="等线" panose="02010600030101010101" charset="-122"/>
              <a:sym typeface="+mn-ea"/>
            </a:endParaRPr>
          </a:p>
        </p:txBody>
      </p:sp>
      <p:sp>
        <p:nvSpPr>
          <p:cNvPr id="63" name="左右箭头 62"/>
          <p:cNvSpPr/>
          <p:nvPr userDrawn="1"/>
        </p:nvSpPr>
        <p:spPr>
          <a:xfrm>
            <a:off x="8997572" y="1515610"/>
            <a:ext cx="416241" cy="212081"/>
          </a:xfrm>
          <a:prstGeom prst="leftRight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4" name="左右箭头 63"/>
          <p:cNvSpPr/>
          <p:nvPr userDrawn="1"/>
        </p:nvSpPr>
        <p:spPr>
          <a:xfrm rot="5400000">
            <a:off x="10546717" y="1246246"/>
            <a:ext cx="223835" cy="196849"/>
          </a:xfrm>
          <a:prstGeom prst="leftRightArrow">
            <a:avLst/>
          </a:prstGeom>
          <a:solidFill>
            <a:srgbClr val="097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65" name="组合 64"/>
          <p:cNvGrpSpPr/>
          <p:nvPr userDrawn="1"/>
        </p:nvGrpSpPr>
        <p:grpSpPr>
          <a:xfrm>
            <a:off x="6156877" y="3057753"/>
            <a:ext cx="1768340" cy="746560"/>
            <a:chOff x="977237" y="3204675"/>
            <a:chExt cx="1326255" cy="746560"/>
          </a:xfrm>
        </p:grpSpPr>
        <p:sp>
          <p:nvSpPr>
            <p:cNvPr id="66" name="圆角矩形 65"/>
            <p:cNvSpPr/>
            <p:nvPr/>
          </p:nvSpPr>
          <p:spPr>
            <a:xfrm>
              <a:off x="997870" y="3204675"/>
              <a:ext cx="1253904" cy="74656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7" name="矩形 66"/>
            <p:cNvSpPr/>
            <p:nvPr/>
          </p:nvSpPr>
          <p:spPr>
            <a:xfrm>
              <a:off x="977237" y="3553010"/>
              <a:ext cx="1326255" cy="276999"/>
            </a:xfrm>
            <a:prstGeom prst="rect">
              <a:avLst/>
            </a:prstGeom>
          </p:spPr>
          <p:txBody>
            <a:bodyPr wrap="square">
              <a:spAutoFit/>
            </a:bodyP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数据</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68" name="组合 67"/>
          <p:cNvGrpSpPr/>
          <p:nvPr userDrawn="1"/>
        </p:nvGrpSpPr>
        <p:grpSpPr>
          <a:xfrm>
            <a:off x="9047622" y="3057754"/>
            <a:ext cx="952801" cy="313555"/>
            <a:chOff x="3145296" y="3204675"/>
            <a:chExt cx="714601" cy="313555"/>
          </a:xfrm>
        </p:grpSpPr>
        <p:sp>
          <p:nvSpPr>
            <p:cNvPr id="69" name="圆角矩形 68"/>
            <p:cNvSpPr/>
            <p:nvPr/>
          </p:nvSpPr>
          <p:spPr>
            <a:xfrm>
              <a:off x="3145296" y="3204675"/>
              <a:ext cx="714601" cy="313555"/>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0" name="矩形 69"/>
            <p:cNvSpPr/>
            <p:nvPr/>
          </p:nvSpPr>
          <p:spPr>
            <a:xfrm>
              <a:off x="3240986" y="3222953"/>
              <a:ext cx="523220" cy="276999"/>
            </a:xfrm>
            <a:prstGeom prst="rect">
              <a:avLst/>
            </a:prstGeom>
          </p:spPr>
          <p:txBody>
            <a:bodyPr wrap="none">
              <a:spAutoFit/>
            </a:bodyP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数据仓库</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1" name="组合 70"/>
          <p:cNvGrpSpPr/>
          <p:nvPr userDrawn="1"/>
        </p:nvGrpSpPr>
        <p:grpSpPr>
          <a:xfrm>
            <a:off x="10064486" y="3054988"/>
            <a:ext cx="1060440" cy="316320"/>
            <a:chOff x="3907944" y="3201910"/>
            <a:chExt cx="795330" cy="316320"/>
          </a:xfrm>
        </p:grpSpPr>
        <p:sp>
          <p:nvSpPr>
            <p:cNvPr id="72" name="圆角矩形 71"/>
            <p:cNvSpPr/>
            <p:nvPr/>
          </p:nvSpPr>
          <p:spPr>
            <a:xfrm>
              <a:off x="3907944" y="3201910"/>
              <a:ext cx="795330" cy="316320"/>
            </a:xfrm>
            <a:prstGeom prst="roundRect">
              <a:avLst/>
            </a:prstGeom>
            <a:solidFill>
              <a:srgbClr val="D3E4FC"/>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9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3" name="矩形 72"/>
            <p:cNvSpPr/>
            <p:nvPr/>
          </p:nvSpPr>
          <p:spPr>
            <a:xfrm>
              <a:off x="3995909" y="3221571"/>
              <a:ext cx="619400" cy="276999"/>
            </a:xfrm>
            <a:prstGeom prst="rect">
              <a:avLst/>
            </a:prstGeom>
          </p:spPr>
          <p:txBody>
            <a:bodyPr wrap="none">
              <a:spAutoFit/>
            </a:bodyPr>
            <a:lstStyle/>
            <a:p>
              <a:pPr algn="ctr">
                <a:lnSpc>
                  <a:spcPct val="120000"/>
                </a:lnSpc>
              </a:pPr>
              <a:r>
                <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rPr>
                <a:t>语义数据库</a:t>
              </a:r>
              <a:endParaRPr lang="zh-CN" altLang="en-US" sz="1000" dirty="0">
                <a:ln w="1143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15_自定义版式">
    <p:spTree>
      <p:nvGrpSpPr>
        <p:cNvPr id="1" name=""/>
        <p:cNvGrpSpPr/>
        <p:nvPr/>
      </p:nvGrpSpPr>
      <p:grpSpPr>
        <a:xfrm>
          <a:off x="0" y="0"/>
          <a:ext cx="0" cy="0"/>
          <a:chOff x="0" y="0"/>
          <a:chExt cx="0" cy="0"/>
        </a:xfrm>
      </p:grpSpPr>
      <p:graphicFrame>
        <p:nvGraphicFramePr>
          <p:cNvPr id="2" name="表格 1"/>
          <p:cNvGraphicFramePr>
            <a:graphicFrameLocks noGrp="1"/>
          </p:cNvGraphicFramePr>
          <p:nvPr userDrawn="1"/>
        </p:nvGraphicFramePr>
        <p:xfrm>
          <a:off x="469805" y="1437251"/>
          <a:ext cx="11252386" cy="4723006"/>
        </p:xfrm>
        <a:graphic>
          <a:graphicData uri="http://schemas.openxmlformats.org/drawingml/2006/table">
            <a:tbl>
              <a:tblPr firstRow="1" firstCol="1" bandRow="1">
                <a:tableStyleId>{5C22544A-7EE6-4342-B048-85BDC9FD1C3A}</a:tableStyleId>
              </a:tblPr>
              <a:tblGrid>
                <a:gridCol w="2779617"/>
                <a:gridCol w="8472769"/>
              </a:tblGrid>
              <a:tr h="476001">
                <a:tc>
                  <a:txBody>
                    <a:bodyPr/>
                    <a:lstStyle/>
                    <a:p>
                      <a:pPr algn="ctr">
                        <a:lnSpc>
                          <a:spcPct val="100000"/>
                        </a:lnSpc>
                        <a:spcAft>
                          <a:spcPts val="0"/>
                        </a:spcAft>
                      </a:pPr>
                      <a:r>
                        <a:rPr lang="zh-CN" altLang="en-US" sz="1400" b="0" kern="1200" dirty="0">
                          <a:gradFill>
                            <a:gsLst>
                              <a:gs pos="0">
                                <a:schemeClr val="bg1"/>
                              </a:gs>
                              <a:gs pos="100000">
                                <a:schemeClr val="bg1"/>
                              </a:gs>
                            </a:gsLst>
                            <a:lin ang="5400000" scaled="1"/>
                          </a:gradFill>
                          <a:latin typeface="微软雅黑" panose="020B0503020204020204" pitchFamily="34" charset="-122"/>
                          <a:ea typeface="微软雅黑" panose="020B0503020204020204" pitchFamily="34" charset="-122"/>
                          <a:cs typeface="+mn-cs"/>
                        </a:rPr>
                        <a:t>文字</a:t>
                      </a:r>
                      <a:endParaRPr lang="zh-CN" sz="1400" b="0" kern="1200" dirty="0">
                        <a:gradFill>
                          <a:gsLst>
                            <a:gs pos="0">
                              <a:schemeClr val="bg1"/>
                            </a:gs>
                            <a:gs pos="100000">
                              <a:schemeClr val="bg1"/>
                            </a:gs>
                          </a:gsLst>
                          <a:lin ang="5400000" scaled="1"/>
                        </a:gra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971CE"/>
                    </a:solidFill>
                  </a:tcPr>
                </a:tc>
                <a:tc>
                  <a:txBody>
                    <a:bodyPr/>
                    <a:lstStyle/>
                    <a:p>
                      <a:pPr algn="ctr">
                        <a:lnSpc>
                          <a:spcPct val="100000"/>
                        </a:lnSpc>
                        <a:spcAft>
                          <a:spcPts val="0"/>
                        </a:spcAft>
                      </a:pPr>
                      <a:r>
                        <a:rPr lang="zh-CN" altLang="en-US" sz="1400" b="0" kern="1200" dirty="0">
                          <a:gradFill>
                            <a:gsLst>
                              <a:gs pos="0">
                                <a:schemeClr val="bg1"/>
                              </a:gs>
                              <a:gs pos="100000">
                                <a:schemeClr val="bg1"/>
                              </a:gs>
                            </a:gsLst>
                            <a:lin ang="5400000" scaled="1"/>
                          </a:gradFill>
                          <a:latin typeface="微软雅黑" panose="020B0503020204020204" pitchFamily="34" charset="-122"/>
                          <a:ea typeface="微软雅黑" panose="020B0503020204020204" pitchFamily="34" charset="-122"/>
                          <a:cs typeface="+mn-cs"/>
                        </a:rPr>
                        <a:t>文字</a:t>
                      </a:r>
                      <a:endParaRPr lang="zh-CN" sz="1400" b="0" kern="1200" dirty="0">
                        <a:gradFill>
                          <a:gsLst>
                            <a:gs pos="0">
                              <a:schemeClr val="bg1"/>
                            </a:gs>
                            <a:gs pos="100000">
                              <a:schemeClr val="bg1"/>
                            </a:gs>
                          </a:gsLst>
                          <a:lin ang="5400000" scaled="1"/>
                        </a:gra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0971CE"/>
                    </a:solidFill>
                  </a:tcPr>
                </a:tc>
              </a:tr>
              <a:tr h="756830">
                <a:tc>
                  <a:txBody>
                    <a:bodyPr/>
                    <a:lstStyle/>
                    <a:p>
                      <a:pPr algn="ctr">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c>
                  <a:txBody>
                    <a:bodyPr/>
                    <a:lstStyle/>
                    <a:p>
                      <a:pPr marL="0" marR="0" lvl="0" indent="0" algn="just" defTabSz="685800" rtl="0" eaLnBrk="1" fontAlgn="auto" latinLnBrk="0" hangingPunct="1">
                        <a:lnSpc>
                          <a:spcPct val="135000"/>
                        </a:lnSpc>
                        <a:spcBef>
                          <a:spcPts val="0"/>
                        </a:spcBef>
                        <a:spcAft>
                          <a:spcPts val="0"/>
                        </a:spcAft>
                        <a:buClrTx/>
                        <a:buSzTx/>
                        <a:buFontTx/>
                        <a:buNone/>
                        <a:defRPr/>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r>
              <a:tr h="756830">
                <a:tc>
                  <a:txBody>
                    <a:bodyPr/>
                    <a:lstStyle/>
                    <a:p>
                      <a:pPr algn="ctr">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marL="0" marR="0" lvl="0" indent="0" algn="just" defTabSz="685800" rtl="0" eaLnBrk="1" fontAlgn="auto" latinLnBrk="0" hangingPunct="1">
                        <a:lnSpc>
                          <a:spcPct val="135000"/>
                        </a:lnSpc>
                        <a:spcBef>
                          <a:spcPts val="0"/>
                        </a:spcBef>
                        <a:spcAft>
                          <a:spcPts val="0"/>
                        </a:spcAft>
                        <a:buClrTx/>
                        <a:buSzTx/>
                        <a:buFontTx/>
                        <a:buNone/>
                        <a:defRPr/>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756830">
                <a:tc>
                  <a:txBody>
                    <a:bodyPr/>
                    <a:lstStyle/>
                    <a:p>
                      <a:pPr algn="ctr">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c>
                  <a:txBody>
                    <a:bodyPr/>
                    <a:lstStyle/>
                    <a:p>
                      <a:pPr marL="0" marR="0" lvl="0" indent="0" algn="just" defTabSz="685800" rtl="0" eaLnBrk="1" fontAlgn="auto" latinLnBrk="0" hangingPunct="1">
                        <a:lnSpc>
                          <a:spcPct val="135000"/>
                        </a:lnSpc>
                        <a:spcBef>
                          <a:spcPts val="0"/>
                        </a:spcBef>
                        <a:spcAft>
                          <a:spcPts val="0"/>
                        </a:spcAft>
                        <a:buClrTx/>
                        <a:buSzTx/>
                        <a:buFontTx/>
                        <a:buNone/>
                        <a:defRPr/>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r>
              <a:tr h="738115">
                <a:tc>
                  <a:txBody>
                    <a:bodyPr/>
                    <a:lstStyle/>
                    <a:p>
                      <a:pPr marL="0" algn="ctr" defTabSz="685800" rtl="0" eaLnBrk="1" latinLnBrk="0" hangingPunct="1">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marL="0" marR="0" lvl="0" indent="0" algn="just" defTabSz="685800" rtl="0" eaLnBrk="1" fontAlgn="auto" latinLnBrk="0" hangingPunct="1">
                        <a:lnSpc>
                          <a:spcPct val="135000"/>
                        </a:lnSpc>
                        <a:spcBef>
                          <a:spcPts val="0"/>
                        </a:spcBef>
                        <a:spcAft>
                          <a:spcPts val="0"/>
                        </a:spcAft>
                        <a:buClrTx/>
                        <a:buSzTx/>
                        <a:buFontTx/>
                        <a:buNone/>
                        <a:defRPr/>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477079">
                <a:tc>
                  <a:txBody>
                    <a:bodyPr/>
                    <a:lstStyle/>
                    <a:p>
                      <a:pPr algn="ctr">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c>
                  <a:txBody>
                    <a:bodyPr/>
                    <a:lstStyle/>
                    <a:p>
                      <a:pPr algn="just">
                        <a:lnSpc>
                          <a:spcPct val="135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3E4FC"/>
                    </a:solidFill>
                  </a:tcPr>
                </a:tc>
              </a:tr>
              <a:tr h="437321">
                <a:tc>
                  <a:txBody>
                    <a:bodyPr/>
                    <a:lstStyle/>
                    <a:p>
                      <a:pPr algn="ctr">
                        <a:lnSpc>
                          <a:spcPct val="150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lgn="just">
                        <a:lnSpc>
                          <a:spcPct val="135000"/>
                        </a:lnSpc>
                        <a:spcAft>
                          <a:spcPts val="0"/>
                        </a:spcAft>
                      </a:pPr>
                      <a:r>
                        <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文字</a:t>
                      </a:r>
                      <a:endPar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192000" marR="9600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r>
              <a:tr h="324000">
                <a:tc gridSpan="2">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a:t>
                      </a:r>
                      <a:endParaRPr lang="zh-CN" altLang="en-US" sz="1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endParaRPr>
                    </a:p>
                  </a:txBody>
                  <a:tcPr marL="81121" marR="81121"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8100" cap="flat" cmpd="sng" algn="ctr">
                      <a:solidFill>
                        <a:srgbClr val="8497B0"/>
                      </a:solidFill>
                      <a:prstDash val="solid"/>
                      <a:round/>
                      <a:headEnd type="none" w="med" len="med"/>
                      <a:tailEnd type="none" w="med" len="med"/>
                    </a:lnB>
                    <a:solidFill>
                      <a:srgbClr val="D3E4FC"/>
                    </a:solidFill>
                  </a:tcPr>
                </a:tc>
                <a:tc hMerge="1">
                  <a:tcPr marL="60841" marR="60841" marT="0" marB="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8100" cap="flat" cmpd="sng" algn="ctr">
                      <a:solidFill>
                        <a:srgbClr val="8497B0"/>
                      </a:solidFill>
                      <a:prstDash val="solid"/>
                      <a:round/>
                      <a:headEnd type="none" w="med" len="med"/>
                      <a:tailEnd type="none" w="med" len="med"/>
                    </a:lnB>
                    <a:solidFill>
                      <a:srgbClr val="EAEFF7"/>
                    </a:solidFill>
                  </a:tcPr>
                </a:tc>
              </a:tr>
            </a:tbl>
          </a:graphicData>
        </a:graphic>
      </p:graphicFrame>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321907" y="143635"/>
            <a:ext cx="8414387" cy="692978"/>
          </a:xfrm>
          <a:prstGeom prst="rect">
            <a:avLst/>
          </a:prstGeom>
        </p:spPr>
        <p:txBody>
          <a:bodyPr/>
          <a:lstStyle>
            <a:lvl1pPr>
              <a:defRPr sz="3600">
                <a:solidFill>
                  <a:srgbClr val="3D58A7"/>
                </a:solidFill>
              </a:defRPr>
            </a:lvl1pPr>
          </a:lstStyle>
          <a:p>
            <a:endParaRPr lang="zh-CN" altLang="en-US" dirty="0"/>
          </a:p>
        </p:txBody>
      </p:sp>
      <p:sp>
        <p:nvSpPr>
          <p:cNvPr id="5" name="文本占位符 4"/>
          <p:cNvSpPr>
            <a:spLocks noGrp="1"/>
          </p:cNvSpPr>
          <p:nvPr>
            <p:ph type="body" sz="quarter" idx="10" hasCustomPrompt="1"/>
          </p:nvPr>
        </p:nvSpPr>
        <p:spPr>
          <a:xfrm>
            <a:off x="321906" y="1043736"/>
            <a:ext cx="11669039" cy="495055"/>
          </a:xfrm>
          <a:prstGeom prst="rect">
            <a:avLst/>
          </a:prstGeom>
        </p:spPr>
        <p:txBody>
          <a:bodyPr anchor="ctr"/>
          <a:lstStyle>
            <a:lvl1pPr marL="449580" indent="-449580">
              <a:buFont typeface="Wingdings" panose="05000000000000000000" pitchFamily="2" charset="2"/>
              <a:buChar char="n"/>
              <a:defRPr sz="2400" b="1">
                <a:solidFill>
                  <a:srgbClr val="FF0000"/>
                </a:solidFill>
                <a:latin typeface="微软雅黑" panose="020B0503020204020204" pitchFamily="34" charset="-122"/>
                <a:ea typeface="微软雅黑" panose="020B0503020204020204" pitchFamily="34" charset="-122"/>
              </a:defRPr>
            </a:lvl1pPr>
            <a:lvl2pPr marL="342900" indent="0">
              <a:buNone/>
              <a:defRPr/>
            </a:lvl2pPr>
          </a:lstStyle>
          <a:p>
            <a:pPr marL="449580" indent="-449580">
              <a:buFont typeface="Wingdings" panose="05000000000000000000" pitchFamily="2" charset="2"/>
              <a:buChar char="n"/>
            </a:pPr>
            <a:r>
              <a:rPr lang="zh-CN" altLang="en-US" sz="2400" b="1" dirty="0">
                <a:solidFill>
                  <a:srgbClr val="FF0000"/>
                </a:solidFill>
                <a:latin typeface="微软雅黑" panose="020B0503020204020204" pitchFamily="34" charset="-122"/>
                <a:ea typeface="微软雅黑" panose="020B0503020204020204" pitchFamily="34" charset="-122"/>
              </a:rPr>
              <a:t>标题</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4" name="圆角矩形 3"/>
          <p:cNvSpPr/>
          <p:nvPr userDrawn="1"/>
        </p:nvSpPr>
        <p:spPr>
          <a:xfrm>
            <a:off x="624419" y="1786686"/>
            <a:ext cx="5137151" cy="584660"/>
          </a:xfrm>
          <a:prstGeom prst="roundRect">
            <a:avLst/>
          </a:prstGeom>
          <a:solidFill>
            <a:srgbClr val="0971CE"/>
          </a:solidFill>
          <a:ln>
            <a:noFill/>
          </a:ln>
          <a:effectLst>
            <a:outerShdw blurRad="50800" dist="38100" dir="2700000" algn="tl" rotWithShape="0">
              <a:srgbClr val="0971C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圆角矩形 5"/>
          <p:cNvSpPr/>
          <p:nvPr userDrawn="1"/>
        </p:nvSpPr>
        <p:spPr>
          <a:xfrm>
            <a:off x="6362703" y="1786686"/>
            <a:ext cx="5143500" cy="584661"/>
          </a:xfrm>
          <a:prstGeom prst="roundRect">
            <a:avLst/>
          </a:prstGeom>
          <a:solidFill>
            <a:srgbClr val="0971CE"/>
          </a:solidFill>
          <a:ln>
            <a:noFill/>
          </a:ln>
          <a:effectLst>
            <a:outerShdw blurRad="50800" dist="38100" dir="2700000" algn="tl" rotWithShape="0">
              <a:srgbClr val="0971C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lnSpc>
                <a:spcPct val="120000"/>
              </a:lnSpc>
            </a:pPr>
            <a:endParaRPr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圆角矩形 6"/>
          <p:cNvSpPr/>
          <p:nvPr userDrawn="1"/>
        </p:nvSpPr>
        <p:spPr bwMode="auto">
          <a:xfrm>
            <a:off x="639237" y="2621184"/>
            <a:ext cx="4844857" cy="720725"/>
          </a:xfrm>
          <a:prstGeom prst="roundRect">
            <a:avLst>
              <a:gd name="adj" fmla="val 15574"/>
            </a:avLst>
          </a:prstGeom>
          <a:solidFill>
            <a:srgbClr val="B7D5FF">
              <a:alpha val="90000"/>
            </a:srgbClr>
          </a:solidFill>
          <a:ln w="38100" algn="ctr">
            <a:noFill/>
            <a:round/>
          </a:ln>
          <a:effectLst/>
        </p:spPr>
        <p:txBody>
          <a:bodyPr lIns="144000" rIns="108000" anchor="ctr"/>
          <a:lstStyle/>
          <a:p>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圆角矩形 7"/>
          <p:cNvSpPr/>
          <p:nvPr userDrawn="1"/>
        </p:nvSpPr>
        <p:spPr bwMode="auto">
          <a:xfrm>
            <a:off x="624419" y="3553513"/>
            <a:ext cx="4858872" cy="720725"/>
          </a:xfrm>
          <a:prstGeom prst="roundRect">
            <a:avLst>
              <a:gd name="adj" fmla="val 15574"/>
            </a:avLst>
          </a:prstGeom>
          <a:solidFill>
            <a:srgbClr val="D3E4FC">
              <a:alpha val="90000"/>
            </a:srgbClr>
          </a:solidFill>
          <a:ln w="38100" algn="ctr">
            <a:noFill/>
            <a:round/>
          </a:ln>
          <a:effectLst/>
        </p:spPr>
        <p:txBody>
          <a:bodyPr lIns="144000" rIns="108000" anchor="ctr"/>
          <a:lstStyle/>
          <a:p>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圆角矩形 8"/>
          <p:cNvSpPr/>
          <p:nvPr userDrawn="1"/>
        </p:nvSpPr>
        <p:spPr bwMode="auto">
          <a:xfrm>
            <a:off x="639237" y="4485842"/>
            <a:ext cx="4858872" cy="720725"/>
          </a:xfrm>
          <a:prstGeom prst="roundRect">
            <a:avLst>
              <a:gd name="adj" fmla="val 15574"/>
            </a:avLst>
          </a:prstGeom>
          <a:solidFill>
            <a:srgbClr val="B7D5FF">
              <a:alpha val="90000"/>
            </a:srgbClr>
          </a:solidFill>
          <a:ln w="38100" algn="ctr">
            <a:noFill/>
            <a:round/>
          </a:ln>
          <a:effectLst/>
        </p:spPr>
        <p:txBody>
          <a:bodyPr lIns="144000" rIns="108000" anchor="ctr"/>
          <a:lstStyle/>
          <a:p>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圆角矩形 9"/>
          <p:cNvSpPr/>
          <p:nvPr userDrawn="1"/>
        </p:nvSpPr>
        <p:spPr bwMode="auto">
          <a:xfrm>
            <a:off x="624417" y="5418171"/>
            <a:ext cx="4858872" cy="720725"/>
          </a:xfrm>
          <a:prstGeom prst="roundRect">
            <a:avLst>
              <a:gd name="adj" fmla="val 15574"/>
            </a:avLst>
          </a:prstGeom>
          <a:solidFill>
            <a:srgbClr val="D3E4FC">
              <a:alpha val="90000"/>
            </a:srgbClr>
          </a:solidFill>
          <a:ln w="38100" algn="ctr">
            <a:noFill/>
            <a:round/>
          </a:ln>
          <a:effectLst/>
        </p:spPr>
        <p:txBody>
          <a:bodyPr lIns="144000" rIns="108000" anchor="ctr"/>
          <a:lstStyle/>
          <a:p>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圆角矩形 10"/>
          <p:cNvSpPr/>
          <p:nvPr userDrawn="1"/>
        </p:nvSpPr>
        <p:spPr bwMode="auto">
          <a:xfrm>
            <a:off x="6591141" y="2621184"/>
            <a:ext cx="4893895" cy="720725"/>
          </a:xfrm>
          <a:prstGeom prst="roundRect">
            <a:avLst>
              <a:gd name="adj" fmla="val 15574"/>
            </a:avLst>
          </a:prstGeom>
          <a:solidFill>
            <a:srgbClr val="B7D5FF">
              <a:alpha val="90000"/>
            </a:srgbClr>
          </a:solidFill>
          <a:ln w="38100" algn="ctr">
            <a:noFill/>
            <a:round/>
          </a:ln>
          <a:effectLst/>
        </p:spPr>
        <p:txBody>
          <a:bodyPr lIns="144000" rIns="108000" anchor="ctr"/>
          <a:lstStyle/>
          <a:p>
            <a:pPr algn="ctr"/>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圆角矩形 11"/>
          <p:cNvSpPr/>
          <p:nvPr userDrawn="1"/>
        </p:nvSpPr>
        <p:spPr bwMode="auto">
          <a:xfrm>
            <a:off x="6576983" y="3553512"/>
            <a:ext cx="4908051" cy="720725"/>
          </a:xfrm>
          <a:prstGeom prst="roundRect">
            <a:avLst>
              <a:gd name="adj" fmla="val 15574"/>
            </a:avLst>
          </a:prstGeom>
          <a:solidFill>
            <a:srgbClr val="D3E4FC">
              <a:alpha val="90000"/>
            </a:srgbClr>
          </a:solidFill>
          <a:ln w="38100" algn="ctr">
            <a:noFill/>
            <a:round/>
          </a:ln>
          <a:effectLst/>
        </p:spPr>
        <p:txBody>
          <a:bodyPr lIns="144000" rIns="108000" anchor="ctr"/>
          <a:lstStyle/>
          <a:p>
            <a:pPr algn="ctr"/>
            <a:endParaRPr lang="en-US" altLang="zh-CN"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圆角矩形 12"/>
          <p:cNvSpPr/>
          <p:nvPr userDrawn="1"/>
        </p:nvSpPr>
        <p:spPr bwMode="auto">
          <a:xfrm>
            <a:off x="6591803" y="4485842"/>
            <a:ext cx="4908051" cy="720725"/>
          </a:xfrm>
          <a:prstGeom prst="roundRect">
            <a:avLst>
              <a:gd name="adj" fmla="val 15574"/>
            </a:avLst>
          </a:prstGeom>
          <a:solidFill>
            <a:srgbClr val="B7D5FF">
              <a:alpha val="90000"/>
            </a:srgbClr>
          </a:solidFill>
          <a:ln w="38100" algn="ctr">
            <a:noFill/>
            <a:round/>
          </a:ln>
          <a:effectLst/>
        </p:spPr>
        <p:txBody>
          <a:bodyPr lIns="144000" rIns="108000" anchor="ctr"/>
          <a:lstStyle/>
          <a:p>
            <a:pPr algn="ctr"/>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14" name="圆角矩形 13"/>
          <p:cNvSpPr/>
          <p:nvPr userDrawn="1"/>
        </p:nvSpPr>
        <p:spPr bwMode="auto">
          <a:xfrm>
            <a:off x="6576983" y="5418171"/>
            <a:ext cx="4908051" cy="720725"/>
          </a:xfrm>
          <a:prstGeom prst="roundRect">
            <a:avLst>
              <a:gd name="adj" fmla="val 15574"/>
            </a:avLst>
          </a:prstGeom>
          <a:solidFill>
            <a:srgbClr val="D3E4FC">
              <a:alpha val="90000"/>
            </a:srgbClr>
          </a:solidFill>
          <a:ln w="38100" algn="ctr">
            <a:noFill/>
            <a:round/>
          </a:ln>
          <a:effectLst/>
        </p:spPr>
        <p:txBody>
          <a:bodyPr lIns="144000" rIns="108000" anchor="ctr"/>
          <a:lstStyle/>
          <a:p>
            <a:pPr algn="ctr"/>
            <a:endPar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右箭头 14"/>
          <p:cNvSpPr/>
          <p:nvPr userDrawn="1"/>
        </p:nvSpPr>
        <p:spPr>
          <a:xfrm>
            <a:off x="5761570" y="2802951"/>
            <a:ext cx="573617" cy="357188"/>
          </a:xfrm>
          <a:prstGeom prst="rightArrow">
            <a:avLst>
              <a:gd name="adj1" fmla="val 50001"/>
              <a:gd name="adj2" fmla="val 5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右箭头 15"/>
          <p:cNvSpPr/>
          <p:nvPr userDrawn="1"/>
        </p:nvSpPr>
        <p:spPr>
          <a:xfrm>
            <a:off x="5761570" y="3736733"/>
            <a:ext cx="573617" cy="357188"/>
          </a:xfrm>
          <a:prstGeom prst="rightArrow">
            <a:avLst>
              <a:gd name="adj1" fmla="val 50001"/>
              <a:gd name="adj2" fmla="val 5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右箭头 16"/>
          <p:cNvSpPr/>
          <p:nvPr userDrawn="1"/>
        </p:nvSpPr>
        <p:spPr>
          <a:xfrm>
            <a:off x="5758148" y="4667609"/>
            <a:ext cx="573617" cy="357188"/>
          </a:xfrm>
          <a:prstGeom prst="rightArrow">
            <a:avLst>
              <a:gd name="adj1" fmla="val 50001"/>
              <a:gd name="adj2" fmla="val 5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右箭头 17"/>
          <p:cNvSpPr/>
          <p:nvPr userDrawn="1"/>
        </p:nvSpPr>
        <p:spPr>
          <a:xfrm>
            <a:off x="5758148" y="5598095"/>
            <a:ext cx="573617" cy="357188"/>
          </a:xfrm>
          <a:prstGeom prst="rightArrow">
            <a:avLst>
              <a:gd name="adj1" fmla="val 50001"/>
              <a:gd name="adj2" fmla="val 53196"/>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文本占位符 18"/>
          <p:cNvSpPr>
            <a:spLocks noGrp="1"/>
          </p:cNvSpPr>
          <p:nvPr>
            <p:ph type="body" sz="quarter" idx="11" hasCustomPrompt="1"/>
          </p:nvPr>
        </p:nvSpPr>
        <p:spPr>
          <a:xfrm>
            <a:off x="662163" y="1807046"/>
            <a:ext cx="5098483" cy="543938"/>
          </a:xfrm>
          <a:prstGeom prst="rect">
            <a:avLst/>
          </a:prstGeom>
        </p:spPr>
        <p:txBody>
          <a:bodyPr anchor="ctr"/>
          <a:lstStyle>
            <a:lvl1pPr marL="0" indent="0" algn="ctr">
              <a:buNone/>
              <a:defRPr lang="zh-CN" altLang="en-US" sz="2400" b="1" kern="1200" dirty="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0" name="文本占位符 18"/>
          <p:cNvSpPr>
            <a:spLocks noGrp="1"/>
          </p:cNvSpPr>
          <p:nvPr>
            <p:ph type="body" sz="quarter" idx="12" hasCustomPrompt="1"/>
          </p:nvPr>
        </p:nvSpPr>
        <p:spPr>
          <a:xfrm>
            <a:off x="6401371" y="1804942"/>
            <a:ext cx="5098483" cy="543938"/>
          </a:xfrm>
          <a:prstGeom prst="rect">
            <a:avLst/>
          </a:prstGeom>
        </p:spPr>
        <p:txBody>
          <a:bodyPr anchor="ctr"/>
          <a:lstStyle>
            <a:lvl1pPr marL="0" indent="0" algn="ctr">
              <a:buNone/>
              <a:defRPr lang="zh-CN" altLang="en-US" sz="2400" b="1" kern="1200" dirty="0">
                <a:solidFill>
                  <a:schemeClr val="bg1"/>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2" name="文本占位符 21"/>
          <p:cNvSpPr>
            <a:spLocks noGrp="1"/>
          </p:cNvSpPr>
          <p:nvPr>
            <p:ph type="body" sz="quarter" idx="13" hasCustomPrompt="1"/>
          </p:nvPr>
        </p:nvSpPr>
        <p:spPr>
          <a:xfrm>
            <a:off x="767402" y="2615560"/>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3" name="文本占位符 21"/>
          <p:cNvSpPr>
            <a:spLocks noGrp="1"/>
          </p:cNvSpPr>
          <p:nvPr>
            <p:ph type="body" sz="quarter" idx="14" hasCustomPrompt="1"/>
          </p:nvPr>
        </p:nvSpPr>
        <p:spPr>
          <a:xfrm>
            <a:off x="767401" y="3552540"/>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4" name="文本占位符 21"/>
          <p:cNvSpPr>
            <a:spLocks noGrp="1"/>
          </p:cNvSpPr>
          <p:nvPr>
            <p:ph type="body" sz="quarter" idx="15" hasCustomPrompt="1"/>
          </p:nvPr>
        </p:nvSpPr>
        <p:spPr>
          <a:xfrm>
            <a:off x="794418" y="4482159"/>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5" name="文本占位符 21"/>
          <p:cNvSpPr>
            <a:spLocks noGrp="1"/>
          </p:cNvSpPr>
          <p:nvPr>
            <p:ph type="body" sz="quarter" idx="16" hasCustomPrompt="1"/>
          </p:nvPr>
        </p:nvSpPr>
        <p:spPr>
          <a:xfrm>
            <a:off x="801618" y="5411778"/>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6" name="文本占位符 21"/>
          <p:cNvSpPr>
            <a:spLocks noGrp="1"/>
          </p:cNvSpPr>
          <p:nvPr>
            <p:ph type="body" sz="quarter" idx="17" hasCustomPrompt="1"/>
          </p:nvPr>
        </p:nvSpPr>
        <p:spPr>
          <a:xfrm>
            <a:off x="6744362" y="2618910"/>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7" name="文本占位符 21"/>
          <p:cNvSpPr>
            <a:spLocks noGrp="1"/>
          </p:cNvSpPr>
          <p:nvPr>
            <p:ph type="body" sz="quarter" idx="18" hasCustomPrompt="1"/>
          </p:nvPr>
        </p:nvSpPr>
        <p:spPr>
          <a:xfrm>
            <a:off x="6744361" y="3555890"/>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8" name="文本占位符 21"/>
          <p:cNvSpPr>
            <a:spLocks noGrp="1"/>
          </p:cNvSpPr>
          <p:nvPr>
            <p:ph type="body" sz="quarter" idx="19" hasCustomPrompt="1"/>
          </p:nvPr>
        </p:nvSpPr>
        <p:spPr>
          <a:xfrm>
            <a:off x="6771378" y="4485509"/>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
        <p:nvSpPr>
          <p:cNvPr id="29" name="文本占位符 21"/>
          <p:cNvSpPr>
            <a:spLocks noGrp="1"/>
          </p:cNvSpPr>
          <p:nvPr>
            <p:ph type="body" sz="quarter" idx="20" hasCustomPrompt="1"/>
          </p:nvPr>
        </p:nvSpPr>
        <p:spPr>
          <a:xfrm>
            <a:off x="6778578" y="5415128"/>
            <a:ext cx="4548511" cy="722666"/>
          </a:xfrm>
          <a:prstGeom prst="rect">
            <a:avLst/>
          </a:prstGeom>
        </p:spPr>
        <p:txBody>
          <a:bodyPr anchor="ctr"/>
          <a:lstStyle>
            <a:lvl1pPr marL="0" indent="0">
              <a:buNone/>
              <a:defRPr lang="zh-CN" altLang="en-US" sz="1800" kern="12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defRPr>
            </a:lvl1pPr>
          </a:lstStyle>
          <a:p>
            <a:pPr lvl="0"/>
            <a:r>
              <a:rPr lang="zh-CN" altLang="en-US" dirty="0"/>
              <a:t>文字</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矩形 2"/>
          <p:cNvSpPr/>
          <p:nvPr userDrawn="1"/>
        </p:nvSpPr>
        <p:spPr>
          <a:xfrm>
            <a:off x="1516050" y="1137512"/>
            <a:ext cx="9176631" cy="5064505"/>
          </a:xfrm>
          <a:prstGeom prst="rect">
            <a:avLst/>
          </a:prstGeom>
          <a:solidFill>
            <a:srgbClr val="EAF1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4" name="矩形 3"/>
          <p:cNvSpPr/>
          <p:nvPr userDrawn="1"/>
        </p:nvSpPr>
        <p:spPr>
          <a:xfrm>
            <a:off x="3056656" y="3676923"/>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5" name="矩形 4"/>
          <p:cNvSpPr/>
          <p:nvPr userDrawn="1"/>
        </p:nvSpPr>
        <p:spPr>
          <a:xfrm>
            <a:off x="3056656" y="4801582"/>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7" name="矩形 6"/>
          <p:cNvSpPr/>
          <p:nvPr userDrawn="1"/>
        </p:nvSpPr>
        <p:spPr>
          <a:xfrm>
            <a:off x="3056656" y="1583795"/>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8" name="矩形 7"/>
          <p:cNvSpPr/>
          <p:nvPr userDrawn="1"/>
        </p:nvSpPr>
        <p:spPr>
          <a:xfrm>
            <a:off x="3056656" y="2618910"/>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9" name="矩形 8"/>
          <p:cNvSpPr/>
          <p:nvPr userDrawn="1"/>
        </p:nvSpPr>
        <p:spPr>
          <a:xfrm>
            <a:off x="1315813" y="1674911"/>
            <a:ext cx="400473" cy="3989705"/>
          </a:xfrm>
          <a:prstGeom prst="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cxnSp>
        <p:nvCxnSpPr>
          <p:cNvPr id="10" name="直接连接符 9"/>
          <p:cNvCxnSpPr/>
          <p:nvPr userDrawn="1"/>
        </p:nvCxnSpPr>
        <p:spPr bwMode="auto">
          <a:xfrm>
            <a:off x="3183875" y="2367834"/>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椭圆 11"/>
          <p:cNvSpPr/>
          <p:nvPr userDrawn="1"/>
        </p:nvSpPr>
        <p:spPr>
          <a:xfrm>
            <a:off x="2546107" y="1602012"/>
            <a:ext cx="1021096" cy="765822"/>
          </a:xfrm>
          <a:prstGeom prst="ellipse">
            <a:avLst/>
          </a:prstGeom>
          <a:solidFill>
            <a:srgbClr val="0971CE"/>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3" name="直接连接符 12"/>
          <p:cNvCxnSpPr/>
          <p:nvPr userDrawn="1"/>
        </p:nvCxnSpPr>
        <p:spPr bwMode="auto">
          <a:xfrm>
            <a:off x="3183875" y="3394007"/>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bwMode="auto">
          <a:xfrm>
            <a:off x="3183875" y="4463996"/>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userDrawn="1"/>
        </p:nvSpPr>
        <p:spPr>
          <a:xfrm>
            <a:off x="2546107" y="2628185"/>
            <a:ext cx="1021096" cy="76582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椭圆 21"/>
          <p:cNvSpPr/>
          <p:nvPr userDrawn="1"/>
        </p:nvSpPr>
        <p:spPr>
          <a:xfrm>
            <a:off x="2546107" y="3698174"/>
            <a:ext cx="1021096" cy="765822"/>
          </a:xfrm>
          <a:prstGeom prst="ellipse">
            <a:avLst/>
          </a:prstGeom>
          <a:solidFill>
            <a:srgbClr val="0971CE"/>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椭圆 22"/>
          <p:cNvSpPr/>
          <p:nvPr userDrawn="1"/>
        </p:nvSpPr>
        <p:spPr>
          <a:xfrm>
            <a:off x="2546107" y="4823418"/>
            <a:ext cx="1021096" cy="76582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标题 1"/>
          <p:cNvSpPr>
            <a:spLocks noGrp="1"/>
          </p:cNvSpPr>
          <p:nvPr>
            <p:ph type="title" hasCustomPrompt="1"/>
          </p:nvPr>
        </p:nvSpPr>
        <p:spPr>
          <a:xfrm>
            <a:off x="321907" y="143635"/>
            <a:ext cx="8414387" cy="692978"/>
          </a:xfrm>
          <a:prstGeom prst="rect">
            <a:avLst/>
          </a:prstGeom>
        </p:spPr>
        <p:txBody>
          <a:bodyPr/>
          <a:lstStyle>
            <a:lvl1pPr>
              <a:defRPr sz="3600">
                <a:solidFill>
                  <a:srgbClr val="3D58A7"/>
                </a:solidFill>
              </a:defRPr>
            </a:lvl1pPr>
          </a:lstStyle>
          <a:p>
            <a:r>
              <a:rPr lang="zh-CN" altLang="en-US" dirty="0"/>
              <a:t>汇报提纲</a:t>
            </a:r>
            <a:endParaRPr lang="zh-CN" altLang="en-US" dirty="0"/>
          </a:p>
        </p:txBody>
      </p:sp>
      <p:sp>
        <p:nvSpPr>
          <p:cNvPr id="27" name="文本占位符 26"/>
          <p:cNvSpPr>
            <a:spLocks noGrp="1"/>
          </p:cNvSpPr>
          <p:nvPr>
            <p:ph type="body" sz="quarter" idx="10" hasCustomPrompt="1"/>
          </p:nvPr>
        </p:nvSpPr>
        <p:spPr>
          <a:xfrm>
            <a:off x="4235794" y="1602012"/>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研究背景与意义</a:t>
            </a:r>
            <a:endParaRPr lang="zh-CN" altLang="en-US" dirty="0"/>
          </a:p>
        </p:txBody>
      </p:sp>
      <p:sp>
        <p:nvSpPr>
          <p:cNvPr id="28" name="文本占位符 26"/>
          <p:cNvSpPr>
            <a:spLocks noGrp="1"/>
          </p:cNvSpPr>
          <p:nvPr>
            <p:ph type="body" sz="quarter" idx="11" hasCustomPrompt="1"/>
          </p:nvPr>
        </p:nvSpPr>
        <p:spPr>
          <a:xfrm>
            <a:off x="4235794" y="2629828"/>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研究目标与内容</a:t>
            </a:r>
            <a:endParaRPr lang="zh-CN" altLang="en-US" dirty="0"/>
          </a:p>
        </p:txBody>
      </p:sp>
      <p:sp>
        <p:nvSpPr>
          <p:cNvPr id="29" name="文本占位符 26"/>
          <p:cNvSpPr>
            <a:spLocks noGrp="1"/>
          </p:cNvSpPr>
          <p:nvPr>
            <p:ph type="body" sz="quarter" idx="12" hasCustomPrompt="1"/>
          </p:nvPr>
        </p:nvSpPr>
        <p:spPr>
          <a:xfrm>
            <a:off x="4235794" y="3697054"/>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任务分解与进度</a:t>
            </a:r>
            <a:endParaRPr lang="zh-CN" altLang="en-US" dirty="0"/>
          </a:p>
        </p:txBody>
      </p:sp>
      <p:sp>
        <p:nvSpPr>
          <p:cNvPr id="30" name="文本占位符 26"/>
          <p:cNvSpPr>
            <a:spLocks noGrp="1"/>
          </p:cNvSpPr>
          <p:nvPr>
            <p:ph type="body" sz="quarter" idx="13" hasCustomPrompt="1"/>
          </p:nvPr>
        </p:nvSpPr>
        <p:spPr>
          <a:xfrm>
            <a:off x="4235793" y="4787901"/>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预期成果与创新</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3" name="矩形 2"/>
          <p:cNvSpPr/>
          <p:nvPr userDrawn="1"/>
        </p:nvSpPr>
        <p:spPr>
          <a:xfrm>
            <a:off x="1516050" y="1137512"/>
            <a:ext cx="9176631" cy="5064505"/>
          </a:xfrm>
          <a:prstGeom prst="rect">
            <a:avLst/>
          </a:prstGeom>
          <a:solidFill>
            <a:srgbClr val="EAF1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4" name="矩形 3"/>
          <p:cNvSpPr/>
          <p:nvPr userDrawn="1"/>
        </p:nvSpPr>
        <p:spPr>
          <a:xfrm>
            <a:off x="3056656" y="4442127"/>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7" name="矩形 6"/>
          <p:cNvSpPr/>
          <p:nvPr userDrawn="1"/>
        </p:nvSpPr>
        <p:spPr>
          <a:xfrm>
            <a:off x="3056656" y="1871259"/>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8" name="矩形 7"/>
          <p:cNvSpPr/>
          <p:nvPr userDrawn="1"/>
        </p:nvSpPr>
        <p:spPr>
          <a:xfrm>
            <a:off x="3056656" y="3158970"/>
            <a:ext cx="6493297" cy="775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9" name="矩形 8"/>
          <p:cNvSpPr/>
          <p:nvPr userDrawn="1"/>
        </p:nvSpPr>
        <p:spPr>
          <a:xfrm>
            <a:off x="1315813" y="1674911"/>
            <a:ext cx="400473" cy="3989705"/>
          </a:xfrm>
          <a:prstGeom prst="rect">
            <a:avLst/>
          </a:pr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cxnSp>
        <p:nvCxnSpPr>
          <p:cNvPr id="10" name="直接连接符 9"/>
          <p:cNvCxnSpPr/>
          <p:nvPr userDrawn="1"/>
        </p:nvCxnSpPr>
        <p:spPr bwMode="auto">
          <a:xfrm>
            <a:off x="3183875" y="2655298"/>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椭圆 11"/>
          <p:cNvSpPr/>
          <p:nvPr userDrawn="1"/>
        </p:nvSpPr>
        <p:spPr>
          <a:xfrm>
            <a:off x="2546107" y="1889476"/>
            <a:ext cx="1021096" cy="765822"/>
          </a:xfrm>
          <a:prstGeom prst="ellipse">
            <a:avLst/>
          </a:prstGeom>
          <a:solidFill>
            <a:srgbClr val="0971CE"/>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3" name="直接连接符 12"/>
          <p:cNvCxnSpPr/>
          <p:nvPr userDrawn="1"/>
        </p:nvCxnSpPr>
        <p:spPr bwMode="auto">
          <a:xfrm>
            <a:off x="3183875" y="3934067"/>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bwMode="auto">
          <a:xfrm>
            <a:off x="3183875" y="5229200"/>
            <a:ext cx="636607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userDrawn="1"/>
        </p:nvSpPr>
        <p:spPr>
          <a:xfrm>
            <a:off x="2546107" y="3168245"/>
            <a:ext cx="1021096" cy="76582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椭圆 21"/>
          <p:cNvSpPr/>
          <p:nvPr userDrawn="1"/>
        </p:nvSpPr>
        <p:spPr>
          <a:xfrm>
            <a:off x="2546107" y="4463378"/>
            <a:ext cx="1021096" cy="765822"/>
          </a:xfrm>
          <a:prstGeom prst="ellipse">
            <a:avLst/>
          </a:prstGeom>
          <a:solidFill>
            <a:srgbClr val="0971CE"/>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a:t>
            </a:r>
            <a:endParaRPr lang="zh-CN" altLang="en-US" sz="3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标题 1"/>
          <p:cNvSpPr>
            <a:spLocks noGrp="1"/>
          </p:cNvSpPr>
          <p:nvPr>
            <p:ph type="title" hasCustomPrompt="1"/>
          </p:nvPr>
        </p:nvSpPr>
        <p:spPr>
          <a:xfrm>
            <a:off x="321907" y="143635"/>
            <a:ext cx="8414387" cy="692978"/>
          </a:xfrm>
          <a:prstGeom prst="rect">
            <a:avLst/>
          </a:prstGeom>
        </p:spPr>
        <p:txBody>
          <a:bodyPr/>
          <a:lstStyle>
            <a:lvl1pPr>
              <a:defRPr sz="3600">
                <a:solidFill>
                  <a:srgbClr val="3D58A7"/>
                </a:solidFill>
              </a:defRPr>
            </a:lvl1pPr>
          </a:lstStyle>
          <a:p>
            <a:r>
              <a:rPr lang="zh-CN" altLang="en-US" dirty="0"/>
              <a:t>汇报提纲</a:t>
            </a:r>
            <a:endParaRPr lang="zh-CN" altLang="en-US" dirty="0"/>
          </a:p>
        </p:txBody>
      </p:sp>
      <p:sp>
        <p:nvSpPr>
          <p:cNvPr id="27" name="文本占位符 26"/>
          <p:cNvSpPr>
            <a:spLocks noGrp="1"/>
          </p:cNvSpPr>
          <p:nvPr>
            <p:ph type="body" sz="quarter" idx="10" hasCustomPrompt="1"/>
          </p:nvPr>
        </p:nvSpPr>
        <p:spPr>
          <a:xfrm>
            <a:off x="4235794" y="1889476"/>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研究背景与意义</a:t>
            </a:r>
            <a:endParaRPr lang="zh-CN" altLang="en-US" dirty="0"/>
          </a:p>
        </p:txBody>
      </p:sp>
      <p:sp>
        <p:nvSpPr>
          <p:cNvPr id="28" name="文本占位符 26"/>
          <p:cNvSpPr>
            <a:spLocks noGrp="1"/>
          </p:cNvSpPr>
          <p:nvPr>
            <p:ph type="body" sz="quarter" idx="11" hasCustomPrompt="1"/>
          </p:nvPr>
        </p:nvSpPr>
        <p:spPr>
          <a:xfrm>
            <a:off x="4235794" y="3169888"/>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研究目标与内容</a:t>
            </a:r>
            <a:endParaRPr lang="zh-CN" altLang="en-US" dirty="0"/>
          </a:p>
        </p:txBody>
      </p:sp>
      <p:sp>
        <p:nvSpPr>
          <p:cNvPr id="29" name="文本占位符 26"/>
          <p:cNvSpPr>
            <a:spLocks noGrp="1"/>
          </p:cNvSpPr>
          <p:nvPr>
            <p:ph type="body" sz="quarter" idx="12" hasCustomPrompt="1"/>
          </p:nvPr>
        </p:nvSpPr>
        <p:spPr>
          <a:xfrm>
            <a:off x="4235794" y="4462258"/>
            <a:ext cx="5248111" cy="753262"/>
          </a:xfrm>
          <a:prstGeom prst="rect">
            <a:avLst/>
          </a:prstGeom>
        </p:spPr>
        <p:txBody>
          <a:bodyPr anchor="ctr"/>
          <a:lstStyle>
            <a:lvl1pPr marL="0" indent="0">
              <a:buFontTx/>
              <a:buNone/>
              <a:defRPr sz="3200" b="1">
                <a:latin typeface="微软雅黑" panose="020B0503020204020204" pitchFamily="34" charset="-122"/>
                <a:ea typeface="微软雅黑" panose="020B0503020204020204" pitchFamily="34" charset="-122"/>
              </a:defRPr>
            </a:lvl1pPr>
          </a:lstStyle>
          <a:p>
            <a:pPr lvl="0"/>
            <a:r>
              <a:rPr lang="zh-CN" altLang="en-US" dirty="0"/>
              <a:t>任务分解与进度</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12" name="矩形 11"/>
          <p:cNvSpPr/>
          <p:nvPr userDrawn="1"/>
        </p:nvSpPr>
        <p:spPr>
          <a:xfrm>
            <a:off x="-1" y="444500"/>
            <a:ext cx="53975" cy="254408"/>
          </a:xfrm>
          <a:prstGeom prst="rect">
            <a:avLst/>
          </a:prstGeom>
          <a:solidFill>
            <a:srgbClr val="00B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幻灯片编号占位符 5"/>
          <p:cNvSpPr txBox="1"/>
          <p:nvPr userDrawn="1"/>
        </p:nvSpPr>
        <p:spPr>
          <a:xfrm>
            <a:off x="321528" y="6409168"/>
            <a:ext cx="615614" cy="234618"/>
          </a:xfrm>
          <a:prstGeom prst="rect">
            <a:avLst/>
          </a:prstGeom>
          <a:noFill/>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96F2763-E266-0E48-B43D-46A209AB6A60}" type="slidenum">
              <a:rPr kumimoji="1" lang="zh-CN" altLang="en-US" sz="600" b="0" i="0" spc="100" baseline="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fld>
            <a:endParaRPr kumimoji="1" lang="zh-CN" altLang="en-US" sz="600" b="0" i="0" spc="10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副标题 2"/>
          <p:cNvSpPr>
            <a:spLocks noGrp="1"/>
          </p:cNvSpPr>
          <p:nvPr>
            <p:ph type="subTitle" idx="1" hasCustomPrompt="1"/>
          </p:nvPr>
        </p:nvSpPr>
        <p:spPr>
          <a:xfrm>
            <a:off x="572250" y="383095"/>
            <a:ext cx="11047498" cy="767788"/>
          </a:xfrm>
        </p:spPr>
        <p:txBody>
          <a:bodyPr>
            <a:normAutofit/>
          </a:bodyPr>
          <a:lstStyle>
            <a:lvl1pPr marL="0" indent="0" algn="l">
              <a:lnSpc>
                <a:spcPct val="90000"/>
              </a:lnSpc>
              <a:buNone/>
              <a:defRPr sz="2200" b="1" i="0" spc="25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请单击此处添加页面标题</a:t>
            </a:r>
            <a:endParaRPr kumimoji="1" lang="en-US" altLang="zh-CN" dirty="0"/>
          </a:p>
        </p:txBody>
      </p:sp>
      <p:sp>
        <p:nvSpPr>
          <p:cNvPr id="16" name="Content Placeholder 2"/>
          <p:cNvSpPr>
            <a:spLocks noGrp="1"/>
          </p:cNvSpPr>
          <p:nvPr>
            <p:ph idx="10" hasCustomPrompt="1"/>
          </p:nvPr>
        </p:nvSpPr>
        <p:spPr>
          <a:xfrm>
            <a:off x="572250" y="1237070"/>
            <a:ext cx="11047498" cy="5077348"/>
          </a:xfrm>
          <a:prstGeom prst="rect">
            <a:avLst/>
          </a:prstGeom>
        </p:spPr>
        <p:txBody>
          <a:bodyPr lIns="0" tIns="0" rIns="0" bIns="0">
            <a:normAutofit/>
          </a:bodyPr>
          <a:lstStyle>
            <a:lvl1pPr marL="12065" indent="0">
              <a:lnSpc>
                <a:spcPct val="100000"/>
              </a:lnSpc>
              <a:spcBef>
                <a:spcPts val="0"/>
              </a:spcBef>
              <a:buFontTx/>
              <a:buNone/>
              <a:tabLst>
                <a:tab pos="1208405" algn="ctr"/>
              </a:tabLst>
              <a:defRPr sz="1400" spc="25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525780" indent="-171450">
              <a:buFont typeface="Arial" panose="020B0604020202020204" pitchFamily="34" charset="0"/>
              <a:buChar char="•"/>
              <a:tabLst>
                <a:tab pos="1208405" algn="ctr"/>
              </a:tabLst>
              <a:defRPr sz="1300" baseline="0"/>
            </a:lvl2pPr>
            <a:lvl3pPr marL="525780" indent="-171450">
              <a:buFont typeface="Arial" panose="020B0604020202020204" pitchFamily="34" charset="0"/>
              <a:buChar char="•"/>
              <a:tabLst>
                <a:tab pos="1208405" algn="ctr"/>
              </a:tabLst>
              <a:defRPr sz="1300" baseline="0"/>
            </a:lvl3pPr>
            <a:lvl4pPr marL="525780" indent="-171450">
              <a:buFont typeface="Arial" panose="020B0604020202020204" pitchFamily="34" charset="0"/>
              <a:buChar char="•"/>
              <a:tabLst>
                <a:tab pos="1208405" algn="ctr"/>
              </a:tabLst>
              <a:defRPr sz="1300" baseline="0"/>
            </a:lvl4pPr>
            <a:lvl5pPr marL="525780" indent="-171450">
              <a:buFont typeface="Arial" panose="020B0604020202020204" pitchFamily="34" charset="0"/>
              <a:buChar char="•"/>
              <a:tabLst>
                <a:tab pos="1208405" algn="ctr"/>
              </a:tabLst>
              <a:defRPr sz="1300" baseline="0"/>
            </a:lvl5pPr>
          </a:lstStyle>
          <a:p>
            <a:pPr lvl="0"/>
            <a:r>
              <a:rPr lang="zh-CN" altLang="en-US" dirty="0"/>
              <a:t>请单击此处添加文本</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image" Target="../media/image3.png"/><Relationship Id="rId24" Type="http://schemas.openxmlformats.org/officeDocument/2006/relationships/image" Target="../media/image11.png"/><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16"/>
          <p:cNvSpPr>
            <a:spLocks noChangeArrowheads="1"/>
          </p:cNvSpPr>
          <p:nvPr userDrawn="1"/>
        </p:nvSpPr>
        <p:spPr bwMode="auto">
          <a:xfrm>
            <a:off x="11462908" y="6467089"/>
            <a:ext cx="394659" cy="276999"/>
          </a:xfrm>
          <a:prstGeom prst="rect">
            <a:avLst/>
          </a:prstGeom>
          <a:noFill/>
          <a:ln w="9525">
            <a:noFill/>
            <a:miter lim="800000"/>
          </a:ln>
          <a:effectLst/>
        </p:spPr>
        <p:txBody>
          <a:bodyPr wrap="none" anchor="ctr">
            <a:spAutoFit/>
          </a:bodyPr>
          <a:lstStyle/>
          <a:p>
            <a:pPr algn="r" fontAlgn="auto">
              <a:spcBef>
                <a:spcPts val="0"/>
              </a:spcBef>
              <a:spcAft>
                <a:spcPts val="0"/>
              </a:spcAft>
              <a:defRPr/>
            </a:pPr>
            <a:fld id="{C3362BD3-500A-47BE-B11A-83B038B63C47}" type="slidenum">
              <a:rPr lang="en-US" altLang="zh-CN" sz="1200" b="1" kern="10" smtClean="0">
                <a:ln w="9525">
                  <a:noFill/>
                  <a:round/>
                </a:ln>
                <a:gradFill rotWithShape="1">
                  <a:gsLst>
                    <a:gs pos="0">
                      <a:schemeClr val="tx1">
                        <a:lumMod val="75000"/>
                        <a:lumOff val="25000"/>
                      </a:schemeClr>
                    </a:gs>
                    <a:gs pos="100000">
                      <a:schemeClr val="tx1">
                        <a:lumMod val="75000"/>
                        <a:lumOff val="25000"/>
                      </a:schemeClr>
                    </a:gs>
                  </a:gsLst>
                  <a:lin ang="5400000" scaled="1"/>
                </a:gradFill>
                <a:latin typeface="微软雅黑" panose="020B0503020204020204" pitchFamily="34" charset="-122"/>
                <a:ea typeface="微软雅黑" panose="020B0503020204020204" pitchFamily="34" charset="-122"/>
                <a:cs typeface="Arial" panose="020B0604020202020204" pitchFamily="34" charset="0"/>
              </a:rPr>
            </a:fld>
            <a:endParaRPr lang="en-US" altLang="zh-CN" sz="1050" b="1" kern="10" dirty="0">
              <a:ln w="9525">
                <a:noFill/>
                <a:round/>
              </a:ln>
              <a:gradFill rotWithShape="1">
                <a:gsLst>
                  <a:gs pos="0">
                    <a:schemeClr val="tx1">
                      <a:lumMod val="75000"/>
                      <a:lumOff val="25000"/>
                    </a:schemeClr>
                  </a:gs>
                  <a:gs pos="100000">
                    <a:schemeClr val="tx1">
                      <a:lumMod val="75000"/>
                      <a:lumOff val="25000"/>
                    </a:schemeClr>
                  </a:gs>
                </a:gsLst>
                <a:lin ang="5400000" scaled="1"/>
              </a:gra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Line 11"/>
          <p:cNvSpPr>
            <a:spLocks noChangeShapeType="1"/>
          </p:cNvSpPr>
          <p:nvPr userDrawn="1"/>
        </p:nvSpPr>
        <p:spPr bwMode="auto">
          <a:xfrm flipH="1">
            <a:off x="334434" y="6381750"/>
            <a:ext cx="11523133" cy="0"/>
          </a:xfrm>
          <a:prstGeom prst="line">
            <a:avLst/>
          </a:prstGeom>
          <a:noFill/>
          <a:ln w="19050">
            <a:solidFill>
              <a:srgbClr val="8497B0"/>
            </a:solidFill>
            <a:round/>
          </a:ln>
        </p:spPr>
        <p:txBody>
          <a:bodyPr/>
          <a:lstStyle/>
          <a:p>
            <a:pPr fontAlgn="auto">
              <a:spcBef>
                <a:spcPts val="0"/>
              </a:spcBef>
              <a:spcAft>
                <a:spcPts val="0"/>
              </a:spcAft>
              <a:defRPr/>
            </a:pPr>
            <a:endParaRPr lang="zh-CN" altLang="en-US" sz="1800">
              <a:latin typeface="+mn-lt"/>
              <a:ea typeface="+mn-ea"/>
            </a:endParaRPr>
          </a:p>
        </p:txBody>
      </p:sp>
      <p:sp>
        <p:nvSpPr>
          <p:cNvPr id="10" name="平行四边形 9"/>
          <p:cNvSpPr/>
          <p:nvPr userDrawn="1"/>
        </p:nvSpPr>
        <p:spPr>
          <a:xfrm>
            <a:off x="8688288" y="720822"/>
            <a:ext cx="3503712" cy="72008"/>
          </a:xfrm>
          <a:custGeom>
            <a:avLst/>
            <a:gdLst>
              <a:gd name="connsiteX0" fmla="*/ 0 w 2627784"/>
              <a:gd name="connsiteY0" fmla="*/ 144016 h 144016"/>
              <a:gd name="connsiteX1" fmla="*/ 79565 w 2627784"/>
              <a:gd name="connsiteY1" fmla="*/ 0 h 144016"/>
              <a:gd name="connsiteX2" fmla="*/ 2627784 w 2627784"/>
              <a:gd name="connsiteY2" fmla="*/ 0 h 144016"/>
              <a:gd name="connsiteX3" fmla="*/ 2548219 w 2627784"/>
              <a:gd name="connsiteY3" fmla="*/ 144016 h 144016"/>
              <a:gd name="connsiteX4" fmla="*/ 0 w 2627784"/>
              <a:gd name="connsiteY4" fmla="*/ 144016 h 144016"/>
              <a:gd name="connsiteX0-1" fmla="*/ 0 w 2627784"/>
              <a:gd name="connsiteY0-2" fmla="*/ 144016 h 144016"/>
              <a:gd name="connsiteX1-3" fmla="*/ 79565 w 2627784"/>
              <a:gd name="connsiteY1-4" fmla="*/ 0 h 144016"/>
              <a:gd name="connsiteX2-5" fmla="*/ 2627784 w 2627784"/>
              <a:gd name="connsiteY2-6" fmla="*/ 0 h 144016"/>
              <a:gd name="connsiteX3-7" fmla="*/ 2626507 w 2627784"/>
              <a:gd name="connsiteY3-8" fmla="*/ 140885 h 144016"/>
              <a:gd name="connsiteX4-9" fmla="*/ 0 w 2627784"/>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27784" h="144016">
                <a:moveTo>
                  <a:pt x="0" y="144016"/>
                </a:moveTo>
                <a:lnTo>
                  <a:pt x="79565" y="0"/>
                </a:lnTo>
                <a:lnTo>
                  <a:pt x="2627784" y="0"/>
                </a:lnTo>
                <a:cubicBezTo>
                  <a:pt x="2627358" y="46962"/>
                  <a:pt x="2626933" y="93923"/>
                  <a:pt x="2626507" y="140885"/>
                </a:cubicBezTo>
                <a:lnTo>
                  <a:pt x="0" y="144016"/>
                </a:lnTo>
                <a:close/>
              </a:path>
            </a:pathLst>
          </a:custGeom>
          <a:solidFill>
            <a:srgbClr val="D3E4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平行四边形 10"/>
          <p:cNvSpPr/>
          <p:nvPr userDrawn="1"/>
        </p:nvSpPr>
        <p:spPr>
          <a:xfrm>
            <a:off x="-2473" y="720822"/>
            <a:ext cx="8690760" cy="72008"/>
          </a:xfrm>
          <a:custGeom>
            <a:avLst/>
            <a:gdLst>
              <a:gd name="connsiteX0" fmla="*/ 0 w 6516215"/>
              <a:gd name="connsiteY0" fmla="*/ 144016 h 144016"/>
              <a:gd name="connsiteX1" fmla="*/ 79565 w 6516215"/>
              <a:gd name="connsiteY1" fmla="*/ 0 h 144016"/>
              <a:gd name="connsiteX2" fmla="*/ 6516215 w 6516215"/>
              <a:gd name="connsiteY2" fmla="*/ 0 h 144016"/>
              <a:gd name="connsiteX3" fmla="*/ 6436650 w 6516215"/>
              <a:gd name="connsiteY3" fmla="*/ 144016 h 144016"/>
              <a:gd name="connsiteX4" fmla="*/ 0 w 6516215"/>
              <a:gd name="connsiteY4" fmla="*/ 144016 h 144016"/>
              <a:gd name="connsiteX0-1" fmla="*/ 1855 w 6518070"/>
              <a:gd name="connsiteY0-2" fmla="*/ 144016 h 144016"/>
              <a:gd name="connsiteX1-3" fmla="*/ 0 w 6518070"/>
              <a:gd name="connsiteY1-4" fmla="*/ 0 h 144016"/>
              <a:gd name="connsiteX2-5" fmla="*/ 6518070 w 6518070"/>
              <a:gd name="connsiteY2-6" fmla="*/ 0 h 144016"/>
              <a:gd name="connsiteX3-7" fmla="*/ 6438505 w 6518070"/>
              <a:gd name="connsiteY3-8" fmla="*/ 144016 h 144016"/>
              <a:gd name="connsiteX4-9" fmla="*/ 1855 w 6518070"/>
              <a:gd name="connsiteY4-10" fmla="*/ 144016 h 1440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518070" h="144016">
                <a:moveTo>
                  <a:pt x="1855" y="144016"/>
                </a:moveTo>
                <a:cubicBezTo>
                  <a:pt x="1237" y="96011"/>
                  <a:pt x="618" y="48005"/>
                  <a:pt x="0" y="0"/>
                </a:cubicBezTo>
                <a:lnTo>
                  <a:pt x="6518070" y="0"/>
                </a:lnTo>
                <a:lnTo>
                  <a:pt x="6438505" y="144016"/>
                </a:lnTo>
                <a:lnTo>
                  <a:pt x="1855" y="144016"/>
                </a:lnTo>
                <a:close/>
              </a:path>
            </a:pathLst>
          </a:custGeom>
          <a:solidFill>
            <a:srgbClr val="0971CE"/>
          </a:solidFill>
          <a:ln>
            <a:solidFill>
              <a:srgbClr val="156B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 name="图片 1"/>
          <p:cNvPicPr>
            <a:picLocks noChangeAspect="1"/>
          </p:cNvPicPr>
          <p:nvPr userDrawn="1"/>
        </p:nvPicPr>
        <p:blipFill rotWithShape="1">
          <a:blip r:embed="rId24"/>
          <a:srcRect l="23097"/>
          <a:stretch>
            <a:fillRect/>
          </a:stretch>
        </p:blipFill>
        <p:spPr>
          <a:xfrm>
            <a:off x="9908776" y="125963"/>
            <a:ext cx="1950630" cy="479243"/>
          </a:xfrm>
          <a:prstGeom prst="rect">
            <a:avLst/>
          </a:prstGeom>
        </p:spPr>
      </p:pic>
      <p:pic>
        <p:nvPicPr>
          <p:cNvPr id="3" name="图片 2" descr="徽标&#10;&#10;描述已自动生成"/>
          <p:cNvPicPr>
            <a:picLocks noChangeAspect="1"/>
          </p:cNvPicPr>
          <p:nvPr userDrawn="1"/>
        </p:nvPicPr>
        <p:blipFill rotWithShape="1">
          <a:blip r:embed="rId25"/>
          <a:srcRect l="11692" t="9040" r="14818" b="9596"/>
          <a:stretch>
            <a:fillRect/>
          </a:stretch>
        </p:blipFill>
        <p:spPr>
          <a:xfrm>
            <a:off x="9111335" y="20375"/>
            <a:ext cx="675075" cy="690418"/>
          </a:xfrm>
          <a:prstGeom prst="rect">
            <a:avLst/>
          </a:prstGeom>
        </p:spPr>
      </p:pic>
      <p:sp>
        <p:nvSpPr>
          <p:cNvPr id="4" name="文本框 3"/>
          <p:cNvSpPr txBox="1"/>
          <p:nvPr userDrawn="1"/>
        </p:nvSpPr>
        <p:spPr>
          <a:xfrm>
            <a:off x="200346" y="6420922"/>
            <a:ext cx="4860540" cy="307777"/>
          </a:xfrm>
          <a:prstGeom prst="rect">
            <a:avLst/>
          </a:prstGeom>
          <a:noFill/>
        </p:spPr>
        <p:txBody>
          <a:bodyPr wrap="square" rtlCol="0">
            <a:spAutoFit/>
          </a:bodyPr>
          <a:lstStyle/>
          <a:p>
            <a:pPr algn="ctr"/>
            <a:r>
              <a:rPr lang="zh-CN" altLang="en-US" sz="1400" dirty="0">
                <a:solidFill>
                  <a:srgbClr val="113380"/>
                </a:solidFill>
                <a:latin typeface="楷体" panose="02010609060101010101" pitchFamily="49" charset="-122"/>
                <a:ea typeface="楷体" panose="02010609060101010101" pitchFamily="49" charset="-122"/>
              </a:rPr>
              <a:t>智能信息处理与通信技术省高校重点实验室（南京邮电大学）</a:t>
            </a:r>
            <a:endParaRPr lang="zh-CN" altLang="en-US" sz="1400" dirty="0">
              <a:solidFill>
                <a:srgbClr val="113380"/>
              </a:solidFill>
              <a:latin typeface="楷体" panose="02010609060101010101" pitchFamily="49" charset="-122"/>
              <a:ea typeface="楷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sz="4000" dirty="0"/>
              <a:t>“</a:t>
            </a:r>
            <a:r>
              <a:rPr lang="zh-CN" altLang="en-US" sz="4000" dirty="0"/>
              <a:t>电子杯</a:t>
            </a:r>
            <a:r>
              <a:rPr lang="en-US" altLang="zh-CN" sz="4000" dirty="0"/>
              <a:t>”</a:t>
            </a:r>
            <a:r>
              <a:rPr lang="zh-CN" altLang="en-US" sz="4000" dirty="0"/>
              <a:t>赛题八</a:t>
            </a:r>
            <a:endParaRPr lang="zh-CN" altLang="en-US" sz="4000" dirty="0"/>
          </a:p>
        </p:txBody>
      </p:sp>
      <p:sp>
        <p:nvSpPr>
          <p:cNvPr id="3" name="文本占位符 2"/>
          <p:cNvSpPr>
            <a:spLocks noGrp="1"/>
          </p:cNvSpPr>
          <p:nvPr>
            <p:ph type="body" sz="quarter" idx="11"/>
          </p:nvPr>
        </p:nvSpPr>
        <p:spPr/>
        <p:txBody>
          <a:bodyPr/>
          <a:lstStyle/>
          <a:p>
            <a:r>
              <a:rPr lang="zh-CN" altLang="en-US" sz="2400" b="1" dirty="0">
                <a:latin typeface="华文楷体" panose="02010600040101010101" pitchFamily="2" charset="-122"/>
                <a:ea typeface="华文楷体" panose="02010600040101010101" pitchFamily="2" charset="-122"/>
              </a:rPr>
              <a:t>智能信息处理与通信技术省高校重点实验室</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赛题原则</a:t>
            </a:r>
          </a:p>
        </p:txBody>
      </p:sp>
      <p:sp>
        <p:nvSpPr>
          <p:cNvPr id="3" name="Text Placeholder 2"/>
          <p:cNvSpPr>
            <a:spLocks noGrp="1"/>
          </p:cNvSpPr>
          <p:nvPr>
            <p:ph type="body" sz="quarter" idx="10"/>
          </p:nvPr>
        </p:nvSpPr>
        <p:spPr/>
        <p:txBody>
          <a:bodyPr/>
          <a:p>
            <a:r>
              <a:rPr lang="zh-CN" altLang="en-US" dirty="0">
                <a:solidFill>
                  <a:srgbClr val="C00000"/>
                </a:solidFill>
                <a:sym typeface="+mn-ea"/>
              </a:rPr>
              <a:t>多模态数据</a:t>
            </a:r>
            <a:r>
              <a:rPr lang="zh-CN" altLang="en-US" dirty="0">
                <a:solidFill>
                  <a:srgbClr val="103380"/>
                </a:solidFill>
                <a:sym typeface="+mn-ea"/>
              </a:rPr>
              <a:t>驱动的</a:t>
            </a:r>
            <a:r>
              <a:rPr lang="zh-CN" altLang="en-US" dirty="0">
                <a:solidFill>
                  <a:srgbClr val="103380"/>
                </a:solidFill>
                <a:highlight>
                  <a:srgbClr val="FFFF00"/>
                </a:highlight>
                <a:sym typeface="+mn-ea"/>
              </a:rPr>
              <a:t>可解释</a:t>
            </a:r>
            <a:r>
              <a:rPr lang="zh-CN" altLang="en-US" dirty="0">
                <a:solidFill>
                  <a:srgbClr val="103380"/>
                </a:solidFill>
                <a:sym typeface="+mn-ea"/>
              </a:rPr>
              <a:t>精准</a:t>
            </a:r>
            <a:r>
              <a:rPr lang="zh-CN" altLang="en-US" dirty="0">
                <a:solidFill>
                  <a:srgbClr val="103380"/>
                </a:solidFill>
                <a:highlight>
                  <a:srgbClr val="FFFF00"/>
                </a:highlight>
                <a:sym typeface="+mn-ea"/>
              </a:rPr>
              <a:t>问数/问答</a:t>
            </a:r>
            <a:r>
              <a:rPr lang="zh-CN" altLang="en-US" dirty="0">
                <a:solidFill>
                  <a:srgbClr val="103380"/>
                </a:solidFill>
                <a:sym typeface="+mn-ea"/>
              </a:rPr>
              <a:t>智能体</a:t>
            </a:r>
            <a:endParaRPr lang="zh-CN" altLang="en-US" dirty="0">
              <a:solidFill>
                <a:srgbClr val="103380"/>
              </a:solidFill>
              <a:sym typeface="+mn-ea"/>
            </a:endParaRPr>
          </a:p>
        </p:txBody>
      </p:sp>
      <p:sp>
        <p:nvSpPr>
          <p:cNvPr id="4" name="Text Box 3"/>
          <p:cNvSpPr txBox="1"/>
          <p:nvPr/>
        </p:nvSpPr>
        <p:spPr>
          <a:xfrm>
            <a:off x="514985" y="1584325"/>
            <a:ext cx="10251440" cy="4240530"/>
          </a:xfrm>
          <a:prstGeom prst="rect">
            <a:avLst/>
          </a:prstGeom>
          <a:noFill/>
        </p:spPr>
        <p:txBody>
          <a:bodyPr wrap="square" rtlCol="0">
            <a:noAutofit/>
          </a:bodyPr>
          <a:p>
            <a:pPr indent="0" algn="l">
              <a:lnSpc>
                <a:spcPct val="125000"/>
              </a:lnSpc>
              <a:spcBef>
                <a:spcPts val="0"/>
              </a:spcBef>
              <a:spcAft>
                <a:spcPts val="0"/>
              </a:spcAft>
              <a:buClrTx/>
              <a:buSzTx/>
              <a:buFont typeface="Wingdings" panose="05000000000000000000" charset="0"/>
              <a:buNone/>
            </a:pPr>
            <a:r>
              <a:rPr lang="zh-CN" altLang="en-US" sz="2000" dirty="0">
                <a:solidFill>
                  <a:srgbClr val="103380"/>
                </a:solidFill>
                <a:latin typeface="微软雅黑" panose="020B0503020204020204" pitchFamily="34" charset="-122"/>
                <a:ea typeface="微软雅黑" panose="020B0503020204020204" pitchFamily="34" charset="-122"/>
              </a:rPr>
              <a:t>让企业业务人员用自然语言提问，系统能够</a:t>
            </a:r>
            <a:r>
              <a:rPr lang="zh-CN" altLang="en-US" sz="2000" dirty="0">
                <a:solidFill>
                  <a:srgbClr val="C00000"/>
                </a:solidFill>
                <a:latin typeface="微软雅黑" panose="020B0503020204020204" pitchFamily="34" charset="-122"/>
                <a:ea typeface="微软雅黑" panose="020B0503020204020204" pitchFamily="34" charset="-122"/>
              </a:rPr>
              <a:t>判断问题含义</a:t>
            </a:r>
            <a:r>
              <a:rPr lang="zh-CN" altLang="en-US" sz="2000" dirty="0">
                <a:solidFill>
                  <a:srgbClr val="103380"/>
                </a:solidFill>
                <a:latin typeface="微软雅黑" panose="020B0503020204020204" pitchFamily="34" charset="-122"/>
                <a:ea typeface="微软雅黑" panose="020B0503020204020204" pitchFamily="34" charset="-122"/>
              </a:rPr>
              <a:t>，必要时</a:t>
            </a:r>
            <a:r>
              <a:rPr lang="zh-CN" altLang="en-US" sz="2000" dirty="0">
                <a:solidFill>
                  <a:srgbClr val="C00000"/>
                </a:solidFill>
                <a:latin typeface="微软雅黑" panose="020B0503020204020204" pitchFamily="34" charset="-122"/>
                <a:ea typeface="微软雅黑" panose="020B0503020204020204" pitchFamily="34" charset="-122"/>
              </a:rPr>
              <a:t>主动澄清</a:t>
            </a:r>
            <a:r>
              <a:rPr lang="zh-CN" altLang="en-US" sz="2000" dirty="0">
                <a:solidFill>
                  <a:srgbClr val="103380"/>
                </a:solidFill>
                <a:latin typeface="微软雅黑" panose="020B0503020204020204" pitchFamily="34" charset="-122"/>
                <a:ea typeface="微软雅黑" panose="020B0503020204020204" pitchFamily="34" charset="-122"/>
              </a:rPr>
              <a:t>，然后查询数据库、检索文档或同时</a:t>
            </a:r>
            <a:r>
              <a:rPr lang="zh-CN" altLang="en-US" sz="2000" dirty="0">
                <a:solidFill>
                  <a:srgbClr val="C00000"/>
                </a:solidFill>
                <a:latin typeface="微软雅黑" panose="020B0503020204020204" pitchFamily="34" charset="-122"/>
                <a:ea typeface="微软雅黑" panose="020B0503020204020204" pitchFamily="34" charset="-122"/>
              </a:rPr>
              <a:t>调用两类数据源</a:t>
            </a:r>
            <a:r>
              <a:rPr lang="zh-CN" altLang="en-US" sz="2000" dirty="0">
                <a:solidFill>
                  <a:srgbClr val="103380"/>
                </a:solidFill>
                <a:latin typeface="微软雅黑" panose="020B0503020204020204" pitchFamily="34" charset="-122"/>
                <a:ea typeface="微软雅黑" panose="020B0503020204020204" pitchFamily="34" charset="-122"/>
              </a:rPr>
              <a:t>，最后给出</a:t>
            </a:r>
            <a:r>
              <a:rPr lang="zh-CN" altLang="en-US" sz="2000" dirty="0">
                <a:solidFill>
                  <a:srgbClr val="C00000"/>
                </a:solidFill>
                <a:latin typeface="微软雅黑" panose="020B0503020204020204" pitchFamily="34" charset="-122"/>
                <a:ea typeface="微软雅黑" panose="020B0503020204020204" pitchFamily="34" charset="-122"/>
              </a:rPr>
              <a:t>准确答案</a:t>
            </a:r>
            <a:r>
              <a:rPr lang="zh-CN" altLang="en-US" sz="2000" dirty="0">
                <a:solidFill>
                  <a:srgbClr val="103380"/>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查询依据</a:t>
            </a:r>
            <a:r>
              <a:rPr lang="zh-CN" altLang="en-US" sz="2000" dirty="0">
                <a:solidFill>
                  <a:srgbClr val="103380"/>
                </a:solidFill>
                <a:latin typeface="微软雅黑" panose="020B0503020204020204" pitchFamily="34" charset="-122"/>
                <a:ea typeface="微软雅黑" panose="020B0503020204020204" pitchFamily="34" charset="-122"/>
              </a:rPr>
              <a:t>和</a:t>
            </a:r>
            <a:r>
              <a:rPr lang="zh-CN" altLang="en-US" sz="2000" dirty="0">
                <a:solidFill>
                  <a:srgbClr val="C00000"/>
                </a:solidFill>
                <a:latin typeface="微软雅黑" panose="020B0503020204020204" pitchFamily="34" charset="-122"/>
                <a:ea typeface="微软雅黑" panose="020B0503020204020204" pitchFamily="34" charset="-122"/>
              </a:rPr>
              <a:t>可审计证据</a:t>
            </a:r>
            <a:r>
              <a:rPr lang="zh-CN" altLang="en-US" sz="2000" dirty="0">
                <a:solidFill>
                  <a:srgbClr val="103380"/>
                </a:solidFill>
                <a:latin typeface="微软雅黑" panose="020B0503020204020204" pitchFamily="34" charset="-122"/>
                <a:ea typeface="微软雅黑" panose="020B0503020204020204" pitchFamily="34" charset="-122"/>
              </a:rPr>
              <a:t>。</a:t>
            </a:r>
            <a:endParaRPr lang="zh-CN" altLang="en-US" sz="2000" dirty="0">
              <a:solidFill>
                <a:srgbClr val="103380"/>
              </a:solidFill>
              <a:latin typeface="微软雅黑" panose="020B0503020204020204" pitchFamily="34" charset="-122"/>
              <a:ea typeface="微软雅黑" panose="020B0503020204020204" pitchFamily="34" charset="-122"/>
            </a:endParaRPr>
          </a:p>
          <a:p>
            <a:pPr marL="285750" indent="-285750" algn="l">
              <a:lnSpc>
                <a:spcPct val="125000"/>
              </a:lnSpc>
              <a:spcBef>
                <a:spcPts val="0"/>
              </a:spcBef>
              <a:spcAft>
                <a:spcPts val="0"/>
              </a:spcAft>
              <a:buClrTx/>
              <a:buSzTx/>
              <a:buFont typeface="Arial" panose="020B0604020202020204" pitchFamily="34" charset="0"/>
              <a:buChar char="•"/>
            </a:pP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b="1" dirty="0">
                <a:solidFill>
                  <a:srgbClr val="103380"/>
                </a:solidFill>
                <a:latin typeface="微软雅黑" panose="020B0503020204020204" pitchFamily="34" charset="-122"/>
                <a:ea typeface="微软雅黑" panose="020B0503020204020204" pitchFamily="34" charset="-122"/>
                <a:sym typeface="+mn-ea"/>
              </a:rPr>
              <a:t>判断问题含义：</a:t>
            </a:r>
            <a:r>
              <a:rPr lang="zh-CN" altLang="en-US" dirty="0">
                <a:solidFill>
                  <a:srgbClr val="103380"/>
                </a:solidFill>
                <a:latin typeface="微软雅黑" panose="020B0503020204020204" pitchFamily="34" charset="-122"/>
                <a:ea typeface="微软雅黑" panose="020B0503020204020204" pitchFamily="34" charset="-122"/>
                <a:sym typeface="+mn-ea"/>
              </a:rPr>
              <a:t>意图识别、改写问题</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b="1" dirty="0">
                <a:solidFill>
                  <a:srgbClr val="103380"/>
                </a:solidFill>
                <a:latin typeface="微软雅黑" panose="020B0503020204020204" pitchFamily="34" charset="-122"/>
                <a:ea typeface="微软雅黑" panose="020B0503020204020204" pitchFamily="34" charset="-122"/>
                <a:sym typeface="+mn-ea"/>
              </a:rPr>
              <a:t>主动澄清：</a:t>
            </a:r>
            <a:r>
              <a:rPr lang="zh-CN" altLang="en-US" dirty="0">
                <a:solidFill>
                  <a:srgbClr val="103380"/>
                </a:solidFill>
                <a:latin typeface="微软雅黑" panose="020B0503020204020204" pitchFamily="34" charset="-122"/>
                <a:ea typeface="微软雅黑" panose="020B0503020204020204" pitchFamily="34" charset="-122"/>
                <a:sym typeface="+mn-ea"/>
              </a:rPr>
              <a:t>核心是保</a:t>
            </a:r>
            <a:r>
              <a:rPr lang="zh-CN" altLang="en-US" dirty="0">
                <a:solidFill>
                  <a:schemeClr val="accent1">
                    <a:lumMod val="75000"/>
                  </a:schemeClr>
                </a:solidFill>
                <a:latin typeface="微软雅黑" panose="020B0503020204020204" pitchFamily="34" charset="-122"/>
                <a:ea typeface="微软雅黑" panose="020B0503020204020204" pitchFamily="34" charset="-122"/>
                <a:sym typeface="+mn-ea"/>
              </a:rPr>
              <a:t>证可靠</a:t>
            </a:r>
            <a:r>
              <a:rPr lang="zh-CN" altLang="en-US" dirty="0">
                <a:solidFill>
                  <a:srgbClr val="103380"/>
                </a:solidFill>
                <a:latin typeface="微软雅黑" panose="020B0503020204020204" pitchFamily="34" charset="-122"/>
                <a:ea typeface="微软雅黑" panose="020B0503020204020204" pitchFamily="34" charset="-122"/>
                <a:sym typeface="+mn-ea"/>
              </a:rPr>
              <a:t>，对于有歧义的、不明确的问题，继续</a:t>
            </a:r>
            <a:r>
              <a:rPr lang="zh-CN" altLang="en-US" dirty="0">
                <a:solidFill>
                  <a:srgbClr val="103380"/>
                </a:solidFill>
                <a:latin typeface="微软雅黑" panose="020B0503020204020204" pitchFamily="34" charset="-122"/>
                <a:ea typeface="微软雅黑" panose="020B0503020204020204" pitchFamily="34" charset="-122"/>
                <a:sym typeface="+mn-ea"/>
              </a:rPr>
              <a:t>追问</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b="1" dirty="0">
                <a:solidFill>
                  <a:srgbClr val="103380"/>
                </a:solidFill>
                <a:latin typeface="微软雅黑" panose="020B0503020204020204" pitchFamily="34" charset="-122"/>
                <a:ea typeface="微软雅黑" panose="020B0503020204020204" pitchFamily="34" charset="-122"/>
                <a:sym typeface="+mn-ea"/>
              </a:rPr>
              <a:t>两类数据源：</a:t>
            </a:r>
            <a:r>
              <a:rPr lang="zh-CN" altLang="en-US" dirty="0">
                <a:solidFill>
                  <a:srgbClr val="103380"/>
                </a:solidFill>
                <a:latin typeface="微软雅黑" panose="020B0503020204020204" pitchFamily="34" charset="-122"/>
                <a:ea typeface="微软雅黑" panose="020B0503020204020204" pitchFamily="34" charset="-122"/>
                <a:sym typeface="+mn-ea"/>
              </a:rPr>
              <a:t>结构化数据库和非结构化文本、图片，区分调用哪一类或者结合着</a:t>
            </a:r>
            <a:r>
              <a:rPr lang="zh-CN" altLang="en-US" dirty="0">
                <a:solidFill>
                  <a:srgbClr val="103380"/>
                </a:solidFill>
                <a:latin typeface="微软雅黑" panose="020B0503020204020204" pitchFamily="34" charset="-122"/>
                <a:ea typeface="微软雅黑" panose="020B0503020204020204" pitchFamily="34" charset="-122"/>
                <a:sym typeface="+mn-ea"/>
              </a:rPr>
              <a:t>看</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b="1" dirty="0">
                <a:solidFill>
                  <a:srgbClr val="103380"/>
                </a:solidFill>
                <a:latin typeface="微软雅黑" panose="020B0503020204020204" pitchFamily="34" charset="-122"/>
                <a:ea typeface="微软雅黑" panose="020B0503020204020204" pitchFamily="34" charset="-122"/>
                <a:sym typeface="+mn-ea"/>
              </a:rPr>
              <a:t>最终呈现形式：</a:t>
            </a:r>
            <a:r>
              <a:rPr lang="zh-CN" altLang="en-US" dirty="0">
                <a:solidFill>
                  <a:srgbClr val="103380"/>
                </a:solidFill>
                <a:latin typeface="微软雅黑" panose="020B0503020204020204" pitchFamily="34" charset="-122"/>
                <a:ea typeface="微软雅黑" panose="020B0503020204020204" pitchFamily="34" charset="-122"/>
                <a:sym typeface="+mn-ea"/>
              </a:rPr>
              <a:t>准确答案、查询依据和</a:t>
            </a:r>
            <a:r>
              <a:rPr lang="zh-CN" altLang="en-US" dirty="0">
                <a:solidFill>
                  <a:srgbClr val="103380"/>
                </a:solidFill>
                <a:latin typeface="微软雅黑" panose="020B0503020204020204" pitchFamily="34" charset="-122"/>
                <a:ea typeface="微软雅黑" panose="020B0503020204020204" pitchFamily="34" charset="-122"/>
                <a:sym typeface="+mn-ea"/>
              </a:rPr>
              <a:t>可审计证据</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indent="457200" algn="l">
              <a:lnSpc>
                <a:spcPct val="125000"/>
              </a:lnSpc>
              <a:spcBef>
                <a:spcPts val="0"/>
              </a:spcBef>
              <a:spcAft>
                <a:spcPts val="0"/>
              </a:spcAft>
              <a:buClrTx/>
              <a:buSzTx/>
              <a:buFont typeface="Arial" panose="020B0604020202020204" pitchFamily="34" charset="0"/>
              <a:buNone/>
            </a:pPr>
            <a:r>
              <a:rPr lang="zh-CN" altLang="en-US" dirty="0">
                <a:solidFill>
                  <a:srgbClr val="103380"/>
                </a:solidFill>
                <a:latin typeface="微软雅黑" panose="020B0503020204020204" pitchFamily="34" charset="-122"/>
                <a:ea typeface="微软雅黑" panose="020B0503020204020204" pitchFamily="34" charset="-122"/>
                <a:sym typeface="+mn-ea"/>
              </a:rPr>
              <a:t>除答案外还需</a:t>
            </a:r>
            <a:r>
              <a:rPr lang="en-US" altLang="zh-CN" dirty="0">
                <a:solidFill>
                  <a:srgbClr val="103380"/>
                </a:solidFill>
                <a:latin typeface="微软雅黑" panose="020B0503020204020204" pitchFamily="34" charset="-122"/>
                <a:ea typeface="微软雅黑" panose="020B0503020204020204" pitchFamily="34" charset="-122"/>
                <a:sym typeface="+mn-ea"/>
              </a:rPr>
              <a:t> </a:t>
            </a:r>
            <a:r>
              <a:rPr lang="zh-CN" altLang="en-US" dirty="0">
                <a:solidFill>
                  <a:srgbClr val="103380"/>
                </a:solidFill>
                <a:latin typeface="微软雅黑" panose="020B0503020204020204" pitchFamily="34" charset="-122"/>
                <a:ea typeface="微软雅黑" panose="020B0503020204020204" pitchFamily="34" charset="-122"/>
                <a:sym typeface="+mn-ea"/>
              </a:rPr>
              <a:t>答案链路解释，对应的原文</a:t>
            </a:r>
            <a:r>
              <a:rPr lang="zh-CN" altLang="en-US" dirty="0">
                <a:solidFill>
                  <a:srgbClr val="103380"/>
                </a:solidFill>
                <a:latin typeface="微软雅黑" panose="020B0503020204020204" pitchFamily="34" charset="-122"/>
                <a:ea typeface="微软雅黑" panose="020B0503020204020204" pitchFamily="34" charset="-122"/>
                <a:sym typeface="+mn-ea"/>
              </a:rPr>
              <a:t>出处</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indent="457200" algn="l">
              <a:lnSpc>
                <a:spcPct val="125000"/>
              </a:lnSpc>
              <a:spcBef>
                <a:spcPts val="0"/>
              </a:spcBef>
              <a:spcAft>
                <a:spcPts val="0"/>
              </a:spcAft>
              <a:buClrTx/>
              <a:buSzTx/>
              <a:buFont typeface="Arial" panose="020B0604020202020204" pitchFamily="34" charset="0"/>
              <a:buNone/>
            </a:pPr>
            <a:r>
              <a:rPr lang="zh-CN" altLang="en-US" dirty="0">
                <a:solidFill>
                  <a:srgbClr val="103380"/>
                </a:solidFill>
                <a:latin typeface="微软雅黑" panose="020B0503020204020204" pitchFamily="34" charset="-122"/>
                <a:ea typeface="微软雅黑" panose="020B0503020204020204" pitchFamily="34" charset="-122"/>
                <a:sym typeface="+mn-ea"/>
              </a:rPr>
              <a:t>推理链路，工具调用，</a:t>
            </a:r>
            <a:r>
              <a:rPr lang="zh-CN" altLang="en-US" dirty="0">
                <a:solidFill>
                  <a:srgbClr val="103380"/>
                </a:solidFill>
                <a:latin typeface="微软雅黑" panose="020B0503020204020204" pitchFamily="34" charset="-122"/>
                <a:ea typeface="微软雅黑" panose="020B0503020204020204" pitchFamily="34" charset="-122"/>
                <a:sym typeface="+mn-ea"/>
              </a:rPr>
              <a:t>数据来源</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indent="457200" algn="l">
              <a:lnSpc>
                <a:spcPct val="125000"/>
              </a:lnSpc>
              <a:spcBef>
                <a:spcPts val="0"/>
              </a:spcBef>
              <a:spcAft>
                <a:spcPts val="0"/>
              </a:spcAft>
              <a:buClrTx/>
              <a:buSzTx/>
              <a:buFont typeface="Arial" panose="020B0604020202020204" pitchFamily="34" charset="0"/>
              <a:buNone/>
            </a:pPr>
            <a:endParaRPr lang="zh-CN" altLang="en-US" dirty="0">
              <a:solidFill>
                <a:srgbClr val="103380"/>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607060" y="4775200"/>
            <a:ext cx="10973435" cy="922020"/>
          </a:xfrm>
          <a:prstGeom prst="rect">
            <a:avLst/>
          </a:prstGeom>
          <a:noFill/>
        </p:spPr>
        <p:txBody>
          <a:bodyPr wrap="square" rtlCol="0">
            <a:spAutoFit/>
          </a:bodyPr>
          <a:p>
            <a:pPr marL="285750" indent="-285750">
              <a:buFont typeface="Wingdings" panose="05000000000000000000" charset="0"/>
              <a:buChar char="Ø"/>
            </a:pPr>
            <a:r>
              <a:rPr lang="zh-CN" altLang="en-US" b="1" dirty="0">
                <a:solidFill>
                  <a:srgbClr val="103380"/>
                </a:solidFill>
                <a:latin typeface="微软雅黑" panose="020B0503020204020204" pitchFamily="34" charset="-122"/>
                <a:ea typeface="微软雅黑" panose="020B0503020204020204" pitchFamily="34" charset="-122"/>
              </a:rPr>
              <a:t>流程：</a:t>
            </a:r>
            <a:endParaRPr lang="zh-CN" altLang="en-US" b="1" dirty="0">
              <a:solidFill>
                <a:srgbClr val="103380"/>
              </a:solidFill>
              <a:latin typeface="微软雅黑" panose="020B0503020204020204" pitchFamily="34" charset="-122"/>
              <a:ea typeface="微软雅黑" panose="020B0503020204020204" pitchFamily="34" charset="-122"/>
            </a:endParaRPr>
          </a:p>
          <a:p>
            <a:r>
              <a:rPr lang="zh-CN" altLang="en-US" dirty="0">
                <a:solidFill>
                  <a:srgbClr val="103380"/>
                </a:solidFill>
                <a:latin typeface="微软雅黑" panose="020B0503020204020204" pitchFamily="34" charset="-122"/>
                <a:ea typeface="微软雅黑" panose="020B0503020204020204" pitchFamily="34" charset="-122"/>
              </a:rPr>
              <a:t>自然语言提问 → 意图识别 → 要素抽取 → 缺失条件澄清 → 表或文档定位 → SQL 查询或知识检索 → 结果校验 → 答案生成 → 来源与执行过程展示</a:t>
            </a:r>
            <a:endParaRPr lang="zh-CN" altLang="en-US" dirty="0">
              <a:solidFill>
                <a:srgbClr val="10338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场景定义</a:t>
            </a:r>
            <a:endParaRPr lang="en-US" altLang="zh-CN"/>
          </a:p>
        </p:txBody>
      </p:sp>
      <p:sp>
        <p:nvSpPr>
          <p:cNvPr id="4" name="Text Box 3"/>
          <p:cNvSpPr txBox="1"/>
          <p:nvPr/>
        </p:nvSpPr>
        <p:spPr>
          <a:xfrm>
            <a:off x="514985" y="1012825"/>
            <a:ext cx="10843895" cy="5290820"/>
          </a:xfrm>
          <a:prstGeom prst="rect">
            <a:avLst/>
          </a:prstGeom>
          <a:noFill/>
        </p:spPr>
        <p:txBody>
          <a:bodyPr wrap="square" rtlCol="0">
            <a:noAutofit/>
          </a:bodyPr>
          <a:p>
            <a:pPr indent="0" algn="l">
              <a:lnSpc>
                <a:spcPct val="125000"/>
              </a:lnSpc>
              <a:spcBef>
                <a:spcPts val="0"/>
              </a:spcBef>
              <a:spcAft>
                <a:spcPts val="0"/>
              </a:spcAft>
              <a:buClrTx/>
              <a:buSzTx/>
              <a:buFont typeface="Wingdings" panose="05000000000000000000" charset="0"/>
              <a:buNone/>
            </a:pPr>
            <a:r>
              <a:rPr lang="zh-CN" altLang="en-US" sz="2000" b="1" dirty="0">
                <a:solidFill>
                  <a:srgbClr val="103380"/>
                </a:solidFill>
                <a:latin typeface="微软雅黑" panose="020B0503020204020204" pitchFamily="34" charset="-122"/>
                <a:ea typeface="微软雅黑" panose="020B0503020204020204" pitchFamily="34" charset="-122"/>
              </a:rPr>
              <a:t>聚焦场景：</a:t>
            </a:r>
            <a:r>
              <a:rPr lang="zh-CN" altLang="en-US" sz="2000" dirty="0">
                <a:solidFill>
                  <a:srgbClr val="103380"/>
                </a:solidFill>
                <a:latin typeface="微软雅黑" panose="020B0503020204020204" pitchFamily="34" charset="-122"/>
                <a:ea typeface="微软雅黑" panose="020B0503020204020204" pitchFamily="34" charset="-122"/>
              </a:rPr>
              <a:t>面向企业经营分析的多模态智能问数与知识问答助手</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dirty="0">
                <a:solidFill>
                  <a:srgbClr val="103380"/>
                </a:solidFill>
                <a:latin typeface="微软雅黑" panose="020B0503020204020204" pitchFamily="34" charset="-122"/>
                <a:ea typeface="微软雅黑" panose="020B0503020204020204" pitchFamily="34" charset="-122"/>
                <a:sym typeface="+mn-ea"/>
              </a:rPr>
              <a:t>让数据库表、业务术语、文档内容、演示问题和评测集围绕同一套业务逻辑组织起来</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285750" indent="-285750" algn="l">
              <a:lnSpc>
                <a:spcPct val="125000"/>
              </a:lnSpc>
              <a:spcBef>
                <a:spcPts val="0"/>
              </a:spcBef>
              <a:spcAft>
                <a:spcPts val="0"/>
              </a:spcAft>
              <a:buClrTx/>
              <a:buSzTx/>
              <a:buFont typeface="Arial" panose="020B0604020202020204" pitchFamily="34" charset="0"/>
              <a:buChar char="•"/>
            </a:pPr>
            <a:r>
              <a:rPr lang="zh-CN" altLang="en-US" dirty="0">
                <a:solidFill>
                  <a:srgbClr val="103380"/>
                </a:solidFill>
                <a:latin typeface="微软雅黑" panose="020B0503020204020204" pitchFamily="34" charset="-122"/>
                <a:ea typeface="微软雅黑" panose="020B0503020204020204" pitchFamily="34" charset="-122"/>
                <a:sym typeface="+mn-ea"/>
              </a:rPr>
              <a:t>好搭数据集、好</a:t>
            </a:r>
            <a:r>
              <a:rPr lang="zh-CN" altLang="en-US" dirty="0">
                <a:solidFill>
                  <a:srgbClr val="103380"/>
                </a:solidFill>
                <a:latin typeface="微软雅黑" panose="020B0503020204020204" pitchFamily="34" charset="-122"/>
                <a:ea typeface="微软雅黑" panose="020B0503020204020204" pitchFamily="34" charset="-122"/>
                <a:sym typeface="+mn-ea"/>
              </a:rPr>
              <a:t>讲故事</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r>
              <a:rPr lang="zh-CN" altLang="en-US" sz="2000" b="1" dirty="0">
                <a:solidFill>
                  <a:srgbClr val="103380"/>
                </a:solidFill>
                <a:latin typeface="微软雅黑" panose="020B0503020204020204" pitchFamily="34" charset="-122"/>
                <a:ea typeface="微软雅黑" panose="020B0503020204020204" pitchFamily="34" charset="-122"/>
                <a:sym typeface="+mn-ea"/>
              </a:rPr>
              <a:t>选数据库：</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en-US" altLang="zh-CN" dirty="0">
                <a:solidFill>
                  <a:srgbClr val="103380"/>
                </a:solidFill>
                <a:latin typeface="微软雅黑" panose="020B0503020204020204" pitchFamily="34" charset="-122"/>
                <a:ea typeface="微软雅黑" panose="020B0503020204020204" pitchFamily="34" charset="-122"/>
                <a:sym typeface="+mn-ea"/>
              </a:rPr>
              <a:t>Chinook</a:t>
            </a:r>
            <a:endParaRPr lang="en-US" altLang="zh-CN"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en-US" altLang="zh-CN" dirty="0">
                <a:solidFill>
                  <a:srgbClr val="103380"/>
                </a:solidFill>
                <a:latin typeface="微软雅黑" panose="020B0503020204020204" pitchFamily="34" charset="-122"/>
                <a:ea typeface="微软雅黑" panose="020B0503020204020204" pitchFamily="34" charset="-122"/>
                <a:sym typeface="+mn-ea"/>
              </a:rPr>
              <a:t>Chinook </a:t>
            </a:r>
            <a:r>
              <a:rPr lang="zh-CN" altLang="en-US" dirty="0">
                <a:solidFill>
                  <a:srgbClr val="103380"/>
                </a:solidFill>
                <a:latin typeface="微软雅黑" panose="020B0503020204020204" pitchFamily="34" charset="-122"/>
                <a:ea typeface="微软雅黑" panose="020B0503020204020204" pitchFamily="34" charset="-122"/>
                <a:sym typeface="+mn-ea"/>
              </a:rPr>
              <a:t>数据库＋自建数字音乐商店业务文档＋独立评测集（结构化问数</a:t>
            </a:r>
            <a:r>
              <a:rPr lang="en-US" altLang="zh-CN" dirty="0">
                <a:solidFill>
                  <a:srgbClr val="103380"/>
                </a:solidFill>
                <a:latin typeface="微软雅黑" panose="020B0503020204020204" pitchFamily="34" charset="-122"/>
                <a:ea typeface="微软雅黑" panose="020B0503020204020204" pitchFamily="34" charset="-122"/>
                <a:sym typeface="+mn-ea"/>
              </a:rPr>
              <a:t>+</a:t>
            </a:r>
            <a:r>
              <a:rPr lang="zh-CN" altLang="en-US" dirty="0">
                <a:solidFill>
                  <a:srgbClr val="103380"/>
                </a:solidFill>
                <a:latin typeface="微软雅黑" panose="020B0503020204020204" pitchFamily="34" charset="-122"/>
                <a:ea typeface="微软雅黑" panose="020B0503020204020204" pitchFamily="34" charset="-122"/>
                <a:sym typeface="+mn-ea"/>
              </a:rPr>
              <a:t>业务文档问答）</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dirty="0">
                <a:solidFill>
                  <a:srgbClr val="103380"/>
                </a:solidFill>
                <a:latin typeface="微软雅黑" panose="020B0503020204020204" pitchFamily="34" charset="-122"/>
                <a:ea typeface="微软雅黑" panose="020B0503020204020204" pitchFamily="34" charset="-122"/>
                <a:sym typeface="+mn-ea"/>
              </a:rPr>
              <a:t>后续加入模糊、旋转、低清、遮挡等异常图片（对照赛题文档处理</a:t>
            </a:r>
            <a:r>
              <a:rPr lang="zh-CN" altLang="en-US" dirty="0">
                <a:solidFill>
                  <a:srgbClr val="103380"/>
                </a:solidFill>
                <a:latin typeface="微软雅黑" panose="020B0503020204020204" pitchFamily="34" charset="-122"/>
                <a:ea typeface="微软雅黑" panose="020B0503020204020204" pitchFamily="34" charset="-122"/>
                <a:sym typeface="+mn-ea"/>
              </a:rPr>
              <a:t>数据），</a:t>
            </a:r>
            <a:r>
              <a:rPr lang="zh-CN" altLang="en-US" dirty="0">
                <a:solidFill>
                  <a:srgbClr val="103380"/>
                </a:solidFill>
                <a:latin typeface="微软雅黑" panose="020B0503020204020204" pitchFamily="34" charset="-122"/>
                <a:ea typeface="微软雅黑" panose="020B0503020204020204" pitchFamily="34" charset="-122"/>
                <a:sym typeface="+mn-ea"/>
              </a:rPr>
              <a:t>考虑引入</a:t>
            </a:r>
            <a:r>
              <a:rPr lang="en-US" altLang="zh-CN" dirty="0">
                <a:solidFill>
                  <a:srgbClr val="103380"/>
                </a:solidFill>
                <a:latin typeface="微软雅黑" panose="020B0503020204020204" pitchFamily="34" charset="-122"/>
                <a:ea typeface="微软雅黑" panose="020B0503020204020204" pitchFamily="34" charset="-122"/>
                <a:sym typeface="+mn-ea"/>
              </a:rPr>
              <a:t>CAD</a:t>
            </a:r>
            <a:r>
              <a:rPr lang="zh-CN" altLang="en-US" dirty="0">
                <a:solidFill>
                  <a:srgbClr val="103380"/>
                </a:solidFill>
                <a:latin typeface="微软雅黑" panose="020B0503020204020204" pitchFamily="34" charset="-122"/>
                <a:ea typeface="微软雅黑" panose="020B0503020204020204" pitchFamily="34" charset="-122"/>
                <a:sym typeface="+mn-ea"/>
              </a:rPr>
              <a:t>类的工业</a:t>
            </a:r>
            <a:r>
              <a:rPr lang="zh-CN" altLang="en-US" dirty="0">
                <a:solidFill>
                  <a:srgbClr val="103380"/>
                </a:solidFill>
                <a:latin typeface="微软雅黑" panose="020B0503020204020204" pitchFamily="34" charset="-122"/>
                <a:ea typeface="微软雅黑" panose="020B0503020204020204" pitchFamily="34" charset="-122"/>
                <a:sym typeface="+mn-ea"/>
              </a:rPr>
              <a:t>数据测试</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dirty="0">
                <a:solidFill>
                  <a:srgbClr val="103380"/>
                </a:solidFill>
                <a:latin typeface="微软雅黑" panose="020B0503020204020204" pitchFamily="34" charset="-122"/>
                <a:ea typeface="微软雅黑" panose="020B0503020204020204" pitchFamily="34" charset="-122"/>
                <a:sym typeface="+mn-ea"/>
              </a:rPr>
              <a:t>后续可以引入：</a:t>
            </a:r>
            <a:r>
              <a:rPr lang="en-US" altLang="zh-CN" dirty="0">
                <a:solidFill>
                  <a:srgbClr val="103380"/>
                </a:solidFill>
                <a:latin typeface="微软雅黑" panose="020B0503020204020204" pitchFamily="34" charset="-122"/>
                <a:ea typeface="微软雅黑" panose="020B0503020204020204" pitchFamily="34" charset="-122"/>
                <a:sym typeface="+mn-ea"/>
              </a:rPr>
              <a:t>通用文档压力集——OHR-Bench 抽样</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产品定位：面向数字音乐商店运营团队的可解释经营分析与知识问答智能体</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dirty="0">
                <a:solidFill>
                  <a:srgbClr val="103380"/>
                </a:solidFill>
                <a:latin typeface="微软雅黑" panose="020B0503020204020204" pitchFamily="34" charset="-122"/>
                <a:ea typeface="微软雅黑" panose="020B0503020204020204" pitchFamily="34" charset="-122"/>
                <a:sym typeface="+mn-ea"/>
              </a:rPr>
              <a:t>面向数字音乐商店运营团队，通过自然语言查询销售、客户、音乐内容等业务数据，并结合运营制度、商品资料、营销复盘和客服知识文档，输出：经营指标； 统计口径；自动生成并执行的 </a:t>
            </a:r>
            <a:r>
              <a:rPr lang="en-US" altLang="zh-CN" dirty="0">
                <a:solidFill>
                  <a:srgbClr val="103380"/>
                </a:solidFill>
                <a:latin typeface="微软雅黑" panose="020B0503020204020204" pitchFamily="34" charset="-122"/>
                <a:ea typeface="微软雅黑" panose="020B0503020204020204" pitchFamily="34" charset="-122"/>
                <a:sym typeface="+mn-ea"/>
              </a:rPr>
              <a:t>SQL；</a:t>
            </a:r>
            <a:r>
              <a:rPr lang="zh-CN" altLang="en-US" dirty="0">
                <a:solidFill>
                  <a:srgbClr val="103380"/>
                </a:solidFill>
                <a:latin typeface="微软雅黑" panose="020B0503020204020204" pitchFamily="34" charset="-122"/>
                <a:ea typeface="微软雅黑" panose="020B0503020204020204" pitchFamily="34" charset="-122"/>
                <a:sym typeface="+mn-ea"/>
              </a:rPr>
              <a:t> 相关业务文档片段；数据来源和执行过程；缺少条件时的澄清问题；无依据时的明确提示。</a:t>
            </a:r>
            <a:endParaRPr lang="zh-CN" altLang="en-US"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6727825" y="1807845"/>
            <a:ext cx="4984115" cy="1049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a:solidFill>
                  <a:srgbClr val="103380"/>
                </a:solidFill>
                <a:sym typeface="+mn-ea"/>
              </a:rPr>
              <a:t>核心用户与场景：</a:t>
            </a:r>
            <a:endParaRPr lang="en-US" altLang="zh-CN"/>
          </a:p>
        </p:txBody>
      </p:sp>
      <p:graphicFrame>
        <p:nvGraphicFramePr>
          <p:cNvPr id="3" name="表格 2"/>
          <p:cNvGraphicFramePr/>
          <p:nvPr/>
        </p:nvGraphicFramePr>
        <p:xfrm>
          <a:off x="466090" y="982345"/>
          <a:ext cx="11077575" cy="5262245"/>
        </p:xfrm>
        <a:graphic>
          <a:graphicData uri="http://schemas.openxmlformats.org/drawingml/2006/table">
            <a:tbl>
              <a:tblPr>
                <a:tableStyleId>{BC89EF96-8CEA-46FF-86C4-4CE0E7609802}</a:tableStyleId>
              </a:tblPr>
              <a:tblGrid>
                <a:gridCol w="2997835"/>
                <a:gridCol w="3064510"/>
                <a:gridCol w="2595245"/>
                <a:gridCol w="2419985"/>
              </a:tblGrid>
              <a:tr h="554355">
                <a:tc>
                  <a:txBody>
                    <a:bodyPr/>
                    <a:p>
                      <a:pPr algn="ctr"/>
                      <a:r>
                        <a:rPr lang="zh-CN" altLang="en-US" sz="1600" b="1">
                          <a:solidFill>
                            <a:srgbClr val="10337F"/>
                          </a:solidFill>
                          <a:highlight>
                            <a:srgbClr val="FFFF00"/>
                          </a:highlight>
                          <a:uFillTx/>
                          <a:latin typeface="Times New Roman" panose="02020603050405020304" pitchFamily="18" charset="0"/>
                          <a:ea typeface="宋体" panose="02010600030101010101" pitchFamily="2" charset="-122"/>
                        </a:rPr>
                        <a:t>主：运营人员</a:t>
                      </a:r>
                      <a:br>
                        <a:rPr lang="zh-CN" altLang="en-US" sz="1600">
                          <a:solidFill>
                            <a:srgbClr val="10337F"/>
                          </a:solidFill>
                          <a:highlight>
                            <a:srgbClr val="FFFF00"/>
                          </a:highlight>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日常经营查数</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pPr algn="ctr"/>
                      <a:r>
                        <a:rPr lang="zh-CN" altLang="en-US" sz="1600" b="1">
                          <a:solidFill>
                            <a:srgbClr val="10337F"/>
                          </a:solidFill>
                          <a:highlight>
                            <a:srgbClr val="FFFF00"/>
                          </a:highlight>
                          <a:uFillTx/>
                          <a:latin typeface="Times New Roman" panose="02020603050405020304" pitchFamily="18" charset="0"/>
                          <a:ea typeface="宋体" panose="02010600030101010101" pitchFamily="2" charset="-122"/>
                        </a:rPr>
                        <a:t>主：经营负责人</a:t>
                      </a:r>
                      <a:br>
                        <a:rPr lang="zh-CN" altLang="en-US" sz="1600">
                          <a:solidFill>
                            <a:srgbClr val="10337F"/>
                          </a:solidFill>
                          <a:highlight>
                            <a:srgbClr val="FFFF00"/>
                          </a:highlight>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跨源经营分析</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pPr algn="ctr"/>
                      <a:r>
                        <a:rPr lang="zh-CN" altLang="en-US" sz="1600">
                          <a:solidFill>
                            <a:srgbClr val="10337F"/>
                          </a:solidFill>
                          <a:uFillTx/>
                          <a:latin typeface="Times New Roman" panose="02020603050405020304" pitchFamily="18" charset="0"/>
                          <a:ea typeface="宋体" panose="02010600030101010101" pitchFamily="2" charset="-122"/>
                          <a:sym typeface="+mn-ea"/>
                        </a:rPr>
                        <a:t>辅：</a:t>
                      </a:r>
                      <a:r>
                        <a:rPr lang="zh-CN" altLang="en-US" sz="1600">
                          <a:solidFill>
                            <a:srgbClr val="10337F"/>
                          </a:solidFill>
                          <a:uFillTx/>
                          <a:latin typeface="Times New Roman" panose="02020603050405020304" pitchFamily="18" charset="0"/>
                          <a:ea typeface="宋体" panose="02010600030101010101" pitchFamily="2" charset="-122"/>
                        </a:rPr>
                        <a:t>客服人员</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业务知识问答</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pPr algn="ctr"/>
                      <a:r>
                        <a:rPr lang="zh-CN" altLang="en-US" sz="1600">
                          <a:solidFill>
                            <a:srgbClr val="10337F"/>
                          </a:solidFill>
                          <a:uFillTx/>
                          <a:latin typeface="Times New Roman" panose="02020603050405020304" pitchFamily="18" charset="0"/>
                          <a:ea typeface="宋体" panose="02010600030101010101" pitchFamily="2" charset="-122"/>
                        </a:rPr>
                        <a:t>辅：数据管理员</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口径核验与系统审计</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r>
              <a:tr h="4707890">
                <a:tc>
                  <a:txBody>
                    <a:bodyPr/>
                    <a:p>
                      <a:r>
                        <a:rPr lang="zh-CN" altLang="en-US" sz="1600" b="1">
                          <a:solidFill>
                            <a:srgbClr val="10337F"/>
                          </a:solidFill>
                          <a:uFillTx/>
                          <a:latin typeface="Times New Roman" panose="02020603050405020304" pitchFamily="18" charset="0"/>
                          <a:ea typeface="宋体" panose="02010600030101010101" pitchFamily="2" charset="-122"/>
                        </a:rPr>
                        <a:t>典型问题：</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・指定</a:t>
                      </a:r>
                      <a:r>
                        <a:rPr lang="zh-CN" altLang="en-US" sz="1600">
                          <a:solidFill>
                            <a:srgbClr val="10337F"/>
                          </a:solidFill>
                          <a:uFillTx/>
                          <a:latin typeface="Times New Roman" panose="02020603050405020304" pitchFamily="18" charset="0"/>
                          <a:ea typeface="宋体" panose="02010600030101010101" pitchFamily="2" charset="-122"/>
                        </a:rPr>
                        <a:t>时间内销售额、销量是多少？</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・哪些国家、音乐类型或艺术家表现最好？</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・不同指标的统计口径是什么？</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主要数据：</a:t>
                      </a:r>
                      <a:br>
                        <a:rPr lang="zh-CN" altLang="en-US" sz="1600">
                          <a:solidFill>
                            <a:srgbClr val="10337F"/>
                          </a:solidFill>
                          <a:uFillTx/>
                          <a:latin typeface="Times New Roman" panose="02020603050405020304" pitchFamily="18" charset="0"/>
                          <a:ea typeface="宋体" panose="02010600030101010101" pitchFamily="2" charset="-122"/>
                        </a:rPr>
                      </a:br>
                      <a:r>
                        <a:rPr lang="en-US" altLang="zh-CN" sz="1600">
                          <a:solidFill>
                            <a:srgbClr val="10337F"/>
                          </a:solidFill>
                          <a:uFillTx/>
                          <a:latin typeface="Times New Roman" panose="02020603050405020304" pitchFamily="18" charset="0"/>
                          <a:ea typeface="宋体" panose="02010600030101010101" pitchFamily="2" charset="-122"/>
                        </a:rPr>
                        <a:t>Chinook </a:t>
                      </a:r>
                      <a:r>
                        <a:rPr lang="zh-CN" altLang="en-US" sz="1600">
                          <a:solidFill>
                            <a:srgbClr val="10337F"/>
                          </a:solidFill>
                          <a:uFillTx/>
                          <a:latin typeface="Times New Roman" panose="02020603050405020304" pitchFamily="18" charset="0"/>
                          <a:ea typeface="宋体" panose="02010600030101010101" pitchFamily="2" charset="-122"/>
                        </a:rPr>
                        <a:t>销售、客户与音乐内容数据</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重点能力：</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单表</a:t>
                      </a:r>
                      <a:r>
                        <a:rPr lang="en-US" altLang="zh-CN" sz="1600">
                          <a:solidFill>
                            <a:srgbClr val="10337F"/>
                          </a:solidFill>
                          <a:uFillTx/>
                          <a:latin typeface="Times New Roman" panose="02020603050405020304" pitchFamily="18" charset="0"/>
                          <a:ea typeface="宋体" panose="02010600030101010101" pitchFamily="2" charset="-122"/>
                        </a:rPr>
                        <a:t>/</a:t>
                      </a:r>
                      <a:r>
                        <a:rPr lang="zh-CN" altLang="en-US" sz="1600">
                          <a:solidFill>
                            <a:srgbClr val="10337F"/>
                          </a:solidFill>
                          <a:uFillTx/>
                          <a:latin typeface="Times New Roman" panose="02020603050405020304" pitchFamily="18" charset="0"/>
                          <a:ea typeface="宋体" panose="02010600030101010101" pitchFamily="2" charset="-122"/>
                        </a:rPr>
                        <a:t>多表 </a:t>
                      </a:r>
                      <a:r>
                        <a:rPr lang="en-US" altLang="zh-CN" sz="1600">
                          <a:solidFill>
                            <a:srgbClr val="10337F"/>
                          </a:solidFill>
                          <a:uFillTx/>
                          <a:latin typeface="Times New Roman" panose="02020603050405020304" pitchFamily="18" charset="0"/>
                          <a:ea typeface="宋体" panose="02010600030101010101" pitchFamily="2" charset="-122"/>
                        </a:rPr>
                        <a:t>NL2SQL</a:t>
                      </a:r>
                      <a:r>
                        <a:rPr lang="zh-CN" altLang="en-US" sz="1600">
                          <a:solidFill>
                            <a:srgbClr val="10337F"/>
                          </a:solidFill>
                          <a:uFillTx/>
                          <a:latin typeface="Times New Roman" panose="02020603050405020304" pitchFamily="18" charset="0"/>
                          <a:ea typeface="宋体" panose="02010600030101010101" pitchFamily="2" charset="-122"/>
                        </a:rPr>
                        <a:t>、要素提取、主动澄清、</a:t>
                      </a:r>
                      <a:r>
                        <a:rPr lang="en-US" altLang="zh-CN" sz="1600">
                          <a:solidFill>
                            <a:srgbClr val="10337F"/>
                          </a:solidFill>
                          <a:uFillTx/>
                          <a:latin typeface="Times New Roman" panose="02020603050405020304" pitchFamily="18" charset="0"/>
                          <a:ea typeface="宋体" panose="02010600030101010101" pitchFamily="2" charset="-122"/>
                        </a:rPr>
                        <a:t>SQL </a:t>
                      </a:r>
                      <a:r>
                        <a:rPr lang="zh-CN" altLang="en-US" sz="1600">
                          <a:solidFill>
                            <a:srgbClr val="10337F"/>
                          </a:solidFill>
                          <a:uFillTx/>
                          <a:latin typeface="Times New Roman" panose="02020603050405020304" pitchFamily="18" charset="0"/>
                          <a:ea typeface="宋体" panose="02010600030101010101" pitchFamily="2" charset="-122"/>
                        </a:rPr>
                        <a:t>与结果展示</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r>
                        <a:rPr lang="zh-CN" altLang="en-US" sz="1600" b="1">
                          <a:solidFill>
                            <a:srgbClr val="10337F"/>
                          </a:solidFill>
                          <a:uFillTx/>
                          <a:latin typeface="Times New Roman" panose="02020603050405020304" pitchFamily="18" charset="0"/>
                          <a:ea typeface="宋体" panose="02010600030101010101" pitchFamily="2" charset="-122"/>
                        </a:rPr>
                        <a:t>典型问题：</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・哪类音乐销售表现最好？</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・高销售额与高销量的对象是否一致？</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・数据库结果对应哪些营销策略或业务规则？</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・某项经营结论是否有文档依据？</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主要数据：</a:t>
                      </a:r>
                      <a:br>
                        <a:rPr lang="zh-CN" altLang="en-US" sz="1600">
                          <a:solidFill>
                            <a:srgbClr val="10337F"/>
                          </a:solidFill>
                          <a:uFillTx/>
                          <a:latin typeface="Times New Roman" panose="02020603050405020304" pitchFamily="18" charset="0"/>
                          <a:ea typeface="宋体" panose="02010600030101010101" pitchFamily="2" charset="-122"/>
                        </a:rPr>
                      </a:br>
                      <a:r>
                        <a:rPr lang="en-US" altLang="zh-CN" sz="1600">
                          <a:solidFill>
                            <a:srgbClr val="10337F"/>
                          </a:solidFill>
                          <a:uFillTx/>
                          <a:latin typeface="Times New Roman" panose="02020603050405020304" pitchFamily="18" charset="0"/>
                          <a:ea typeface="宋体" panose="02010600030101010101" pitchFamily="2" charset="-122"/>
                        </a:rPr>
                        <a:t>Chinook </a:t>
                      </a:r>
                      <a:r>
                        <a:rPr lang="zh-CN" altLang="en-US" sz="1600">
                          <a:solidFill>
                            <a:srgbClr val="10337F"/>
                          </a:solidFill>
                          <a:uFillTx/>
                          <a:latin typeface="Times New Roman" panose="02020603050405020304" pitchFamily="18" charset="0"/>
                          <a:ea typeface="宋体" panose="02010600030101010101" pitchFamily="2" charset="-122"/>
                        </a:rPr>
                        <a:t>数据库 </a:t>
                      </a:r>
                      <a:r>
                        <a:rPr lang="en-US" altLang="zh-CN" sz="1600">
                          <a:solidFill>
                            <a:srgbClr val="10337F"/>
                          </a:solidFill>
                          <a:uFillTx/>
                          <a:latin typeface="Times New Roman" panose="02020603050405020304" pitchFamily="18" charset="0"/>
                          <a:ea typeface="宋体" panose="02010600030101010101" pitchFamily="2" charset="-122"/>
                        </a:rPr>
                        <a:t>+ </a:t>
                      </a:r>
                      <a:r>
                        <a:rPr lang="zh-CN" altLang="en-US" sz="1600">
                          <a:solidFill>
                            <a:srgbClr val="10337F"/>
                          </a:solidFill>
                          <a:uFillTx/>
                          <a:latin typeface="Times New Roman" panose="02020603050405020304" pitchFamily="18" charset="0"/>
                          <a:ea typeface="宋体" panose="02010600030101010101" pitchFamily="2" charset="-122"/>
                        </a:rPr>
                        <a:t>业务规则、营销复盘与经营分析文档</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重点能力：</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任务规划、跨源查询、多表关联、文档检索、结果融合与证据解释</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r>
                        <a:rPr lang="zh-CN" altLang="en-US" sz="1600" b="1">
                          <a:solidFill>
                            <a:srgbClr val="10337F"/>
                          </a:solidFill>
                          <a:uFillTx/>
                          <a:latin typeface="Times New Roman" panose="02020603050405020304" pitchFamily="18" charset="0"/>
                          <a:ea typeface="宋体" panose="02010600030101010101" pitchFamily="2" charset="-122"/>
                        </a:rPr>
                        <a:t>典型问题：</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・某张专辑包含哪些曲目？</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・某类音乐或艺术家有哪些业务信息？</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・客户咨询应依据哪条业务规则回答？</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主要数据：</a:t>
                      </a: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a:solidFill>
                            <a:srgbClr val="10337F"/>
                          </a:solidFill>
                          <a:uFillTx/>
                          <a:latin typeface="Times New Roman" panose="02020603050405020304" pitchFamily="18" charset="0"/>
                          <a:ea typeface="宋体" panose="02010600030101010101" pitchFamily="2" charset="-122"/>
                        </a:rPr>
                        <a:t>音乐目录、商品说明、客服 </a:t>
                      </a:r>
                      <a:r>
                        <a:rPr lang="en-US" altLang="zh-CN" sz="1600">
                          <a:solidFill>
                            <a:srgbClr val="10337F"/>
                          </a:solidFill>
                          <a:uFillTx/>
                          <a:latin typeface="Times New Roman" panose="02020603050405020304" pitchFamily="18" charset="0"/>
                          <a:ea typeface="宋体" panose="02010600030101010101" pitchFamily="2" charset="-122"/>
                        </a:rPr>
                        <a:t>FAQ</a:t>
                      </a:r>
                      <a:r>
                        <a:rPr lang="zh-CN" altLang="en-US" sz="1600">
                          <a:solidFill>
                            <a:srgbClr val="10337F"/>
                          </a:solidFill>
                          <a:uFillTx/>
                          <a:latin typeface="Times New Roman" panose="02020603050405020304" pitchFamily="18" charset="0"/>
                          <a:ea typeface="宋体" panose="02010600030101010101" pitchFamily="2" charset="-122"/>
                        </a:rPr>
                        <a:t>、业务规则文档</a:t>
                      </a:r>
                      <a:br>
                        <a:rPr lang="zh-CN" altLang="en-US" sz="1600">
                          <a:solidFill>
                            <a:srgbClr val="10337F"/>
                          </a:solidFill>
                          <a:uFillTx/>
                          <a:latin typeface="Times New Roman" panose="02020603050405020304" pitchFamily="18" charset="0"/>
                          <a:ea typeface="宋体" panose="02010600030101010101" pitchFamily="2" charset="-122"/>
                        </a:rPr>
                      </a:br>
                      <a:br>
                        <a:rPr lang="zh-CN" altLang="en-US" sz="1600">
                          <a:solidFill>
                            <a:srgbClr val="10337F"/>
                          </a:solidFill>
                          <a:uFillTx/>
                          <a:latin typeface="Times New Roman" panose="02020603050405020304" pitchFamily="18" charset="0"/>
                          <a:ea typeface="宋体" panose="02010600030101010101" pitchFamily="2" charset="-122"/>
                        </a:rPr>
                      </a:br>
                      <a:r>
                        <a:rPr lang="zh-CN" altLang="en-US" sz="1600" b="1">
                          <a:solidFill>
                            <a:srgbClr val="10337F"/>
                          </a:solidFill>
                          <a:uFillTx/>
                          <a:latin typeface="Times New Roman" panose="02020603050405020304" pitchFamily="18" charset="0"/>
                          <a:ea typeface="宋体" panose="02010600030101010101" pitchFamily="2" charset="-122"/>
                        </a:rPr>
                        <a:t>重点能力：</a:t>
                      </a:r>
                      <a:br>
                        <a:rPr lang="zh-CN" altLang="en-US" sz="1600">
                          <a:solidFill>
                            <a:srgbClr val="10337F"/>
                          </a:solidFill>
                          <a:uFillTx/>
                          <a:latin typeface="Times New Roman" panose="02020603050405020304" pitchFamily="18" charset="0"/>
                          <a:ea typeface="宋体" panose="02010600030101010101" pitchFamily="2" charset="-122"/>
                        </a:rPr>
                      </a:br>
                      <a:r>
                        <a:rPr lang="en-US" altLang="zh-CN" sz="1600">
                          <a:solidFill>
                            <a:srgbClr val="10337F"/>
                          </a:solidFill>
                          <a:uFillTx/>
                          <a:latin typeface="Times New Roman" panose="02020603050405020304" pitchFamily="18" charset="0"/>
                          <a:ea typeface="宋体" panose="02010600030101010101" pitchFamily="2" charset="-122"/>
                        </a:rPr>
                        <a:t>RAG </a:t>
                      </a:r>
                      <a:r>
                        <a:rPr lang="zh-CN" altLang="en-US" sz="1600">
                          <a:solidFill>
                            <a:srgbClr val="10337F"/>
                          </a:solidFill>
                          <a:uFillTx/>
                          <a:latin typeface="Times New Roman" panose="02020603050405020304" pitchFamily="18" charset="0"/>
                          <a:ea typeface="宋体" panose="02010600030101010101" pitchFamily="2" charset="-122"/>
                        </a:rPr>
                        <a:t>检索、文档解析、引用片段展示、多轮问答</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c>
                  <a:txBody>
                    <a:bodyPr/>
                    <a:p>
                      <a:r>
                        <a:rPr lang="zh-CN" altLang="en-US" sz="1600" b="1">
                          <a:solidFill>
                            <a:srgbClr val="10337F"/>
                          </a:solidFill>
                          <a:uFillTx/>
                          <a:latin typeface="Times New Roman" panose="02020603050405020304" pitchFamily="18" charset="0"/>
                          <a:ea typeface="宋体" panose="02010600030101010101" pitchFamily="2" charset="-122"/>
                          <a:sym typeface="+mn-ea"/>
                        </a:rPr>
                        <a:t>典型问题：</a:t>
                      </a:r>
                      <a:endParaRPr lang="zh-CN" altLang="en-US" sz="1600" b="1">
                        <a:solidFill>
                          <a:srgbClr val="10337F"/>
                        </a:solidFill>
                        <a:uFillTx/>
                        <a:latin typeface="Times New Roman" panose="02020603050405020304" pitchFamily="18" charset="0"/>
                        <a:ea typeface="宋体" panose="02010600030101010101" pitchFamily="2" charset="-122"/>
                        <a:sym typeface="+mn-ea"/>
                      </a:endParaRPr>
                    </a:p>
                    <a:p>
                      <a:r>
                        <a:rPr lang="zh-CN" altLang="en-US" sz="1600">
                          <a:solidFill>
                            <a:srgbClr val="10337F"/>
                          </a:solidFill>
                          <a:uFillTx/>
                          <a:latin typeface="Times New Roman" panose="02020603050405020304" pitchFamily="18" charset="0"/>
                          <a:ea typeface="宋体" panose="02010600030101010101" pitchFamily="2" charset="-122"/>
                        </a:rPr>
                        <a:t>・这个指标使用了哪些表和字段？</a:t>
                      </a:r>
                      <a:endParaRPr lang="zh-CN" altLang="en-US" sz="1600">
                        <a:solidFill>
                          <a:srgbClr val="10337F"/>
                        </a:solidFill>
                        <a:uFillTx/>
                        <a:latin typeface="Times New Roman" panose="02020603050405020304" pitchFamily="18" charset="0"/>
                        <a:ea typeface="宋体" panose="02010600030101010101" pitchFamily="2" charset="-122"/>
                      </a:endParaRPr>
                    </a:p>
                    <a:p>
                      <a:r>
                        <a:rPr lang="en-US" altLang="zh-CN" sz="1600">
                          <a:solidFill>
                            <a:srgbClr val="10337F"/>
                          </a:solidFill>
                          <a:uFillTx/>
                          <a:latin typeface="Times New Roman" panose="02020603050405020304" pitchFamily="18" charset="0"/>
                          <a:ea typeface="宋体" panose="02010600030101010101" pitchFamily="2" charset="-122"/>
                        </a:rPr>
                        <a:t>・SQL </a:t>
                      </a:r>
                      <a:r>
                        <a:rPr lang="zh-CN" altLang="en-US" sz="1600">
                          <a:solidFill>
                            <a:srgbClr val="10337F"/>
                          </a:solidFill>
                          <a:uFillTx/>
                          <a:latin typeface="Times New Roman" panose="02020603050405020304" pitchFamily="18" charset="0"/>
                          <a:ea typeface="宋体" panose="02010600030101010101" pitchFamily="2" charset="-122"/>
                        </a:rPr>
                        <a:t>是否存在重复计数或口径错误？</a:t>
                      </a:r>
                      <a:endParaRPr lang="zh-CN" altLang="en-US" sz="1600">
                        <a:solidFill>
                          <a:srgbClr val="10337F"/>
                        </a:solidFill>
                        <a:uFillTx/>
                        <a:latin typeface="Times New Roman" panose="02020603050405020304" pitchFamily="18" charset="0"/>
                        <a:ea typeface="宋体" panose="02010600030101010101" pitchFamily="2" charset="-122"/>
                      </a:endParaRPr>
                    </a:p>
                    <a:p>
                      <a:r>
                        <a:rPr lang="zh-CN" altLang="en-US" sz="1600">
                          <a:solidFill>
                            <a:srgbClr val="10337F"/>
                          </a:solidFill>
                          <a:uFillTx/>
                          <a:latin typeface="Times New Roman" panose="02020603050405020304" pitchFamily="18" charset="0"/>
                          <a:ea typeface="宋体" panose="02010600030101010101" pitchFamily="2" charset="-122"/>
                        </a:rPr>
                        <a:t>・回答引用了哪些文档和执行记录？</a:t>
                      </a:r>
                      <a:endParaRPr lang="zh-CN" altLang="en-US" sz="1600">
                        <a:solidFill>
                          <a:srgbClr val="10337F"/>
                        </a:solidFill>
                        <a:uFillTx/>
                        <a:latin typeface="Times New Roman" panose="02020603050405020304" pitchFamily="18" charset="0"/>
                        <a:ea typeface="宋体" panose="02010600030101010101" pitchFamily="2" charset="-122"/>
                      </a:endParaRPr>
                    </a:p>
                    <a:p>
                      <a:endParaRPr lang="en-US" altLang="zh-CN" sz="1600">
                        <a:solidFill>
                          <a:srgbClr val="10337F"/>
                        </a:solidFill>
                        <a:uFillTx/>
                        <a:latin typeface="Times New Roman" panose="02020603050405020304" pitchFamily="18" charset="0"/>
                        <a:ea typeface="宋体" panose="02010600030101010101" pitchFamily="2" charset="-122"/>
                      </a:endParaRPr>
                    </a:p>
                    <a:p>
                      <a:r>
                        <a:rPr lang="zh-CN" altLang="en-US" sz="1600" b="1">
                          <a:solidFill>
                            <a:srgbClr val="10337F"/>
                          </a:solidFill>
                          <a:uFillTx/>
                          <a:latin typeface="Times New Roman" panose="02020603050405020304" pitchFamily="18" charset="0"/>
                          <a:ea typeface="宋体" panose="02010600030101010101" pitchFamily="2" charset="-122"/>
                        </a:rPr>
                        <a:t>主要数据：</a:t>
                      </a:r>
                      <a:endParaRPr lang="zh-CN" altLang="en-US" sz="1600" b="1">
                        <a:solidFill>
                          <a:srgbClr val="10337F"/>
                        </a:solidFill>
                        <a:uFillTx/>
                        <a:latin typeface="Times New Roman" panose="02020603050405020304" pitchFamily="18" charset="0"/>
                        <a:ea typeface="宋体" panose="02010600030101010101" pitchFamily="2" charset="-122"/>
                      </a:endParaRPr>
                    </a:p>
                    <a:p>
                      <a:r>
                        <a:rPr lang="zh-CN" altLang="en-US" sz="1600">
                          <a:solidFill>
                            <a:srgbClr val="10337F"/>
                          </a:solidFill>
                          <a:uFillTx/>
                          <a:latin typeface="Times New Roman" panose="02020603050405020304" pitchFamily="18" charset="0"/>
                          <a:ea typeface="宋体" panose="02010600030101010101" pitchFamily="2" charset="-122"/>
                        </a:rPr>
                        <a:t>数据库 </a:t>
                      </a:r>
                      <a:r>
                        <a:rPr lang="en-US" altLang="zh-CN" sz="1600">
                          <a:solidFill>
                            <a:srgbClr val="10337F"/>
                          </a:solidFill>
                          <a:uFillTx/>
                          <a:latin typeface="Times New Roman" panose="02020603050405020304" pitchFamily="18" charset="0"/>
                          <a:ea typeface="宋体" panose="02010600030101010101" pitchFamily="2" charset="-122"/>
                        </a:rPr>
                        <a:t>Schema、</a:t>
                      </a:r>
                      <a:r>
                        <a:rPr lang="zh-CN" altLang="en-US" sz="1600">
                          <a:solidFill>
                            <a:srgbClr val="10337F"/>
                          </a:solidFill>
                          <a:uFillTx/>
                          <a:latin typeface="Times New Roman" panose="02020603050405020304" pitchFamily="18" charset="0"/>
                          <a:ea typeface="宋体" panose="02010600030101010101" pitchFamily="2" charset="-122"/>
                        </a:rPr>
                        <a:t>指标词典、查询日志、文档质量报告</a:t>
                      </a:r>
                      <a:endParaRPr lang="zh-CN" altLang="en-US" sz="1600">
                        <a:solidFill>
                          <a:srgbClr val="10337F"/>
                        </a:solidFill>
                        <a:uFillTx/>
                        <a:latin typeface="Times New Roman" panose="02020603050405020304" pitchFamily="18" charset="0"/>
                        <a:ea typeface="宋体" panose="02010600030101010101" pitchFamily="2" charset="-122"/>
                      </a:endParaRPr>
                    </a:p>
                    <a:p>
                      <a:endParaRPr lang="en-US" altLang="zh-CN" sz="1600">
                        <a:solidFill>
                          <a:srgbClr val="10337F"/>
                        </a:solidFill>
                        <a:uFillTx/>
                        <a:latin typeface="Times New Roman" panose="02020603050405020304" pitchFamily="18" charset="0"/>
                        <a:ea typeface="宋体" panose="02010600030101010101" pitchFamily="2" charset="-122"/>
                      </a:endParaRPr>
                    </a:p>
                    <a:p>
                      <a:r>
                        <a:rPr lang="zh-CN" altLang="en-US" sz="1600" b="1">
                          <a:solidFill>
                            <a:srgbClr val="10337F"/>
                          </a:solidFill>
                          <a:uFillTx/>
                          <a:latin typeface="Times New Roman" panose="02020603050405020304" pitchFamily="18" charset="0"/>
                          <a:ea typeface="宋体" panose="02010600030101010101" pitchFamily="2" charset="-122"/>
                        </a:rPr>
                        <a:t>重点能力：</a:t>
                      </a:r>
                      <a:endParaRPr lang="zh-CN" altLang="en-US" sz="1600" b="1">
                        <a:solidFill>
                          <a:srgbClr val="10337F"/>
                        </a:solidFill>
                        <a:uFillTx/>
                        <a:latin typeface="Times New Roman" panose="02020603050405020304" pitchFamily="18" charset="0"/>
                        <a:ea typeface="宋体" panose="02010600030101010101" pitchFamily="2" charset="-122"/>
                      </a:endParaRPr>
                    </a:p>
                    <a:p>
                      <a:r>
                        <a:rPr lang="en-US" altLang="zh-CN" sz="1600">
                          <a:solidFill>
                            <a:srgbClr val="10337F"/>
                          </a:solidFill>
                          <a:uFillTx/>
                          <a:latin typeface="Times New Roman" panose="02020603050405020304" pitchFamily="18" charset="0"/>
                          <a:ea typeface="宋体" panose="02010600030101010101" pitchFamily="2" charset="-122"/>
                        </a:rPr>
                        <a:t>Schema Linking、</a:t>
                      </a:r>
                      <a:r>
                        <a:rPr lang="zh-CN" altLang="en-US" sz="1600">
                          <a:solidFill>
                            <a:srgbClr val="10337F"/>
                          </a:solidFill>
                          <a:uFillTx/>
                          <a:latin typeface="Times New Roman" panose="02020603050405020304" pitchFamily="18" charset="0"/>
                          <a:ea typeface="宋体" panose="02010600030101010101" pitchFamily="2" charset="-122"/>
                        </a:rPr>
                        <a:t>指标校验、</a:t>
                      </a:r>
                      <a:r>
                        <a:rPr lang="en-US" altLang="zh-CN" sz="1600">
                          <a:solidFill>
                            <a:srgbClr val="10337F"/>
                          </a:solidFill>
                          <a:uFillTx/>
                          <a:latin typeface="Times New Roman" panose="02020603050405020304" pitchFamily="18" charset="0"/>
                          <a:ea typeface="宋体" panose="02010600030101010101" pitchFamily="2" charset="-122"/>
                        </a:rPr>
                        <a:t>SQL </a:t>
                      </a:r>
                      <a:r>
                        <a:rPr lang="zh-CN" altLang="en-US" sz="1600">
                          <a:solidFill>
                            <a:srgbClr val="10337F"/>
                          </a:solidFill>
                          <a:uFillTx/>
                          <a:latin typeface="Times New Roman" panose="02020603050405020304" pitchFamily="18" charset="0"/>
                          <a:ea typeface="宋体" panose="02010600030101010101" pitchFamily="2" charset="-122"/>
                        </a:rPr>
                        <a:t>安全检查、来源追踪与审计</a:t>
                      </a:r>
                      <a:endParaRPr lang="zh-CN" altLang="en-US" sz="1600">
                        <a:solidFill>
                          <a:srgbClr val="10337F"/>
                        </a:solidFill>
                        <a:uFillTx/>
                        <a:latin typeface="Times New Roman" panose="02020603050405020304" pitchFamily="18" charset="0"/>
                        <a:ea typeface="宋体" panose="02010600030101010101" pitchFamily="2" charset="-122"/>
                      </a:endParaRPr>
                    </a:p>
                  </a:txBody>
                  <a:tcPr marL="0" marR="0" marT="0" marB="0" anchor="ctr" anchorCtr="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数据集</a:t>
            </a:r>
            <a:r>
              <a:rPr lang="en-US" altLang="zh-CN"/>
              <a:t>+</a:t>
            </a:r>
            <a:r>
              <a:t>测评</a:t>
            </a:r>
            <a:r>
              <a:t>集</a:t>
            </a:r>
          </a:p>
        </p:txBody>
      </p:sp>
      <p:pic>
        <p:nvPicPr>
          <p:cNvPr id="9" name="图片 8"/>
          <p:cNvPicPr>
            <a:picLocks noChangeAspect="1"/>
          </p:cNvPicPr>
          <p:nvPr/>
        </p:nvPicPr>
        <p:blipFill>
          <a:blip r:embed="rId1"/>
          <a:stretch>
            <a:fillRect/>
          </a:stretch>
        </p:blipFill>
        <p:spPr>
          <a:xfrm>
            <a:off x="1010285" y="1538605"/>
            <a:ext cx="10201275" cy="3746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做的</a:t>
            </a:r>
            <a:r>
              <a:t>是什么</a:t>
            </a:r>
          </a:p>
        </p:txBody>
      </p:sp>
      <p:graphicFrame>
        <p:nvGraphicFramePr>
          <p:cNvPr id="3" name="表格 2"/>
          <p:cNvGraphicFramePr/>
          <p:nvPr/>
        </p:nvGraphicFramePr>
        <p:xfrm>
          <a:off x="853440" y="1231265"/>
          <a:ext cx="10485120" cy="4535805"/>
        </p:xfrm>
        <a:graphic>
          <a:graphicData uri="http://schemas.openxmlformats.org/drawingml/2006/table">
            <a:tbl>
              <a:tblPr>
                <a:tableStyleId>{BC89EF96-8CEA-46FF-86C4-4CE0E7609802}</a:tableStyleId>
              </a:tblPr>
              <a:tblGrid>
                <a:gridCol w="2621280"/>
                <a:gridCol w="2621280"/>
                <a:gridCol w="2621280"/>
                <a:gridCol w="2621280"/>
              </a:tblGrid>
              <a:tr h="453390">
                <a:tc>
                  <a:txBody>
                    <a:bodyPr/>
                    <a:p>
                      <a:pPr algn="ctr"/>
                      <a:r>
                        <a:rPr lang="zh-CN" altLang="en-US" sz="1200" b="1">
                          <a:solidFill>
                            <a:srgbClr val="10337F"/>
                          </a:solidFill>
                          <a:latin typeface="微软雅黑" panose="020B0503020204020204" pitchFamily="34" charset="-122"/>
                          <a:ea typeface="微软雅黑" panose="020B0503020204020204" pitchFamily="34" charset="-122"/>
                        </a:rPr>
                        <a:t>部分</a:t>
                      </a:r>
                      <a:endParaRPr lang="zh-CN" altLang="en-US" sz="1200" b="1">
                        <a:solidFill>
                          <a:srgbClr val="10337F"/>
                        </a:solidFill>
                        <a:latin typeface="微软雅黑" panose="020B0503020204020204" pitchFamily="34" charset="-122"/>
                        <a:ea typeface="微软雅黑" panose="020B0503020204020204" pitchFamily="34" charset="-122"/>
                      </a:endParaRPr>
                    </a:p>
                  </a:txBody>
                  <a:tcPr marL="0" marR="0" marT="0" marB="0" anchor="ctr" anchorCtr="0"/>
                </a:tc>
                <a:tc>
                  <a:txBody>
                    <a:bodyPr/>
                    <a:p>
                      <a:pPr algn="ctr"/>
                      <a:r>
                        <a:rPr lang="zh-CN" altLang="en-US" sz="1200" b="1">
                          <a:solidFill>
                            <a:srgbClr val="10337F"/>
                          </a:solidFill>
                          <a:latin typeface="微软雅黑" panose="020B0503020204020204" pitchFamily="34" charset="-122"/>
                          <a:ea typeface="微软雅黑" panose="020B0503020204020204" pitchFamily="34" charset="-122"/>
                        </a:rPr>
                        <a:t>它是什么</a:t>
                      </a:r>
                      <a:endParaRPr lang="zh-CN" altLang="en-US" sz="1200" b="1">
                        <a:solidFill>
                          <a:srgbClr val="10337F"/>
                        </a:solidFill>
                        <a:latin typeface="微软雅黑" panose="020B0503020204020204" pitchFamily="34" charset="-122"/>
                        <a:ea typeface="微软雅黑" panose="020B0503020204020204" pitchFamily="34" charset="-122"/>
                      </a:endParaRPr>
                    </a:p>
                  </a:txBody>
                  <a:tcPr marL="0" marR="0" marT="0" marB="0" anchor="ctr" anchorCtr="0"/>
                </a:tc>
                <a:tc>
                  <a:txBody>
                    <a:bodyPr/>
                    <a:p>
                      <a:pPr algn="ctr"/>
                      <a:r>
                        <a:rPr lang="zh-CN" altLang="en-US" sz="1200" b="1">
                          <a:solidFill>
                            <a:srgbClr val="10337F"/>
                          </a:solidFill>
                          <a:latin typeface="微软雅黑" panose="020B0503020204020204" pitchFamily="34" charset="-122"/>
                          <a:ea typeface="微软雅黑" panose="020B0503020204020204" pitchFamily="34" charset="-122"/>
                        </a:rPr>
                        <a:t>负责什么</a:t>
                      </a:r>
                      <a:endParaRPr lang="zh-CN" altLang="en-US" sz="1200" b="1">
                        <a:solidFill>
                          <a:srgbClr val="10337F"/>
                        </a:solidFill>
                        <a:latin typeface="微软雅黑" panose="020B0503020204020204" pitchFamily="34" charset="-122"/>
                        <a:ea typeface="微软雅黑" panose="020B0503020204020204" pitchFamily="34" charset="-122"/>
                      </a:endParaRPr>
                    </a:p>
                  </a:txBody>
                  <a:tcPr marL="0" marR="0" marT="0" marB="0" anchor="ctr" anchorCtr="0"/>
                </a:tc>
                <a:tc>
                  <a:txBody>
                    <a:bodyPr/>
                    <a:p>
                      <a:pPr algn="ctr"/>
                      <a:r>
                        <a:rPr lang="zh-CN" altLang="en-US" sz="1200" b="1">
                          <a:solidFill>
                            <a:srgbClr val="10337F"/>
                          </a:solidFill>
                          <a:latin typeface="微软雅黑" panose="020B0503020204020204" pitchFamily="34" charset="-122"/>
                          <a:ea typeface="微软雅黑" panose="020B0503020204020204" pitchFamily="34" charset="-122"/>
                        </a:rPr>
                        <a:t>是不是核心</a:t>
                      </a:r>
                      <a:endParaRPr lang="zh-CN" altLang="en-US" sz="1200" b="1">
                        <a:solidFill>
                          <a:srgbClr val="10337F"/>
                        </a:solidFill>
                        <a:latin typeface="微软雅黑" panose="020B0503020204020204" pitchFamily="34" charset="-122"/>
                        <a:ea typeface="微软雅黑" panose="020B0503020204020204" pitchFamily="34" charset="-122"/>
                      </a:endParaRPr>
                    </a:p>
                  </a:txBody>
                  <a:tcPr marL="0" marR="0" marT="0" marB="0" anchor="ctr" anchorCtr="0"/>
                </a:tc>
              </a:tr>
              <a:tr h="453390">
                <a:tc>
                  <a:txBody>
                    <a:bodyPr/>
                    <a:p>
                      <a:pPr algn="ctr"/>
                      <a:r>
                        <a:rPr lang="zh-CN" altLang="en-US" sz="1100">
                          <a:solidFill>
                            <a:srgbClr val="10337F"/>
                          </a:solidFill>
                        </a:rPr>
                        <a:t>网页端</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用户操作界面</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输入问题、展示结果、展示 </a:t>
                      </a:r>
                      <a:r>
                        <a:rPr lang="en-US" altLang="zh-CN" sz="1100">
                          <a:solidFill>
                            <a:srgbClr val="10337F"/>
                          </a:solidFill>
                        </a:rPr>
                        <a:t>SQL </a:t>
                      </a:r>
                      <a:r>
                        <a:rPr lang="zh-CN" altLang="en-US" sz="1100">
                          <a:solidFill>
                            <a:srgbClr val="10337F"/>
                          </a:solidFill>
                        </a:rPr>
                        <a:t>和证据</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必须有，但只是表现层</a:t>
                      </a:r>
                      <a:endParaRPr lang="zh-CN" altLang="en-US" sz="1100">
                        <a:solidFill>
                          <a:srgbClr val="10337F"/>
                        </a:solidFill>
                      </a:endParaRPr>
                    </a:p>
                  </a:txBody>
                  <a:tcPr marL="0" marR="0" marT="0" marB="0" anchor="ctr" anchorCtr="0"/>
                </a:tc>
              </a:tr>
              <a:tr h="454025">
                <a:tc>
                  <a:txBody>
                    <a:bodyPr/>
                    <a:p>
                      <a:pPr algn="ctr"/>
                      <a:r>
                        <a:rPr lang="zh-CN" altLang="en-US" sz="1100">
                          <a:solidFill>
                            <a:srgbClr val="10337F"/>
                          </a:solidFill>
                        </a:rPr>
                        <a:t>大模型 </a:t>
                      </a:r>
                      <a:r>
                        <a:rPr lang="en-US" altLang="zh-CN" sz="1100">
                          <a:solidFill>
                            <a:srgbClr val="10337F"/>
                          </a:solidFill>
                        </a:rPr>
                        <a:t>API</a:t>
                      </a:r>
                      <a:endParaRPr lang="en-US" altLang="zh-CN" sz="1100">
                        <a:solidFill>
                          <a:srgbClr val="10337F"/>
                        </a:solidFill>
                      </a:endParaRPr>
                    </a:p>
                  </a:txBody>
                  <a:tcPr marL="0" marR="0" marT="0" marB="0" anchor="ctr" anchorCtr="0"/>
                </a:tc>
                <a:tc>
                  <a:txBody>
                    <a:bodyPr/>
                    <a:p>
                      <a:pPr algn="ctr"/>
                      <a:r>
                        <a:rPr lang="zh-CN" altLang="en-US" sz="1100">
                          <a:solidFill>
                            <a:srgbClr val="10337F"/>
                          </a:solidFill>
                        </a:rPr>
                        <a:t>语言理解和推理引擎</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理解用户问题、拆分任务、生成回答</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是底座，但不是我们的全部产品</a:t>
                      </a:r>
                      <a:endParaRPr lang="zh-CN" altLang="en-US" sz="1100">
                        <a:solidFill>
                          <a:srgbClr val="10337F"/>
                        </a:solidFill>
                      </a:endParaRPr>
                    </a:p>
                  </a:txBody>
                  <a:tcPr marL="0" marR="0" marT="0" marB="0" anchor="ctr" anchorCtr="0"/>
                </a:tc>
              </a:tr>
              <a:tr h="453390">
                <a:tc>
                  <a:txBody>
                    <a:bodyPr/>
                    <a:p>
                      <a:pPr algn="ctr"/>
                      <a:r>
                        <a:rPr lang="en-US" altLang="zh-CN" sz="1100">
                          <a:solidFill>
                            <a:srgbClr val="10337F"/>
                          </a:solidFill>
                        </a:rPr>
                        <a:t>Chinook </a:t>
                      </a:r>
                      <a:r>
                        <a:rPr lang="zh-CN" altLang="en-US" sz="1100">
                          <a:solidFill>
                            <a:srgbClr val="10337F"/>
                          </a:solidFill>
                        </a:rPr>
                        <a:t>数据库</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数字和事实来源</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提供客户、订单、商品、销售数据</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是事实来源</a:t>
                      </a:r>
                      <a:endParaRPr lang="zh-CN" altLang="en-US" sz="1100">
                        <a:solidFill>
                          <a:srgbClr val="10337F"/>
                        </a:solidFill>
                      </a:endParaRPr>
                    </a:p>
                  </a:txBody>
                  <a:tcPr marL="0" marR="0" marT="0" marB="0" anchor="ctr" anchorCtr="0"/>
                </a:tc>
              </a:tr>
              <a:tr h="454025">
                <a:tc>
                  <a:txBody>
                    <a:bodyPr/>
                    <a:p>
                      <a:pPr algn="ctr"/>
                      <a:r>
                        <a:rPr lang="en-US" altLang="zh-CN" sz="1100">
                          <a:solidFill>
                            <a:srgbClr val="10337F"/>
                          </a:solidFill>
                        </a:rPr>
                        <a:t>NL2SQL</a:t>
                      </a:r>
                      <a:endParaRPr lang="en-US" altLang="zh-CN" sz="1100">
                        <a:solidFill>
                          <a:srgbClr val="10337F"/>
                        </a:solidFill>
                      </a:endParaRPr>
                    </a:p>
                  </a:txBody>
                  <a:tcPr marL="0" marR="0" marT="0" marB="0" anchor="ctr" anchorCtr="0"/>
                </a:tc>
                <a:tc>
                  <a:txBody>
                    <a:bodyPr/>
                    <a:p>
                      <a:pPr algn="ctr"/>
                      <a:r>
                        <a:rPr lang="zh-CN" altLang="en-US" sz="1100">
                          <a:solidFill>
                            <a:srgbClr val="10337F"/>
                          </a:solidFill>
                        </a:rPr>
                        <a:t>数据库查询工具</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把自然语言转换成 </a:t>
                      </a:r>
                      <a:r>
                        <a:rPr lang="en-US" altLang="zh-CN" sz="1100">
                          <a:solidFill>
                            <a:srgbClr val="10337F"/>
                          </a:solidFill>
                        </a:rPr>
                        <a:t>SQL</a:t>
                      </a:r>
                      <a:endParaRPr lang="en-US" altLang="zh-CN" sz="1100">
                        <a:solidFill>
                          <a:srgbClr val="10337F"/>
                        </a:solidFill>
                      </a:endParaRPr>
                    </a:p>
                  </a:txBody>
                  <a:tcPr marL="0" marR="0" marT="0" marB="0" anchor="ctr" anchorCtr="0"/>
                </a:tc>
                <a:tc>
                  <a:txBody>
                    <a:bodyPr/>
                    <a:p>
                      <a:pPr algn="ctr"/>
                      <a:r>
                        <a:rPr lang="zh-CN" altLang="en-US" sz="1100">
                          <a:solidFill>
                            <a:srgbClr val="10337F"/>
                          </a:solidFill>
                        </a:rPr>
                        <a:t>是核心能力之一</a:t>
                      </a:r>
                      <a:endParaRPr lang="zh-CN" altLang="en-US" sz="1100">
                        <a:solidFill>
                          <a:srgbClr val="10337F"/>
                        </a:solidFill>
                      </a:endParaRPr>
                    </a:p>
                  </a:txBody>
                  <a:tcPr marL="0" marR="0" marT="0" marB="0" anchor="ctr" anchorCtr="0"/>
                </a:tc>
              </a:tr>
              <a:tr h="453390">
                <a:tc>
                  <a:txBody>
                    <a:bodyPr/>
                    <a:p>
                      <a:pPr algn="ctr"/>
                      <a:r>
                        <a:rPr lang="en-US" altLang="zh-CN" sz="1100">
                          <a:solidFill>
                            <a:srgbClr val="10337F"/>
                          </a:solidFill>
                        </a:rPr>
                        <a:t>RAG</a:t>
                      </a:r>
                      <a:endParaRPr lang="en-US" altLang="zh-CN" sz="1100">
                        <a:solidFill>
                          <a:srgbClr val="10337F"/>
                        </a:solidFill>
                      </a:endParaRPr>
                    </a:p>
                  </a:txBody>
                  <a:tcPr marL="0" marR="0" marT="0" marB="0" anchor="ctr" anchorCtr="0"/>
                </a:tc>
                <a:tc>
                  <a:txBody>
                    <a:bodyPr/>
                    <a:p>
                      <a:pPr algn="ctr"/>
                      <a:r>
                        <a:rPr lang="zh-CN" altLang="en-US" sz="1100">
                          <a:solidFill>
                            <a:srgbClr val="10337F"/>
                          </a:solidFill>
                        </a:rPr>
                        <a:t>文档检索工具</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从规则、目标、报告中找依据</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是核心能力之一</a:t>
                      </a:r>
                      <a:endParaRPr lang="zh-CN" altLang="en-US" sz="1100">
                        <a:solidFill>
                          <a:srgbClr val="10337F"/>
                        </a:solidFill>
                      </a:endParaRPr>
                    </a:p>
                  </a:txBody>
                  <a:tcPr marL="0" marR="0" marT="0" marB="0" anchor="ctr" anchorCtr="0"/>
                </a:tc>
              </a:tr>
              <a:tr h="453390">
                <a:tc>
                  <a:txBody>
                    <a:bodyPr/>
                    <a:p>
                      <a:pPr algn="ctr"/>
                      <a:r>
                        <a:rPr lang="en-US" altLang="zh-CN" sz="1100">
                          <a:solidFill>
                            <a:srgbClr val="10337F"/>
                          </a:solidFill>
                        </a:rPr>
                        <a:t>OCR</a:t>
                      </a:r>
                      <a:r>
                        <a:rPr lang="zh-CN" altLang="en-US" sz="1100">
                          <a:solidFill>
                            <a:srgbClr val="10337F"/>
                          </a:solidFill>
                        </a:rPr>
                        <a:t>／文档解析</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非结构化数据处理工具</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读取扫描 </a:t>
                      </a:r>
                      <a:r>
                        <a:rPr lang="en-US" altLang="zh-CN" sz="1100">
                          <a:solidFill>
                            <a:srgbClr val="10337F"/>
                          </a:solidFill>
                        </a:rPr>
                        <a:t>PDF</a:t>
                      </a:r>
                      <a:r>
                        <a:rPr lang="zh-CN" altLang="en-US" sz="1100">
                          <a:solidFill>
                            <a:srgbClr val="10337F"/>
                          </a:solidFill>
                        </a:rPr>
                        <a:t>、图片、表格</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是多模态能力</a:t>
                      </a:r>
                      <a:endParaRPr lang="zh-CN" altLang="en-US" sz="1100">
                        <a:solidFill>
                          <a:srgbClr val="10337F"/>
                        </a:solidFill>
                      </a:endParaRPr>
                    </a:p>
                  </a:txBody>
                  <a:tcPr marL="0" marR="0" marT="0" marB="0" anchor="ctr" anchorCtr="0"/>
                </a:tc>
              </a:tr>
              <a:tr h="907415">
                <a:tc>
                  <a:txBody>
                    <a:bodyPr/>
                    <a:p>
                      <a:pPr algn="ctr"/>
                      <a:r>
                        <a:rPr lang="en-US" altLang="zh-CN" sz="1100">
                          <a:solidFill>
                            <a:srgbClr val="10337F"/>
                          </a:solidFill>
                        </a:rPr>
                        <a:t>Agent </a:t>
                      </a:r>
                      <a:r>
                        <a:rPr lang="zh-CN" altLang="en-US" sz="1100">
                          <a:solidFill>
                            <a:srgbClr val="10337F"/>
                          </a:solidFill>
                        </a:rPr>
                        <a:t>编排层</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任务调度和决策中枢</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决定查什么、先查什么、是否澄清、如何合并结果</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这是产品真正的核心</a:t>
                      </a:r>
                      <a:endParaRPr lang="zh-CN" altLang="en-US" sz="1100">
                        <a:solidFill>
                          <a:srgbClr val="10337F"/>
                        </a:solidFill>
                      </a:endParaRPr>
                    </a:p>
                  </a:txBody>
                  <a:tcPr marL="0" marR="0" marT="0" marB="0" anchor="ctr" anchorCtr="0"/>
                </a:tc>
              </a:tr>
              <a:tr h="453390">
                <a:tc>
                  <a:txBody>
                    <a:bodyPr/>
                    <a:p>
                      <a:pPr algn="ctr"/>
                      <a:r>
                        <a:rPr lang="zh-CN" altLang="en-US" sz="1100">
                          <a:solidFill>
                            <a:srgbClr val="10337F"/>
                          </a:solidFill>
                        </a:rPr>
                        <a:t>可解释输出</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结果展示机制</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展示 </a:t>
                      </a:r>
                      <a:r>
                        <a:rPr lang="en-US" altLang="zh-CN" sz="1100">
                          <a:solidFill>
                            <a:srgbClr val="10337F"/>
                          </a:solidFill>
                        </a:rPr>
                        <a:t>SQL</a:t>
                      </a:r>
                      <a:r>
                        <a:rPr lang="zh-CN" altLang="en-US" sz="1100">
                          <a:solidFill>
                            <a:srgbClr val="10337F"/>
                          </a:solidFill>
                        </a:rPr>
                        <a:t>、文档来源、计算过程和口径</a:t>
                      </a:r>
                      <a:endParaRPr lang="zh-CN" altLang="en-US" sz="1100">
                        <a:solidFill>
                          <a:srgbClr val="10337F"/>
                        </a:solidFill>
                      </a:endParaRPr>
                    </a:p>
                  </a:txBody>
                  <a:tcPr marL="0" marR="0" marT="0" marB="0" anchor="ctr" anchorCtr="0"/>
                </a:tc>
                <a:tc>
                  <a:txBody>
                    <a:bodyPr/>
                    <a:p>
                      <a:pPr algn="ctr"/>
                      <a:r>
                        <a:rPr lang="zh-CN" altLang="en-US" sz="1100">
                          <a:solidFill>
                            <a:srgbClr val="10337F"/>
                          </a:solidFill>
                        </a:rPr>
                        <a:t>是比赛得分重点</a:t>
                      </a:r>
                      <a:endParaRPr lang="zh-CN" altLang="en-US" sz="1100">
                        <a:solidFill>
                          <a:srgbClr val="10337F"/>
                        </a:solidFill>
                      </a:endParaRPr>
                    </a:p>
                  </a:txBody>
                  <a:tcPr marL="0" marR="0" marT="0" marB="0" anchor="ctr" anchorCtr="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现阶段</a:t>
            </a:r>
            <a:r>
              <a:t>分工</a:t>
            </a:r>
          </a:p>
        </p:txBody>
      </p:sp>
      <p:sp>
        <p:nvSpPr>
          <p:cNvPr id="9" name="文本框 8"/>
          <p:cNvSpPr txBox="1"/>
          <p:nvPr/>
        </p:nvSpPr>
        <p:spPr>
          <a:xfrm>
            <a:off x="382905" y="1001395"/>
            <a:ext cx="10938510" cy="4799965"/>
          </a:xfrm>
          <a:prstGeom prst="rect">
            <a:avLst/>
          </a:prstGeom>
          <a:noFill/>
        </p:spPr>
        <p:txBody>
          <a:bodyPr wrap="square" rtlCol="0">
            <a:spAutoFit/>
          </a:bodyPr>
          <a:p>
            <a:r>
              <a:rPr lang="en-US" altLang="zh-CN" b="1">
                <a:solidFill>
                  <a:srgbClr val="10337F"/>
                </a:solidFill>
                <a:sym typeface="+mn-ea"/>
              </a:rPr>
              <a:t>A：</a:t>
            </a:r>
            <a:r>
              <a:rPr lang="zh-CN" altLang="en-US" b="1">
                <a:solidFill>
                  <a:srgbClr val="10337F"/>
                </a:solidFill>
                <a:sym typeface="+mn-ea"/>
              </a:rPr>
              <a:t>业务文档、字段口径、数据集、评测题目。</a:t>
            </a:r>
            <a:endParaRPr lang="zh-CN" altLang="en-US" b="1">
              <a:solidFill>
                <a:srgbClr val="10337F"/>
              </a:solidFill>
            </a:endParaRPr>
          </a:p>
          <a:p>
            <a:r>
              <a:rPr lang="en-US" altLang="zh-CN" b="1">
                <a:solidFill>
                  <a:srgbClr val="10337F"/>
                </a:solidFill>
                <a:sym typeface="+mn-ea"/>
              </a:rPr>
              <a:t>B：</a:t>
            </a:r>
            <a:r>
              <a:rPr lang="zh-CN" altLang="en-US" b="1">
                <a:solidFill>
                  <a:srgbClr val="10337F"/>
                </a:solidFill>
                <a:sym typeface="+mn-ea"/>
              </a:rPr>
              <a:t>网页展示、</a:t>
            </a:r>
            <a:r>
              <a:rPr lang="en-US" altLang="zh-CN" b="1">
                <a:solidFill>
                  <a:srgbClr val="10337F"/>
                </a:solidFill>
                <a:sym typeface="+mn-ea"/>
              </a:rPr>
              <a:t>API </a:t>
            </a:r>
            <a:r>
              <a:rPr lang="zh-CN" altLang="en-US" b="1">
                <a:solidFill>
                  <a:srgbClr val="10337F"/>
                </a:solidFill>
                <a:sym typeface="+mn-ea"/>
              </a:rPr>
              <a:t>接口、后续 </a:t>
            </a:r>
            <a:r>
              <a:rPr lang="en-US" altLang="zh-CN" b="1">
                <a:solidFill>
                  <a:srgbClr val="10337F"/>
                </a:solidFill>
                <a:sym typeface="+mn-ea"/>
              </a:rPr>
              <a:t>Agent </a:t>
            </a:r>
            <a:r>
              <a:rPr lang="zh-CN" altLang="en-US" b="1">
                <a:solidFill>
                  <a:srgbClr val="10337F"/>
                </a:solidFill>
                <a:sym typeface="+mn-ea"/>
              </a:rPr>
              <a:t>流程串联。</a:t>
            </a:r>
            <a:endParaRPr lang="zh-CN" altLang="en-US" b="1">
              <a:solidFill>
                <a:srgbClr val="10337F"/>
              </a:solidFill>
            </a:endParaRPr>
          </a:p>
          <a:p>
            <a:r>
              <a:rPr lang="en-US" altLang="zh-CN" b="1">
                <a:solidFill>
                  <a:srgbClr val="10337F"/>
                </a:solidFill>
                <a:sym typeface="+mn-ea"/>
              </a:rPr>
              <a:t>C：Chinook </a:t>
            </a:r>
            <a:r>
              <a:rPr lang="zh-CN" altLang="en-US" b="1">
                <a:solidFill>
                  <a:srgbClr val="10337F"/>
                </a:solidFill>
                <a:sym typeface="+mn-ea"/>
              </a:rPr>
              <a:t>数据库接入、</a:t>
            </a:r>
            <a:r>
              <a:rPr lang="en-US" altLang="zh-CN" b="1">
                <a:solidFill>
                  <a:srgbClr val="10337F"/>
                </a:solidFill>
                <a:sym typeface="+mn-ea"/>
              </a:rPr>
              <a:t>Schema、SQL </a:t>
            </a:r>
            <a:r>
              <a:rPr lang="zh-CN" altLang="en-US" b="1">
                <a:solidFill>
                  <a:srgbClr val="10337F"/>
                </a:solidFill>
                <a:sym typeface="+mn-ea"/>
              </a:rPr>
              <a:t>查询和 </a:t>
            </a:r>
            <a:r>
              <a:rPr lang="en-US" altLang="zh-CN" b="1">
                <a:solidFill>
                  <a:srgbClr val="10337F"/>
                </a:solidFill>
                <a:sym typeface="+mn-ea"/>
              </a:rPr>
              <a:t>NL2SQL。</a:t>
            </a:r>
            <a:endParaRPr lang="zh-CN" altLang="en-US" b="1">
              <a:solidFill>
                <a:srgbClr val="10337F"/>
              </a:solidFill>
            </a:endParaRPr>
          </a:p>
          <a:p>
            <a:endParaRPr lang="zh-CN" altLang="en-US">
              <a:solidFill>
                <a:srgbClr val="10337F"/>
              </a:solidFill>
            </a:endParaRPr>
          </a:p>
          <a:p>
            <a:r>
              <a:rPr lang="zh-CN" altLang="en-US">
                <a:solidFill>
                  <a:srgbClr val="10337F"/>
                </a:solidFill>
              </a:rPr>
              <a:t>前提：确定一个</a:t>
            </a:r>
            <a:r>
              <a:rPr lang="zh-CN" altLang="en-US" b="1">
                <a:solidFill>
                  <a:srgbClr val="C00000"/>
                </a:solidFill>
              </a:rPr>
              <a:t>统一的接口格式</a:t>
            </a:r>
            <a:r>
              <a:rPr lang="zh-CN" altLang="en-US">
                <a:solidFill>
                  <a:srgbClr val="10337F"/>
                </a:solidFill>
              </a:rPr>
              <a:t>（字段口径、3 个核心问题和接口返回格式）</a:t>
            </a:r>
            <a:endParaRPr lang="zh-CN" altLang="en-US">
              <a:solidFill>
                <a:srgbClr val="10337F"/>
              </a:solidFill>
            </a:endParaRPr>
          </a:p>
          <a:p>
            <a:r>
              <a:rPr lang="en-US" altLang="zh-CN">
                <a:solidFill>
                  <a:srgbClr val="10337F"/>
                </a:solidFill>
              </a:rPr>
              <a:t>A </a:t>
            </a:r>
            <a:r>
              <a:rPr lang="zh-CN" altLang="en-US">
                <a:solidFill>
                  <a:srgbClr val="10337F"/>
                </a:solidFill>
              </a:rPr>
              <a:t>先拿到 </a:t>
            </a:r>
            <a:r>
              <a:rPr lang="en-US" altLang="zh-CN">
                <a:solidFill>
                  <a:srgbClr val="10337F"/>
                </a:solidFill>
              </a:rPr>
              <a:t>Chinook </a:t>
            </a:r>
            <a:r>
              <a:rPr lang="zh-CN" altLang="en-US">
                <a:solidFill>
                  <a:srgbClr val="10337F"/>
                </a:solidFill>
              </a:rPr>
              <a:t>的表结构后，整理第一版字段口径，并写 10 道典型问题。</a:t>
            </a:r>
            <a:endParaRPr lang="zh-CN" altLang="en-US">
              <a:solidFill>
                <a:srgbClr val="10337F"/>
              </a:solidFill>
            </a:endParaRPr>
          </a:p>
          <a:p>
            <a:r>
              <a:rPr lang="en-US" altLang="zh-CN">
                <a:solidFill>
                  <a:srgbClr val="10337F"/>
                </a:solidFill>
                <a:sym typeface="+mn-ea"/>
              </a:rPr>
              <a:t>B </a:t>
            </a:r>
            <a:r>
              <a:rPr lang="zh-CN" altLang="en-US">
                <a:solidFill>
                  <a:srgbClr val="10337F"/>
                </a:solidFill>
                <a:sym typeface="+mn-ea"/>
              </a:rPr>
              <a:t>先做一个简单页面，能输入问题，并展示答案、</a:t>
            </a:r>
            <a:r>
              <a:rPr lang="en-US" altLang="zh-CN">
                <a:solidFill>
                  <a:srgbClr val="10337F"/>
                </a:solidFill>
                <a:sym typeface="+mn-ea"/>
              </a:rPr>
              <a:t>SQL、</a:t>
            </a:r>
            <a:r>
              <a:rPr lang="zh-CN" altLang="en-US">
                <a:solidFill>
                  <a:srgbClr val="10337F"/>
                </a:solidFill>
                <a:sym typeface="+mn-ea"/>
              </a:rPr>
              <a:t>查询结果和文档来源。</a:t>
            </a:r>
            <a:endParaRPr lang="zh-CN" altLang="en-US">
              <a:solidFill>
                <a:srgbClr val="10337F"/>
              </a:solidFill>
            </a:endParaRPr>
          </a:p>
          <a:p>
            <a:r>
              <a:rPr lang="en-US" altLang="zh-CN">
                <a:solidFill>
                  <a:srgbClr val="10337F"/>
                </a:solidFill>
              </a:rPr>
              <a:t>C </a:t>
            </a:r>
            <a:r>
              <a:rPr lang="zh-CN" altLang="en-US">
                <a:solidFill>
                  <a:srgbClr val="10337F"/>
                </a:solidFill>
              </a:rPr>
              <a:t>先完成：读取表结构、执行只读 </a:t>
            </a:r>
            <a:r>
              <a:rPr lang="en-US" altLang="zh-CN">
                <a:solidFill>
                  <a:srgbClr val="10337F"/>
                </a:solidFill>
              </a:rPr>
              <a:t>SQL、</a:t>
            </a:r>
            <a:r>
              <a:rPr lang="zh-CN" altLang="en-US">
                <a:solidFill>
                  <a:srgbClr val="10337F"/>
                </a:solidFill>
              </a:rPr>
              <a:t>返回标准格式的查询结果。</a:t>
            </a:r>
            <a:endParaRPr lang="zh-CN" altLang="en-US">
              <a:solidFill>
                <a:srgbClr val="10337F"/>
              </a:solidFill>
            </a:endParaRPr>
          </a:p>
          <a:p>
            <a:endParaRPr lang="zh-CN" altLang="en-US">
              <a:solidFill>
                <a:srgbClr val="10337F"/>
              </a:solidFill>
            </a:endParaRPr>
          </a:p>
          <a:p>
            <a:r>
              <a:rPr lang="zh-CN" altLang="en-US" b="1">
                <a:solidFill>
                  <a:srgbClr val="10337F"/>
                </a:solidFill>
              </a:rPr>
              <a:t>链路：</a:t>
            </a:r>
            <a:r>
              <a:rPr lang="zh-CN" altLang="en-US">
                <a:solidFill>
                  <a:srgbClr val="10337F"/>
                </a:solidFill>
              </a:rPr>
              <a:t>网页</a:t>
            </a:r>
            <a:r>
              <a:rPr lang="en-US" altLang="zh-CN">
                <a:solidFill>
                  <a:srgbClr val="10337F"/>
                </a:solidFill>
              </a:rPr>
              <a:t>→ API→ Agent </a:t>
            </a:r>
            <a:r>
              <a:rPr lang="zh-CN" altLang="en-US">
                <a:solidFill>
                  <a:srgbClr val="10337F"/>
                </a:solidFill>
              </a:rPr>
              <a:t>判断</a:t>
            </a:r>
            <a:r>
              <a:rPr lang="en-US" altLang="zh-CN">
                <a:solidFill>
                  <a:srgbClr val="10337F"/>
                </a:solidFill>
              </a:rPr>
              <a:t>→ SQL </a:t>
            </a:r>
            <a:r>
              <a:rPr lang="zh-CN" altLang="en-US">
                <a:solidFill>
                  <a:srgbClr val="10337F"/>
                </a:solidFill>
              </a:rPr>
              <a:t>或 </a:t>
            </a:r>
            <a:r>
              <a:rPr lang="en-US" altLang="zh-CN">
                <a:solidFill>
                  <a:srgbClr val="10337F"/>
                </a:solidFill>
              </a:rPr>
              <a:t>RAG </a:t>
            </a:r>
            <a:r>
              <a:rPr lang="zh-CN" altLang="en-US">
                <a:solidFill>
                  <a:srgbClr val="10337F"/>
                </a:solidFill>
              </a:rPr>
              <a:t>工具→ 返回答案和证据</a:t>
            </a:r>
            <a:endParaRPr lang="zh-CN" altLang="en-US">
              <a:solidFill>
                <a:srgbClr val="10337F"/>
              </a:solidFill>
            </a:endParaRPr>
          </a:p>
          <a:p>
            <a:endParaRPr lang="zh-CN" altLang="en-US">
              <a:solidFill>
                <a:srgbClr val="10337F"/>
              </a:solidFill>
            </a:endParaRPr>
          </a:p>
          <a:p>
            <a:r>
              <a:rPr lang="zh-CN" altLang="en-US">
                <a:solidFill>
                  <a:srgbClr val="10337F"/>
                </a:solidFill>
              </a:rPr>
              <a:t>三个核心问题可以定成：</a:t>
            </a:r>
            <a:endParaRPr lang="zh-CN" altLang="en-US">
              <a:solidFill>
                <a:srgbClr val="10337F"/>
              </a:solidFill>
            </a:endParaRPr>
          </a:p>
          <a:p>
            <a:r>
              <a:rPr lang="zh-CN" altLang="en-US">
                <a:solidFill>
                  <a:srgbClr val="10337F"/>
                </a:solidFill>
              </a:rPr>
              <a:t>1. “2025 年 </a:t>
            </a:r>
            <a:r>
              <a:rPr lang="en-US" altLang="zh-CN">
                <a:solidFill>
                  <a:srgbClr val="10337F"/>
                </a:solidFill>
              </a:rPr>
              <a:t>Rock </a:t>
            </a:r>
            <a:r>
              <a:rPr lang="zh-CN" altLang="en-US">
                <a:solidFill>
                  <a:srgbClr val="10337F"/>
                </a:solidFill>
              </a:rPr>
              <a:t>音乐销售额是多少？”</a:t>
            </a:r>
            <a:endParaRPr lang="zh-CN" altLang="en-US">
              <a:solidFill>
                <a:srgbClr val="10337F"/>
              </a:solidFill>
            </a:endParaRPr>
          </a:p>
          <a:p>
            <a:r>
              <a:rPr lang="en-US" altLang="zh-CN">
                <a:solidFill>
                  <a:srgbClr val="10337F"/>
                </a:solidFill>
              </a:rPr>
              <a:t>2. “Rock </a:t>
            </a:r>
            <a:r>
              <a:rPr lang="zh-CN" altLang="en-US">
                <a:solidFill>
                  <a:srgbClr val="10337F"/>
                </a:solidFill>
              </a:rPr>
              <a:t>达到第三季度经营目标了吗？”</a:t>
            </a:r>
            <a:endParaRPr lang="zh-CN" altLang="en-US">
              <a:solidFill>
                <a:srgbClr val="10337F"/>
              </a:solidFill>
            </a:endParaRPr>
          </a:p>
          <a:p>
            <a:r>
              <a:rPr lang="zh-CN" altLang="en-US">
                <a:solidFill>
                  <a:srgbClr val="10337F"/>
                </a:solidFill>
              </a:rPr>
              <a:t>3. “销售增长率是多少？”——测试系统是否主动澄清时间范围。</a:t>
            </a:r>
            <a:endParaRPr lang="zh-CN" altLang="en-US">
              <a:solidFill>
                <a:srgbClr val="10337F"/>
              </a:solidFill>
            </a:endParaRPr>
          </a:p>
          <a:p>
            <a:r>
              <a:rPr lang="zh-CN" altLang="en-US">
                <a:solidFill>
                  <a:srgbClr val="10337F"/>
                </a:solidFill>
              </a:rPr>
              <a:t>对应数据库查询、跨源查询和主动澄清。</a:t>
            </a:r>
            <a:endParaRPr lang="zh-CN" altLang="en-US">
              <a:solidFill>
                <a:srgbClr val="10337F"/>
              </a:solidFill>
            </a:endParaRPr>
          </a:p>
          <a:p>
            <a:endParaRPr lang="zh-CN" altLang="en-US">
              <a:solidFill>
                <a:srgbClr val="10337F"/>
              </a:solidFill>
            </a:endParaRPr>
          </a:p>
        </p:txBody>
      </p:sp>
      <p:pic>
        <p:nvPicPr>
          <p:cNvPr id="3" name="图片 2"/>
          <p:cNvPicPr>
            <a:picLocks noChangeAspect="1"/>
          </p:cNvPicPr>
          <p:nvPr/>
        </p:nvPicPr>
        <p:blipFill>
          <a:blip r:embed="rId1"/>
          <a:stretch>
            <a:fillRect/>
          </a:stretch>
        </p:blipFill>
        <p:spPr>
          <a:xfrm>
            <a:off x="6861175" y="3968750"/>
            <a:ext cx="5083810" cy="22663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中级任务</a:t>
            </a:r>
          </a:p>
        </p:txBody>
      </p:sp>
      <p:sp>
        <p:nvSpPr>
          <p:cNvPr id="3" name="文本框 2"/>
          <p:cNvSpPr txBox="1"/>
          <p:nvPr/>
        </p:nvSpPr>
        <p:spPr>
          <a:xfrm>
            <a:off x="605155" y="1000125"/>
            <a:ext cx="10928350" cy="5262245"/>
          </a:xfrm>
          <a:prstGeom prst="rect">
            <a:avLst/>
          </a:prstGeom>
          <a:noFill/>
        </p:spPr>
        <p:txBody>
          <a:bodyPr wrap="square" rtlCol="0">
            <a:spAutoFit/>
          </a:bodyPr>
          <a:p>
            <a:r>
              <a:rPr lang="zh-CN" altLang="en-US" sz="2400" b="1">
                <a:solidFill>
                  <a:srgbClr val="10337F"/>
                </a:solidFill>
              </a:rPr>
              <a:t>结构化方向</a:t>
            </a:r>
            <a:endParaRPr lang="zh-CN" altLang="en-US" sz="2400" b="1">
              <a:solidFill>
                <a:srgbClr val="10337F"/>
              </a:solidFill>
            </a:endParaRPr>
          </a:p>
          <a:p>
            <a:r>
              <a:rPr lang="zh-CN" altLang="en-US" b="1">
                <a:solidFill>
                  <a:srgbClr val="10337F"/>
                </a:solidFill>
              </a:rPr>
              <a:t>● 中级任务 1、2：要素识别、问题改写与可扩展提取</a:t>
            </a:r>
            <a:endParaRPr lang="zh-CN" altLang="en-US" b="1">
              <a:solidFill>
                <a:srgbClr val="10337F"/>
              </a:solidFill>
            </a:endParaRPr>
          </a:p>
          <a:p>
            <a:r>
              <a:rPr lang="zh-CN" altLang="en-US">
                <a:solidFill>
                  <a:srgbClr val="10337F"/>
                </a:solidFill>
              </a:rPr>
              <a:t>围绕业务实体、指标、时间和范围，建立配置化的要素识别与标准化机制，支持别名、简称、错别字和口语化表达的识别，并能够低成本扩展新的业务实体类型。</a:t>
            </a:r>
            <a:endParaRPr lang="zh-CN" altLang="en-US">
              <a:solidFill>
                <a:srgbClr val="10337F"/>
              </a:solidFill>
            </a:endParaRPr>
          </a:p>
          <a:p>
            <a:r>
              <a:rPr lang="zh-CN" altLang="en-US" b="1">
                <a:solidFill>
                  <a:srgbClr val="10337F"/>
                </a:solidFill>
              </a:rPr>
              <a:t>● 中级任务 3：智能语义校验与澄清</a:t>
            </a:r>
            <a:endParaRPr lang="zh-CN" altLang="en-US" b="1">
              <a:solidFill>
                <a:srgbClr val="10337F"/>
              </a:solidFill>
            </a:endParaRPr>
          </a:p>
          <a:p>
            <a:r>
              <a:rPr lang="zh-CN" altLang="en-US">
                <a:solidFill>
                  <a:srgbClr val="10337F"/>
                </a:solidFill>
              </a:rPr>
              <a:t>识别用户问题是否缺少时间、指标、范围等关键条件。条件不完整时主动追问，不直接生成错误 </a:t>
            </a:r>
            <a:r>
              <a:rPr lang="en-US" altLang="zh-CN">
                <a:solidFill>
                  <a:srgbClr val="10337F"/>
                </a:solidFill>
              </a:rPr>
              <a:t>SQL。</a:t>
            </a:r>
            <a:endParaRPr lang="en-US" altLang="zh-CN">
              <a:solidFill>
                <a:srgbClr val="10337F"/>
              </a:solidFill>
            </a:endParaRPr>
          </a:p>
          <a:p>
            <a:r>
              <a:rPr lang="zh-CN" altLang="en-US" b="1">
                <a:solidFill>
                  <a:srgbClr val="10337F"/>
                </a:solidFill>
              </a:rPr>
              <a:t>● 中级任务 4：精准表定位（</a:t>
            </a:r>
            <a:r>
              <a:rPr lang="en-US" altLang="zh-CN" b="1">
                <a:solidFill>
                  <a:srgbClr val="10337F"/>
                </a:solidFill>
              </a:rPr>
              <a:t>Schema Linking）</a:t>
            </a:r>
            <a:endParaRPr lang="en-US" altLang="zh-CN" b="1">
              <a:solidFill>
                <a:srgbClr val="10337F"/>
              </a:solidFill>
            </a:endParaRPr>
          </a:p>
          <a:p>
            <a:r>
              <a:rPr lang="zh-CN" altLang="en-US">
                <a:solidFill>
                  <a:srgbClr val="10337F"/>
                </a:solidFill>
              </a:rPr>
              <a:t>根据标准化后的问题，准确定位相关数据表和字段。例如将“</a:t>
            </a:r>
            <a:r>
              <a:rPr lang="en-US" altLang="zh-CN">
                <a:solidFill>
                  <a:srgbClr val="10337F"/>
                </a:solidFill>
              </a:rPr>
              <a:t>Rock </a:t>
            </a:r>
            <a:r>
              <a:rPr lang="zh-CN" altLang="en-US">
                <a:solidFill>
                  <a:srgbClr val="10337F"/>
                </a:solidFill>
              </a:rPr>
              <a:t>销售额”定位到 </a:t>
            </a:r>
            <a:r>
              <a:rPr lang="en-US" altLang="zh-CN">
                <a:solidFill>
                  <a:srgbClr val="10337F"/>
                </a:solidFill>
              </a:rPr>
              <a:t>Genre、Track、InvoiceLine </a:t>
            </a:r>
            <a:r>
              <a:rPr lang="zh-CN" altLang="en-US">
                <a:solidFill>
                  <a:srgbClr val="10337F"/>
                </a:solidFill>
              </a:rPr>
              <a:t>等关联表。</a:t>
            </a:r>
            <a:endParaRPr lang="zh-CN" altLang="en-US">
              <a:solidFill>
                <a:srgbClr val="10337F"/>
              </a:solidFill>
            </a:endParaRPr>
          </a:p>
          <a:p>
            <a:endParaRPr lang="zh-CN" altLang="en-US">
              <a:solidFill>
                <a:srgbClr val="10337F"/>
              </a:solidFill>
            </a:endParaRPr>
          </a:p>
          <a:p>
            <a:r>
              <a:rPr lang="zh-CN" altLang="en-US" b="1">
                <a:solidFill>
                  <a:srgbClr val="10337F"/>
                </a:solidFill>
              </a:rPr>
              <a:t>● 中级任务 5：高质量多表关联 </a:t>
            </a:r>
            <a:r>
              <a:rPr lang="en-US" altLang="zh-CN" b="1">
                <a:solidFill>
                  <a:srgbClr val="10337F"/>
                </a:solidFill>
              </a:rPr>
              <a:t>NL2SQL</a:t>
            </a:r>
            <a:endParaRPr lang="en-US" altLang="zh-CN" b="1">
              <a:solidFill>
                <a:srgbClr val="10337F"/>
              </a:solidFill>
            </a:endParaRPr>
          </a:p>
          <a:p>
            <a:r>
              <a:rPr lang="zh-CN" altLang="en-US">
                <a:solidFill>
                  <a:srgbClr val="10337F"/>
                </a:solidFill>
              </a:rPr>
              <a:t>支持多表 </a:t>
            </a:r>
            <a:r>
              <a:rPr lang="en-US" altLang="zh-CN">
                <a:solidFill>
                  <a:srgbClr val="10337F"/>
                </a:solidFill>
              </a:rPr>
              <a:t>JOIN、</a:t>
            </a:r>
            <a:r>
              <a:rPr lang="zh-CN" altLang="en-US">
                <a:solidFill>
                  <a:srgbClr val="10337F"/>
                </a:solidFill>
              </a:rPr>
              <a:t>时间筛选、聚合、排名和嵌套查询，解决数字音乐商店中的销售、客户和商品分析问题。</a:t>
            </a:r>
            <a:endParaRPr lang="zh-CN" altLang="en-US">
              <a:solidFill>
                <a:srgbClr val="10337F"/>
              </a:solidFill>
            </a:endParaRPr>
          </a:p>
          <a:p>
            <a:r>
              <a:rPr lang="zh-CN" altLang="en-US" sz="2400" b="1">
                <a:solidFill>
                  <a:srgbClr val="10337F"/>
                </a:solidFill>
                <a:highlight>
                  <a:srgbClr val="00FFFF"/>
                </a:highlight>
              </a:rPr>
              <a:t>非结构化方向</a:t>
            </a:r>
            <a:endParaRPr lang="zh-CN" altLang="en-US" sz="2400" b="1">
              <a:solidFill>
                <a:srgbClr val="10337F"/>
              </a:solidFill>
              <a:highlight>
                <a:srgbClr val="00FFFF"/>
              </a:highlight>
            </a:endParaRPr>
          </a:p>
          <a:p>
            <a:r>
              <a:rPr lang="zh-CN" altLang="en-US" b="1">
                <a:solidFill>
                  <a:srgbClr val="10337F"/>
                </a:solidFill>
              </a:rPr>
              <a:t>● 中级任务 6：文档公式识别与计算</a:t>
            </a:r>
            <a:endParaRPr lang="zh-CN" altLang="en-US" b="1">
              <a:solidFill>
                <a:srgbClr val="10337F"/>
              </a:solidFill>
            </a:endParaRPr>
          </a:p>
          <a:p>
            <a:r>
              <a:rPr lang="zh-CN" altLang="en-US">
                <a:solidFill>
                  <a:srgbClr val="10337F"/>
                </a:solidFill>
              </a:rPr>
              <a:t>重点识别经营目标、达成率、增长率等业务公式，并将数据库查询结果代入文档公式进行计算。聚焦经营文档中的公式，不做通用数学公式识别。</a:t>
            </a:r>
            <a:endParaRPr lang="zh-CN" altLang="en-US">
              <a:solidFill>
                <a:srgbClr val="10337F"/>
              </a:solidFill>
            </a:endParaRPr>
          </a:p>
          <a:p>
            <a:r>
              <a:rPr lang="zh-CN" altLang="en-US" b="1">
                <a:solidFill>
                  <a:srgbClr val="10337F"/>
                </a:solidFill>
              </a:rPr>
              <a:t>● 中级任务 9：文档质量综合评估</a:t>
            </a:r>
            <a:endParaRPr lang="zh-CN" altLang="en-US" b="1">
              <a:solidFill>
                <a:srgbClr val="10337F"/>
              </a:solidFill>
            </a:endParaRPr>
          </a:p>
          <a:p>
            <a:r>
              <a:rPr lang="zh-CN" altLang="en-US">
                <a:solidFill>
                  <a:srgbClr val="10337F"/>
                </a:solidFill>
              </a:rPr>
              <a:t>重点检测扫描 </a:t>
            </a:r>
            <a:r>
              <a:rPr lang="en-US" altLang="zh-CN">
                <a:solidFill>
                  <a:srgbClr val="10337F"/>
                </a:solidFill>
              </a:rPr>
              <a:t>PDF </a:t>
            </a:r>
            <a:r>
              <a:rPr lang="zh-CN" altLang="en-US">
                <a:solidFill>
                  <a:srgbClr val="10337F"/>
                </a:solidFill>
              </a:rPr>
              <a:t>和图片中的旋转、模糊、</a:t>
            </a:r>
            <a:r>
              <a:rPr lang="en-US" altLang="zh-CN">
                <a:solidFill>
                  <a:srgbClr val="10337F"/>
                </a:solidFill>
              </a:rPr>
              <a:t>OCR </a:t>
            </a:r>
            <a:r>
              <a:rPr lang="zh-CN" altLang="en-US">
                <a:solidFill>
                  <a:srgbClr val="10337F"/>
                </a:solidFill>
              </a:rPr>
              <a:t>置信度低、错别字等问题，并在文档检索前给出质量提示。</a:t>
            </a:r>
            <a:endParaRPr lang="zh-CN" altLang="en-US">
              <a:solidFill>
                <a:srgbClr val="10337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阶段</a:t>
            </a:r>
            <a:r>
              <a:t>任务</a:t>
            </a:r>
          </a:p>
        </p:txBody>
      </p:sp>
      <p:sp>
        <p:nvSpPr>
          <p:cNvPr id="9" name="文本框 8"/>
          <p:cNvSpPr txBox="1"/>
          <p:nvPr/>
        </p:nvSpPr>
        <p:spPr>
          <a:xfrm>
            <a:off x="427355" y="823595"/>
            <a:ext cx="11436350" cy="5539105"/>
          </a:xfrm>
          <a:prstGeom prst="rect">
            <a:avLst/>
          </a:prstGeom>
          <a:noFill/>
        </p:spPr>
        <p:txBody>
          <a:bodyPr wrap="square" rtlCol="0">
            <a:spAutoFit/>
          </a:bodyPr>
          <a:p>
            <a:r>
              <a:rPr lang="zh-CN" altLang="en-US" sz="2400" b="1">
                <a:solidFill>
                  <a:srgbClr val="10337F"/>
                </a:solidFill>
              </a:rPr>
              <a:t>第一阶段：模块实现</a:t>
            </a:r>
            <a:endParaRPr lang="zh-CN" altLang="en-US" sz="2400" b="1">
              <a:solidFill>
                <a:srgbClr val="10337F"/>
              </a:solidFill>
            </a:endParaRPr>
          </a:p>
          <a:p>
            <a:r>
              <a:rPr lang="en-US" altLang="zh-CN">
                <a:solidFill>
                  <a:srgbClr val="10337F"/>
                </a:solidFill>
              </a:rPr>
              <a:t>A：</a:t>
            </a:r>
            <a:r>
              <a:rPr lang="zh-CN" altLang="en-US">
                <a:solidFill>
                  <a:srgbClr val="10337F"/>
                </a:solidFill>
              </a:rPr>
              <a:t>完成业务文档、字段口径、实体别名和第一版评测题。</a:t>
            </a:r>
            <a:endParaRPr lang="zh-CN" altLang="en-US">
              <a:solidFill>
                <a:srgbClr val="10337F"/>
              </a:solidFill>
            </a:endParaRPr>
          </a:p>
          <a:p>
            <a:r>
              <a:rPr lang="en-US" altLang="zh-CN">
                <a:solidFill>
                  <a:srgbClr val="10337F"/>
                </a:solidFill>
              </a:rPr>
              <a:t>B：</a:t>
            </a:r>
            <a:r>
              <a:rPr lang="zh-CN" altLang="en-US">
                <a:solidFill>
                  <a:srgbClr val="10337F"/>
                </a:solidFill>
              </a:rPr>
              <a:t>完成网页基础页面、</a:t>
            </a:r>
            <a:r>
              <a:rPr lang="en-US" altLang="zh-CN">
                <a:solidFill>
                  <a:srgbClr val="10337F"/>
                </a:solidFill>
              </a:rPr>
              <a:t>API </a:t>
            </a:r>
            <a:r>
              <a:rPr lang="zh-CN" altLang="en-US">
                <a:solidFill>
                  <a:srgbClr val="10337F"/>
                </a:solidFill>
              </a:rPr>
              <a:t>接口和统一返回格式，先用模拟数据展示答案、</a:t>
            </a:r>
            <a:r>
              <a:rPr lang="en-US" altLang="zh-CN">
                <a:solidFill>
                  <a:srgbClr val="10337F"/>
                </a:solidFill>
              </a:rPr>
              <a:t>SQL、</a:t>
            </a:r>
            <a:r>
              <a:rPr lang="zh-CN" altLang="en-US">
                <a:solidFill>
                  <a:srgbClr val="10337F"/>
                </a:solidFill>
              </a:rPr>
              <a:t>查询结果和文档来源。</a:t>
            </a:r>
            <a:endParaRPr lang="zh-CN" altLang="en-US">
              <a:solidFill>
                <a:srgbClr val="10337F"/>
              </a:solidFill>
            </a:endParaRPr>
          </a:p>
          <a:p>
            <a:r>
              <a:rPr lang="en-US" altLang="zh-CN">
                <a:solidFill>
                  <a:srgbClr val="10337F"/>
                </a:solidFill>
              </a:rPr>
              <a:t>C：</a:t>
            </a:r>
            <a:r>
              <a:rPr lang="zh-CN" altLang="en-US">
                <a:solidFill>
                  <a:srgbClr val="10337F"/>
                </a:solidFill>
              </a:rPr>
              <a:t>完成 </a:t>
            </a:r>
            <a:r>
              <a:rPr lang="en-US" altLang="zh-CN">
                <a:solidFill>
                  <a:srgbClr val="10337F"/>
                </a:solidFill>
              </a:rPr>
              <a:t>Chinook </a:t>
            </a:r>
            <a:r>
              <a:rPr lang="zh-CN" altLang="en-US">
                <a:solidFill>
                  <a:srgbClr val="10337F"/>
                </a:solidFill>
              </a:rPr>
              <a:t>数据库接入、</a:t>
            </a:r>
            <a:r>
              <a:rPr lang="en-US" altLang="zh-CN">
                <a:solidFill>
                  <a:srgbClr val="10337F"/>
                </a:solidFill>
              </a:rPr>
              <a:t>Schema </a:t>
            </a:r>
            <a:r>
              <a:rPr lang="zh-CN" altLang="en-US">
                <a:solidFill>
                  <a:srgbClr val="10337F"/>
                </a:solidFill>
              </a:rPr>
              <a:t>梳理、只读 </a:t>
            </a:r>
            <a:r>
              <a:rPr lang="en-US" altLang="zh-CN">
                <a:solidFill>
                  <a:srgbClr val="10337F"/>
                </a:solidFill>
              </a:rPr>
              <a:t>SQL </a:t>
            </a:r>
            <a:r>
              <a:rPr lang="zh-CN" altLang="en-US">
                <a:solidFill>
                  <a:srgbClr val="10337F"/>
                </a:solidFill>
              </a:rPr>
              <a:t>查询和基础 </a:t>
            </a:r>
            <a:r>
              <a:rPr lang="en-US" altLang="zh-CN">
                <a:solidFill>
                  <a:srgbClr val="10337F"/>
                </a:solidFill>
              </a:rPr>
              <a:t>NL2SQL。</a:t>
            </a:r>
            <a:endParaRPr lang="en-US" altLang="zh-CN">
              <a:solidFill>
                <a:srgbClr val="10337F"/>
              </a:solidFill>
            </a:endParaRPr>
          </a:p>
          <a:p>
            <a:r>
              <a:rPr lang="zh-CN" altLang="en-US" b="1">
                <a:solidFill>
                  <a:srgbClr val="10337F"/>
                </a:solidFill>
              </a:rPr>
              <a:t>阶段目标：</a:t>
            </a:r>
            <a:r>
              <a:rPr lang="zh-CN" altLang="en-US">
                <a:solidFill>
                  <a:srgbClr val="10337F"/>
                </a:solidFill>
              </a:rPr>
              <a:t>三个模块可以独立运行，为后续联调做好准备。</a:t>
            </a:r>
            <a:endParaRPr lang="zh-CN" altLang="en-US">
              <a:solidFill>
                <a:srgbClr val="10337F"/>
              </a:solidFill>
            </a:endParaRPr>
          </a:p>
          <a:p>
            <a:endParaRPr lang="zh-CN" altLang="en-US">
              <a:solidFill>
                <a:srgbClr val="10337F"/>
              </a:solidFill>
            </a:endParaRPr>
          </a:p>
          <a:p>
            <a:r>
              <a:rPr lang="zh-CN" altLang="en-US" sz="2400" b="1">
                <a:solidFill>
                  <a:srgbClr val="10337F"/>
                </a:solidFill>
              </a:rPr>
              <a:t>第二阶段：联调与产品完成</a:t>
            </a:r>
            <a:endParaRPr lang="zh-CN" altLang="en-US" sz="2400" b="1">
              <a:solidFill>
                <a:srgbClr val="10337F"/>
              </a:solidFill>
            </a:endParaRPr>
          </a:p>
          <a:p>
            <a:r>
              <a:rPr lang="en-US" altLang="zh-CN">
                <a:solidFill>
                  <a:srgbClr val="10337F"/>
                </a:solidFill>
              </a:rPr>
              <a:t>A：</a:t>
            </a:r>
            <a:r>
              <a:rPr lang="zh-CN" altLang="en-US">
                <a:solidFill>
                  <a:srgbClr val="10337F"/>
                </a:solidFill>
              </a:rPr>
              <a:t>补齐业务文档、指标口径和实体别名，准备公式、低质量文档等测试样本，完善评测题与标准答案。</a:t>
            </a:r>
            <a:endParaRPr lang="zh-CN" altLang="en-US">
              <a:solidFill>
                <a:srgbClr val="10337F"/>
              </a:solidFill>
            </a:endParaRPr>
          </a:p>
          <a:p>
            <a:r>
              <a:rPr lang="zh-CN" altLang="en-US">
                <a:solidFill>
                  <a:srgbClr val="10337F"/>
                </a:solidFill>
              </a:rPr>
              <a:t>主攻中级任务 1、2：要素识别、问题改写与可扩展提取</a:t>
            </a:r>
            <a:endParaRPr lang="zh-CN" altLang="en-US">
              <a:solidFill>
                <a:srgbClr val="10337F"/>
              </a:solidFill>
            </a:endParaRPr>
          </a:p>
          <a:p>
            <a:r>
              <a:rPr lang="zh-CN" altLang="en-US">
                <a:solidFill>
                  <a:srgbClr val="10337F"/>
                </a:solidFill>
              </a:rPr>
              <a:t>建立业务实体、指标、时间和范围的配置化识别机制，支持别名、简称、错别字和口语化表达。</a:t>
            </a:r>
            <a:endParaRPr lang="zh-CN" altLang="en-US">
              <a:solidFill>
                <a:srgbClr val="10337F"/>
              </a:solidFill>
            </a:endParaRPr>
          </a:p>
          <a:p>
            <a:r>
              <a:rPr lang="en-US" altLang="zh-CN">
                <a:solidFill>
                  <a:srgbClr val="10337F"/>
                </a:solidFill>
              </a:rPr>
              <a:t>B：</a:t>
            </a:r>
            <a:r>
              <a:rPr lang="zh-CN" altLang="en-US">
                <a:solidFill>
                  <a:srgbClr val="10337F"/>
                </a:solidFill>
              </a:rPr>
              <a:t>完成 </a:t>
            </a:r>
            <a:r>
              <a:rPr lang="en-US" altLang="zh-CN">
                <a:solidFill>
                  <a:srgbClr val="10337F"/>
                </a:solidFill>
              </a:rPr>
              <a:t>RAG </a:t>
            </a:r>
            <a:r>
              <a:rPr lang="zh-CN" altLang="en-US">
                <a:solidFill>
                  <a:srgbClr val="10337F"/>
                </a:solidFill>
              </a:rPr>
              <a:t>检索、</a:t>
            </a:r>
            <a:r>
              <a:rPr lang="en-US" altLang="zh-CN">
                <a:solidFill>
                  <a:srgbClr val="10337F"/>
                </a:solidFill>
              </a:rPr>
              <a:t>Agent </a:t>
            </a:r>
            <a:r>
              <a:rPr lang="zh-CN" altLang="en-US">
                <a:solidFill>
                  <a:srgbClr val="10337F"/>
                </a:solidFill>
              </a:rPr>
              <a:t>流程、主动澄清、跨源问答和多轮交互；负责网页、接口及文档处理能力的联调。</a:t>
            </a:r>
            <a:endParaRPr lang="zh-CN" altLang="en-US">
              <a:solidFill>
                <a:srgbClr val="10337F"/>
              </a:solidFill>
            </a:endParaRPr>
          </a:p>
          <a:p>
            <a:r>
              <a:rPr lang="zh-CN" altLang="en-US">
                <a:solidFill>
                  <a:srgbClr val="10337F"/>
                </a:solidFill>
              </a:rPr>
              <a:t>主攻中级任务 3</a:t>
            </a:r>
            <a:r>
              <a:rPr lang="en-US" altLang="zh-CN">
                <a:solidFill>
                  <a:srgbClr val="10337F"/>
                </a:solidFill>
              </a:rPr>
              <a:t> + </a:t>
            </a:r>
            <a:r>
              <a:rPr lang="zh-CN" altLang="en-US">
                <a:solidFill>
                  <a:srgbClr val="10337F"/>
                </a:solidFill>
              </a:rPr>
              <a:t>6</a:t>
            </a:r>
            <a:r>
              <a:rPr lang="en-US" altLang="zh-CN">
                <a:solidFill>
                  <a:srgbClr val="10337F"/>
                </a:solidFill>
              </a:rPr>
              <a:t> / </a:t>
            </a:r>
            <a:r>
              <a:rPr lang="zh-CN" altLang="en-US">
                <a:solidFill>
                  <a:srgbClr val="10337F"/>
                </a:solidFill>
              </a:rPr>
              <a:t>9：语义澄清、文档公式和文档质量</a:t>
            </a:r>
            <a:endParaRPr lang="zh-CN" altLang="en-US">
              <a:solidFill>
                <a:srgbClr val="10337F"/>
              </a:solidFill>
            </a:endParaRPr>
          </a:p>
          <a:p>
            <a:r>
              <a:rPr lang="zh-CN" altLang="en-US">
                <a:solidFill>
                  <a:srgbClr val="10337F"/>
                </a:solidFill>
              </a:rPr>
              <a:t>实现条件缺失时主动追问；识别经营目标、增长率等公式；检测扫描文档的模糊、旋转和 </a:t>
            </a:r>
            <a:r>
              <a:rPr lang="en-US" altLang="zh-CN">
                <a:solidFill>
                  <a:srgbClr val="10337F"/>
                </a:solidFill>
              </a:rPr>
              <a:t>OCR </a:t>
            </a:r>
            <a:r>
              <a:rPr lang="zh-CN" altLang="en-US">
                <a:solidFill>
                  <a:srgbClr val="10337F"/>
                </a:solidFill>
              </a:rPr>
              <a:t>质量问题。</a:t>
            </a:r>
            <a:endParaRPr lang="zh-CN" altLang="en-US">
              <a:solidFill>
                <a:srgbClr val="10337F"/>
              </a:solidFill>
            </a:endParaRPr>
          </a:p>
          <a:p>
            <a:r>
              <a:rPr lang="en-US" altLang="zh-CN">
                <a:solidFill>
                  <a:srgbClr val="10337F"/>
                </a:solidFill>
              </a:rPr>
              <a:t>C：</a:t>
            </a:r>
            <a:r>
              <a:rPr lang="zh-CN" altLang="en-US">
                <a:solidFill>
                  <a:srgbClr val="10337F"/>
                </a:solidFill>
              </a:rPr>
              <a:t>完善 </a:t>
            </a:r>
            <a:r>
              <a:rPr lang="en-US" altLang="zh-CN">
                <a:solidFill>
                  <a:srgbClr val="10337F"/>
                </a:solidFill>
              </a:rPr>
              <a:t>Chinook </a:t>
            </a:r>
            <a:r>
              <a:rPr lang="zh-CN" altLang="en-US">
                <a:solidFill>
                  <a:srgbClr val="10337F"/>
                </a:solidFill>
              </a:rPr>
              <a:t>数据库接入、</a:t>
            </a:r>
            <a:r>
              <a:rPr lang="en-US" altLang="zh-CN">
                <a:solidFill>
                  <a:srgbClr val="10337F"/>
                </a:solidFill>
              </a:rPr>
              <a:t>Schema </a:t>
            </a:r>
            <a:r>
              <a:rPr lang="zh-CN" altLang="en-US">
                <a:solidFill>
                  <a:srgbClr val="10337F"/>
                </a:solidFill>
              </a:rPr>
              <a:t>梳理、</a:t>
            </a:r>
            <a:r>
              <a:rPr lang="en-US" altLang="zh-CN">
                <a:solidFill>
                  <a:srgbClr val="10337F"/>
                </a:solidFill>
              </a:rPr>
              <a:t>SQL </a:t>
            </a:r>
            <a:r>
              <a:rPr lang="zh-CN" altLang="en-US">
                <a:solidFill>
                  <a:srgbClr val="10337F"/>
                </a:solidFill>
              </a:rPr>
              <a:t>查询、</a:t>
            </a:r>
            <a:r>
              <a:rPr lang="en-US" altLang="zh-CN">
                <a:solidFill>
                  <a:srgbClr val="10337F"/>
                </a:solidFill>
              </a:rPr>
              <a:t>Schema Linking </a:t>
            </a:r>
            <a:r>
              <a:rPr lang="zh-CN" altLang="en-US">
                <a:solidFill>
                  <a:srgbClr val="10337F"/>
                </a:solidFill>
              </a:rPr>
              <a:t>和多表 </a:t>
            </a:r>
            <a:r>
              <a:rPr lang="en-US" altLang="zh-CN">
                <a:solidFill>
                  <a:srgbClr val="10337F"/>
                </a:solidFill>
              </a:rPr>
              <a:t>NL2SQL；</a:t>
            </a:r>
            <a:r>
              <a:rPr lang="zh-CN" altLang="en-US">
                <a:solidFill>
                  <a:srgbClr val="10337F"/>
                </a:solidFill>
              </a:rPr>
              <a:t>负责查询校验与计算工具。</a:t>
            </a:r>
            <a:endParaRPr lang="zh-CN" altLang="en-US">
              <a:solidFill>
                <a:srgbClr val="10337F"/>
              </a:solidFill>
            </a:endParaRPr>
          </a:p>
          <a:p>
            <a:r>
              <a:rPr lang="zh-CN" altLang="en-US">
                <a:solidFill>
                  <a:srgbClr val="10337F"/>
                </a:solidFill>
              </a:rPr>
              <a:t>主攻中级任务 4、5：</a:t>
            </a:r>
            <a:r>
              <a:rPr lang="en-US" altLang="zh-CN">
                <a:solidFill>
                  <a:srgbClr val="10337F"/>
                </a:solidFill>
              </a:rPr>
              <a:t>Schema Linking </a:t>
            </a:r>
            <a:r>
              <a:rPr lang="zh-CN" altLang="en-US">
                <a:solidFill>
                  <a:srgbClr val="10337F"/>
                </a:solidFill>
              </a:rPr>
              <a:t>与多表 </a:t>
            </a:r>
            <a:r>
              <a:rPr lang="en-US" altLang="zh-CN">
                <a:solidFill>
                  <a:srgbClr val="10337F"/>
                </a:solidFill>
              </a:rPr>
              <a:t>NL2SQL</a:t>
            </a:r>
            <a:endParaRPr lang="en-US" altLang="zh-CN">
              <a:solidFill>
                <a:srgbClr val="10337F"/>
              </a:solidFill>
            </a:endParaRPr>
          </a:p>
          <a:p>
            <a:r>
              <a:rPr lang="zh-CN" altLang="en-US">
                <a:solidFill>
                  <a:srgbClr val="10337F"/>
                </a:solidFill>
              </a:rPr>
              <a:t>准确定位相关表和字段，完成多表关联、时间筛选、聚合、排名和嵌套查询。</a:t>
            </a:r>
            <a:endParaRPr lang="zh-CN" altLang="en-US">
              <a:solidFill>
                <a:srgbClr val="10337F"/>
              </a:solidFill>
            </a:endParaRPr>
          </a:p>
          <a:p>
            <a:r>
              <a:rPr lang="zh-CN" altLang="en-US" b="1">
                <a:solidFill>
                  <a:srgbClr val="10337F"/>
                </a:solidFill>
              </a:rPr>
              <a:t>阶段目标：</a:t>
            </a:r>
            <a:r>
              <a:rPr lang="zh-CN" altLang="en-US">
                <a:solidFill>
                  <a:srgbClr val="10337F"/>
                </a:solidFill>
              </a:rPr>
              <a:t>12 号前跑通完整产品链路：</a:t>
            </a:r>
            <a:endParaRPr lang="zh-CN" altLang="en-US">
              <a:solidFill>
                <a:srgbClr val="10337F"/>
              </a:solidFill>
            </a:endParaRPr>
          </a:p>
          <a:p>
            <a:r>
              <a:rPr lang="zh-CN" altLang="en-US">
                <a:solidFill>
                  <a:srgbClr val="10337F"/>
                </a:solidFill>
              </a:rPr>
              <a:t>网页提问</a:t>
            </a:r>
            <a:r>
              <a:rPr lang="en-US" altLang="zh-CN">
                <a:solidFill>
                  <a:srgbClr val="10337F"/>
                </a:solidFill>
              </a:rPr>
              <a:t>→ Agent </a:t>
            </a:r>
            <a:r>
              <a:rPr lang="zh-CN" altLang="en-US">
                <a:solidFill>
                  <a:srgbClr val="10337F"/>
                </a:solidFill>
              </a:rPr>
              <a:t>判断</a:t>
            </a:r>
            <a:r>
              <a:rPr lang="en-US" altLang="zh-CN">
                <a:solidFill>
                  <a:srgbClr val="10337F"/>
                </a:solidFill>
              </a:rPr>
              <a:t>→ SQL </a:t>
            </a:r>
            <a:r>
              <a:rPr lang="zh-CN" altLang="en-US">
                <a:solidFill>
                  <a:srgbClr val="10337F"/>
                </a:solidFill>
              </a:rPr>
              <a:t>或 </a:t>
            </a:r>
            <a:r>
              <a:rPr lang="en-US" altLang="zh-CN">
                <a:solidFill>
                  <a:srgbClr val="10337F"/>
                </a:solidFill>
              </a:rPr>
              <a:t>RAG </a:t>
            </a:r>
            <a:r>
              <a:rPr lang="zh-CN" altLang="en-US">
                <a:solidFill>
                  <a:srgbClr val="10337F"/>
                </a:solidFill>
              </a:rPr>
              <a:t>工具→ 返回答案、</a:t>
            </a:r>
            <a:r>
              <a:rPr lang="en-US" altLang="zh-CN">
                <a:solidFill>
                  <a:srgbClr val="10337F"/>
                </a:solidFill>
              </a:rPr>
              <a:t>SQL、</a:t>
            </a:r>
            <a:r>
              <a:rPr lang="zh-CN" altLang="en-US">
                <a:solidFill>
                  <a:srgbClr val="10337F"/>
                </a:solidFill>
              </a:rPr>
              <a:t>文档来源和计算口径</a:t>
            </a:r>
            <a:endParaRPr lang="zh-CN" altLang="en-US">
              <a:solidFill>
                <a:srgbClr val="10337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场景定义</a:t>
            </a:r>
            <a:r>
              <a:rPr lang="en-US" altLang="zh-CN"/>
              <a:t>2</a:t>
            </a:r>
            <a:endParaRPr lang="en-US" altLang="zh-CN"/>
          </a:p>
        </p:txBody>
      </p:sp>
      <p:sp>
        <p:nvSpPr>
          <p:cNvPr id="4" name="Text Box 3"/>
          <p:cNvSpPr txBox="1"/>
          <p:nvPr/>
        </p:nvSpPr>
        <p:spPr>
          <a:xfrm>
            <a:off x="426085" y="879475"/>
            <a:ext cx="10843895" cy="5290820"/>
          </a:xfrm>
          <a:prstGeom prst="rect">
            <a:avLst/>
          </a:prstGeom>
          <a:noFill/>
        </p:spPr>
        <p:txBody>
          <a:bodyPr wrap="square" rtlCol="0">
            <a:noAutofit/>
          </a:bodyPr>
          <a:p>
            <a:pPr indent="0" algn="l">
              <a:lnSpc>
                <a:spcPct val="125000"/>
              </a:lnSpc>
              <a:spcBef>
                <a:spcPts val="0"/>
              </a:spcBef>
              <a:spcAft>
                <a:spcPts val="0"/>
              </a:spcAft>
              <a:buClrTx/>
              <a:buSzTx/>
              <a:buFont typeface="Wingdings" panose="05000000000000000000" charset="0"/>
              <a:buNone/>
            </a:pPr>
            <a:r>
              <a:rPr lang="zh-CN" altLang="en-US" sz="2000" b="1" dirty="0">
                <a:solidFill>
                  <a:srgbClr val="103380"/>
                </a:solidFill>
                <a:latin typeface="微软雅黑" panose="020B0503020204020204" pitchFamily="34" charset="-122"/>
                <a:ea typeface="微软雅黑" panose="020B0503020204020204" pitchFamily="34" charset="-122"/>
              </a:rPr>
              <a:t>产品</a:t>
            </a:r>
            <a:r>
              <a:rPr lang="zh-CN" altLang="en-US" sz="2000" b="1" dirty="0">
                <a:solidFill>
                  <a:srgbClr val="103380"/>
                </a:solidFill>
                <a:latin typeface="微软雅黑" panose="020B0503020204020204" pitchFamily="34" charset="-122"/>
                <a:ea typeface="微软雅黑" panose="020B0503020204020204" pitchFamily="34" charset="-122"/>
              </a:rPr>
              <a:t>定位：</a:t>
            </a:r>
            <a:r>
              <a:rPr lang="zh-CN" altLang="en-US" sz="2000" dirty="0">
                <a:solidFill>
                  <a:srgbClr val="103380"/>
                </a:solidFill>
                <a:latin typeface="微软雅黑" panose="020B0503020204020204" pitchFamily="34" charset="-122"/>
                <a:ea typeface="微软雅黑" panose="020B0503020204020204" pitchFamily="34" charset="-122"/>
              </a:rPr>
              <a:t>面向机械设计和质量工程的可解释工业图纸问数问答智能体</a:t>
            </a:r>
            <a:endParaRPr lang="zh-CN" altLang="en-US" sz="2000" dirty="0">
              <a:solidFill>
                <a:srgbClr val="103380"/>
              </a:solidFill>
              <a:latin typeface="微软雅黑" panose="020B0503020204020204" pitchFamily="34" charset="-122"/>
              <a:ea typeface="微软雅黑" panose="020B0503020204020204" pitchFamily="34" charset="-122"/>
            </a:endParaRPr>
          </a:p>
          <a:p>
            <a:pPr indent="0" algn="l">
              <a:lnSpc>
                <a:spcPct val="125000"/>
              </a:lnSpc>
              <a:spcBef>
                <a:spcPts val="0"/>
              </a:spcBef>
              <a:spcAft>
                <a:spcPts val="0"/>
              </a:spcAft>
              <a:buClrTx/>
              <a:buSzTx/>
              <a:buFont typeface="Wingdings" panose="05000000000000000000" charset="0"/>
              <a:buNone/>
            </a:pPr>
            <a:r>
              <a:rPr lang="zh-CN" altLang="en-US" sz="2000" dirty="0">
                <a:solidFill>
                  <a:srgbClr val="103380"/>
                </a:solidFill>
                <a:latin typeface="微软雅黑" panose="020B0503020204020204" pitchFamily="34" charset="-122"/>
                <a:ea typeface="微软雅黑" panose="020B0503020204020204" pitchFamily="34" charset="-122"/>
              </a:rPr>
              <a:t>通过自然语言查询零件、图纸、尺寸、公差和标注位置，并返回可回溯的图纸证据。</a:t>
            </a:r>
            <a:endParaRPr lang="zh-CN" altLang="en-US" sz="2000" dirty="0">
              <a:solidFill>
                <a:srgbClr val="103380"/>
              </a:solidFill>
              <a:latin typeface="微软雅黑" panose="020B0503020204020204" pitchFamily="34" charset="-122"/>
              <a:ea typeface="微软雅黑" panose="020B0503020204020204" pitchFamily="34" charset="-122"/>
            </a:endParaRPr>
          </a:p>
          <a:p>
            <a:pPr indent="0" algn="l">
              <a:lnSpc>
                <a:spcPct val="125000"/>
              </a:lnSpc>
              <a:spcBef>
                <a:spcPts val="0"/>
              </a:spcBef>
              <a:spcAft>
                <a:spcPts val="0"/>
              </a:spcAft>
              <a:buClrTx/>
              <a:buSzTx/>
              <a:buFont typeface="Arial" panose="020B0604020202020204" pitchFamily="34" charset="0"/>
              <a:buNone/>
            </a:pPr>
            <a:r>
              <a:rPr lang="zh-CN" altLang="en-US" sz="2000" b="1" dirty="0">
                <a:solidFill>
                  <a:srgbClr val="103380"/>
                </a:solidFill>
                <a:latin typeface="微软雅黑" panose="020B0503020204020204" pitchFamily="34" charset="-122"/>
                <a:ea typeface="微软雅黑" panose="020B0503020204020204" pitchFamily="34" charset="-122"/>
                <a:sym typeface="+mn-ea"/>
              </a:rPr>
              <a:t>选数据库：</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en-US" altLang="zh-CN" sz="2000" dirty="0">
                <a:solidFill>
                  <a:srgbClr val="103380"/>
                </a:solidFill>
                <a:latin typeface="微软雅黑" panose="020B0503020204020204" pitchFamily="34" charset="-122"/>
                <a:ea typeface="微软雅黑" panose="020B0503020204020204" pitchFamily="34" charset="-122"/>
                <a:sym typeface="+mn-ea"/>
              </a:rPr>
              <a:t>CADsy CAD Technical Drawings</a:t>
            </a: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sz="2000" dirty="0">
                <a:solidFill>
                  <a:srgbClr val="103380"/>
                </a:solidFill>
                <a:latin typeface="微软雅黑" panose="020B0503020204020204" pitchFamily="34" charset="-122"/>
                <a:ea typeface="微软雅黑" panose="020B0503020204020204" pitchFamily="34" charset="-122"/>
                <a:sym typeface="+mn-ea"/>
              </a:rPr>
              <a:t>65 个 </a:t>
            </a:r>
            <a:r>
              <a:rPr lang="en-US" altLang="zh-CN" sz="2000" dirty="0">
                <a:solidFill>
                  <a:srgbClr val="103380"/>
                </a:solidFill>
                <a:latin typeface="微软雅黑" panose="020B0503020204020204" pitchFamily="34" charset="-122"/>
                <a:ea typeface="微软雅黑" panose="020B0503020204020204" pitchFamily="34" charset="-122"/>
                <a:sym typeface="+mn-ea"/>
              </a:rPr>
              <a:t>STEP </a:t>
            </a:r>
            <a:r>
              <a:rPr lang="zh-CN" altLang="en-US" sz="2000" dirty="0">
                <a:solidFill>
                  <a:srgbClr val="103380"/>
                </a:solidFill>
                <a:latin typeface="微软雅黑" panose="020B0503020204020204" pitchFamily="34" charset="-122"/>
                <a:ea typeface="微软雅黑" panose="020B0503020204020204" pitchFamily="34" charset="-122"/>
                <a:sym typeface="+mn-ea"/>
              </a:rPr>
              <a:t>零件模型、130 张 </a:t>
            </a:r>
            <a:r>
              <a:rPr lang="en-US" altLang="zh-CN" sz="2000" dirty="0">
                <a:solidFill>
                  <a:srgbClr val="103380"/>
                </a:solidFill>
                <a:latin typeface="微软雅黑" panose="020B0503020204020204" pitchFamily="34" charset="-122"/>
                <a:ea typeface="微软雅黑" panose="020B0503020204020204" pitchFamily="34" charset="-122"/>
                <a:sym typeface="+mn-ea"/>
              </a:rPr>
              <a:t>ASME/ISO </a:t>
            </a:r>
            <a:r>
              <a:rPr lang="zh-CN" altLang="en-US" sz="2000" dirty="0">
                <a:solidFill>
                  <a:srgbClr val="103380"/>
                </a:solidFill>
                <a:latin typeface="微软雅黑" panose="020B0503020204020204" pitchFamily="34" charset="-122"/>
                <a:ea typeface="微软雅黑" panose="020B0503020204020204" pitchFamily="34" charset="-122"/>
                <a:sym typeface="+mn-ea"/>
              </a:rPr>
              <a:t>图纸、130 份结构化标注文件</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sz="2000" dirty="0">
                <a:solidFill>
                  <a:srgbClr val="103380"/>
                </a:solidFill>
                <a:latin typeface="微软雅黑" panose="020B0503020204020204" pitchFamily="34" charset="-122"/>
                <a:ea typeface="微软雅黑" panose="020B0503020204020204" pitchFamily="34" charset="-122"/>
                <a:sym typeface="+mn-ea"/>
              </a:rPr>
              <a:t>自建：工业关系数据库</a:t>
            </a:r>
            <a:r>
              <a:rPr lang="en-US" altLang="zh-CN" sz="2000" dirty="0">
                <a:solidFill>
                  <a:srgbClr val="103380"/>
                </a:solidFill>
                <a:latin typeface="微软雅黑" panose="020B0503020204020204" pitchFamily="34" charset="-122"/>
                <a:ea typeface="微软雅黑" panose="020B0503020204020204" pitchFamily="34" charset="-122"/>
                <a:sym typeface="+mn-ea"/>
              </a:rPr>
              <a:t>     </a:t>
            </a:r>
            <a:r>
              <a:rPr lang="zh-CN" altLang="en-US" sz="2000" dirty="0">
                <a:solidFill>
                  <a:srgbClr val="103380"/>
                </a:solidFill>
                <a:latin typeface="微软雅黑" panose="020B0503020204020204" pitchFamily="34" charset="-122"/>
                <a:ea typeface="微软雅黑" panose="020B0503020204020204" pitchFamily="34" charset="-122"/>
                <a:sym typeface="+mn-ea"/>
              </a:rPr>
              <a:t>图纸质量测试集、</a:t>
            </a:r>
            <a:r>
              <a:rPr lang="zh-CN" altLang="en-US" sz="2000" dirty="0">
                <a:solidFill>
                  <a:srgbClr val="103380"/>
                </a:solidFill>
                <a:latin typeface="微软雅黑" panose="020B0503020204020204" pitchFamily="34" charset="-122"/>
                <a:ea typeface="微软雅黑" panose="020B0503020204020204" pitchFamily="34" charset="-122"/>
                <a:sym typeface="+mn-ea"/>
              </a:rPr>
              <a:t>标注标准化数据与问答评测集</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sz="2000" dirty="0">
                <a:solidFill>
                  <a:srgbClr val="103380"/>
                </a:solidFill>
                <a:latin typeface="微软雅黑" panose="020B0503020204020204" pitchFamily="34" charset="-122"/>
                <a:ea typeface="微软雅黑" panose="020B0503020204020204" pitchFamily="34" charset="-122"/>
                <a:sym typeface="+mn-ea"/>
              </a:rPr>
              <a:t>后续加入模糊、旋转、低清、遮挡等异常图纸</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sz="2000" dirty="0">
                <a:solidFill>
                  <a:srgbClr val="103380"/>
                </a:solidFill>
                <a:latin typeface="微软雅黑" panose="020B0503020204020204" pitchFamily="34" charset="-122"/>
                <a:ea typeface="微软雅黑" panose="020B0503020204020204" pitchFamily="34" charset="-122"/>
                <a:sym typeface="+mn-ea"/>
              </a:rPr>
              <a:t>用自然语言快速定位零件和图纸，查询尺寸、公差、形位标注及所在视图，返回原图高亮位置和结构化数据来源，支持 </a:t>
            </a:r>
            <a:r>
              <a:rPr lang="en-US" altLang="zh-CN" sz="2000" dirty="0">
                <a:solidFill>
                  <a:srgbClr val="103380"/>
                </a:solidFill>
                <a:latin typeface="微软雅黑" panose="020B0503020204020204" pitchFamily="34" charset="-122"/>
                <a:ea typeface="微软雅黑" panose="020B0503020204020204" pitchFamily="34" charset="-122"/>
                <a:sym typeface="+mn-ea"/>
              </a:rPr>
              <a:t>ASME/ISO </a:t>
            </a:r>
            <a:r>
              <a:rPr lang="zh-CN" altLang="en-US" sz="2000" dirty="0">
                <a:solidFill>
                  <a:srgbClr val="103380"/>
                </a:solidFill>
                <a:latin typeface="微软雅黑" panose="020B0503020204020204" pitchFamily="34" charset="-122"/>
                <a:ea typeface="微软雅黑" panose="020B0503020204020204" pitchFamily="34" charset="-122"/>
                <a:sym typeface="+mn-ea"/>
              </a:rPr>
              <a:t>图纸对比，对识别不确定、数据不一致的内容提示人工复核</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Arial" panose="020B0604020202020204" pitchFamily="34" charset="0"/>
              <a:buChar char="•"/>
            </a:pPr>
            <a:r>
              <a:rPr lang="zh-CN" altLang="en-US" sz="2000" b="1" dirty="0">
                <a:solidFill>
                  <a:srgbClr val="103380"/>
                </a:solidFill>
                <a:latin typeface="微软雅黑" panose="020B0503020204020204" pitchFamily="34" charset="-122"/>
                <a:ea typeface="微软雅黑" panose="020B0503020204020204" pitchFamily="34" charset="-122"/>
                <a:sym typeface="+mn-ea"/>
              </a:rPr>
              <a:t>核心</a:t>
            </a:r>
            <a:r>
              <a:rPr lang="zh-CN" altLang="en-US" sz="2000" b="1" dirty="0">
                <a:solidFill>
                  <a:srgbClr val="103380"/>
                </a:solidFill>
                <a:latin typeface="微软雅黑" panose="020B0503020204020204" pitchFamily="34" charset="-122"/>
                <a:ea typeface="微软雅黑" panose="020B0503020204020204" pitchFamily="34" charset="-122"/>
                <a:sym typeface="+mn-ea"/>
              </a:rPr>
              <a:t>用户：</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r>
              <a:rPr lang="zh-CN" altLang="en-US" sz="2000" dirty="0">
                <a:solidFill>
                  <a:srgbClr val="103380"/>
                </a:solidFill>
                <a:latin typeface="微软雅黑" panose="020B0503020204020204" pitchFamily="34" charset="-122"/>
                <a:ea typeface="微软雅黑" panose="020B0503020204020204" pitchFamily="34" charset="-122"/>
                <a:sym typeface="+mn-ea"/>
              </a:rPr>
              <a:t>机械设计工程师：查询零件尺寸、公差和图纸标注</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r>
              <a:rPr lang="zh-CN" altLang="en-US" sz="2000" dirty="0">
                <a:solidFill>
                  <a:srgbClr val="103380"/>
                </a:solidFill>
                <a:latin typeface="微软雅黑" panose="020B0503020204020204" pitchFamily="34" charset="-122"/>
                <a:ea typeface="微软雅黑" panose="020B0503020204020204" pitchFamily="34" charset="-122"/>
                <a:sym typeface="+mn-ea"/>
              </a:rPr>
              <a:t>质量工程师：核对图纸标注、发现异常并追溯证据</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r>
              <a:rPr lang="zh-CN" altLang="en-US" sz="2000" dirty="0">
                <a:solidFill>
                  <a:srgbClr val="103380"/>
                </a:solidFill>
                <a:latin typeface="微软雅黑" panose="020B0503020204020204" pitchFamily="34" charset="-122"/>
                <a:ea typeface="微软雅黑" panose="020B0503020204020204" pitchFamily="34" charset="-122"/>
                <a:sym typeface="+mn-ea"/>
              </a:rPr>
              <a:t>工程数据管理员：管理零件、图纸、标注和解析质量</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会议</a:t>
            </a:r>
            <a:r>
              <a:rPr lang="en-US" altLang="zh-CN"/>
              <a:t>-</a:t>
            </a:r>
            <a:r>
              <a:t>企业关注点</a:t>
            </a:r>
          </a:p>
        </p:txBody>
      </p:sp>
      <p:sp>
        <p:nvSpPr>
          <p:cNvPr id="4" name="Text Box 3"/>
          <p:cNvSpPr txBox="1"/>
          <p:nvPr/>
        </p:nvSpPr>
        <p:spPr>
          <a:xfrm>
            <a:off x="470535" y="1012825"/>
            <a:ext cx="10888980" cy="5146040"/>
          </a:xfrm>
          <a:prstGeom prst="rect">
            <a:avLst/>
          </a:prstGeom>
          <a:noFill/>
        </p:spPr>
        <p:txBody>
          <a:bodyPr wrap="square" rtlCol="0">
            <a:noAutofit/>
          </a:bodyPr>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问数：</a:t>
            </a:r>
            <a:r>
              <a:rPr lang="zh-CN" altLang="en-US" sz="2000" dirty="0">
                <a:solidFill>
                  <a:srgbClr val="103380"/>
                </a:solidFill>
                <a:latin typeface="微软雅黑" panose="020B0503020204020204" pitchFamily="34" charset="-122"/>
                <a:ea typeface="微软雅黑" panose="020B0503020204020204" pitchFamily="34" charset="-122"/>
                <a:sym typeface="+mn-ea"/>
              </a:rPr>
              <a:t>关注精确度、多表的关联聚合、复杂问题理解</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问答：</a:t>
            </a:r>
            <a:r>
              <a:rPr lang="zh-CN" altLang="en-US" sz="2000" dirty="0">
                <a:solidFill>
                  <a:srgbClr val="103380"/>
                </a:solidFill>
                <a:latin typeface="微软雅黑" panose="020B0503020204020204" pitchFamily="34" charset="-122"/>
                <a:ea typeface="微软雅黑" panose="020B0503020204020204" pitchFamily="34" charset="-122"/>
                <a:sym typeface="+mn-ea"/>
              </a:rPr>
              <a:t>文档分词和切片可以探索、针对扫描件、层级结构乱、可能还有表格，如何理解文档结构逻辑，加入</a:t>
            </a:r>
            <a:r>
              <a:rPr lang="en-US" altLang="zh-CN" sz="2000" dirty="0">
                <a:solidFill>
                  <a:srgbClr val="103380"/>
                </a:solidFill>
                <a:latin typeface="微软雅黑" panose="020B0503020204020204" pitchFamily="34" charset="-122"/>
                <a:ea typeface="微软雅黑" panose="020B0503020204020204" pitchFamily="34" charset="-122"/>
                <a:sym typeface="+mn-ea"/>
              </a:rPr>
              <a:t>CAD</a:t>
            </a:r>
            <a:r>
              <a:rPr lang="zh-CN" altLang="en-US" sz="2000" dirty="0">
                <a:solidFill>
                  <a:srgbClr val="103380"/>
                </a:solidFill>
                <a:latin typeface="微软雅黑" panose="020B0503020204020204" pitchFamily="34" charset="-122"/>
                <a:ea typeface="微软雅黑" panose="020B0503020204020204" pitchFamily="34" charset="-122"/>
                <a:sym typeface="+mn-ea"/>
              </a:rPr>
              <a:t>（电路图、组装图、工艺</a:t>
            </a:r>
            <a:r>
              <a:rPr lang="zh-CN" altLang="en-US" sz="2000" dirty="0">
                <a:solidFill>
                  <a:srgbClr val="103380"/>
                </a:solidFill>
                <a:latin typeface="微软雅黑" panose="020B0503020204020204" pitchFamily="34" charset="-122"/>
                <a:ea typeface="微软雅黑" panose="020B0503020204020204" pitchFamily="34" charset="-122"/>
                <a:sym typeface="+mn-ea"/>
              </a:rPr>
              <a:t>文件）</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二者融合：</a:t>
            </a:r>
            <a:r>
              <a:rPr lang="zh-CN" altLang="en-US" sz="2000" dirty="0">
                <a:solidFill>
                  <a:srgbClr val="103380"/>
                </a:solidFill>
                <a:latin typeface="微软雅黑" panose="020B0503020204020204" pitchFamily="34" charset="-122"/>
                <a:ea typeface="微软雅黑" panose="020B0503020204020204" pitchFamily="34" charset="-122"/>
                <a:sym typeface="+mn-ea"/>
              </a:rPr>
              <a:t>如结构化与非结构化数据不一致的情况</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整体</a:t>
            </a:r>
            <a:r>
              <a:rPr lang="zh-CN" altLang="en-US" sz="2000" b="1" dirty="0">
                <a:solidFill>
                  <a:srgbClr val="103380"/>
                </a:solidFill>
                <a:latin typeface="微软雅黑" panose="020B0503020204020204" pitchFamily="34" charset="-122"/>
                <a:ea typeface="微软雅黑" panose="020B0503020204020204" pitchFamily="34" charset="-122"/>
                <a:sym typeface="+mn-ea"/>
              </a:rPr>
              <a:t>链路：</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用户提问（指代、改写、意图理解</a:t>
            </a:r>
            <a:r>
              <a:rPr lang="en-US" altLang="zh-CN" sz="2000" b="1" dirty="0">
                <a:solidFill>
                  <a:srgbClr val="103380"/>
                </a:solidFill>
                <a:latin typeface="微软雅黑" panose="020B0503020204020204" pitchFamily="34" charset="-122"/>
                <a:ea typeface="微软雅黑" panose="020B0503020204020204" pitchFamily="34" charset="-122"/>
                <a:sym typeface="+mn-ea"/>
              </a:rPr>
              <a:t>&lt;</a:t>
            </a:r>
            <a:r>
              <a:rPr lang="zh-CN" altLang="en-US" sz="2000" b="1" dirty="0">
                <a:solidFill>
                  <a:srgbClr val="103380"/>
                </a:solidFill>
                <a:latin typeface="微软雅黑" panose="020B0503020204020204" pitchFamily="34" charset="-122"/>
                <a:ea typeface="微软雅黑" panose="020B0503020204020204" pitchFamily="34" charset="-122"/>
                <a:sym typeface="+mn-ea"/>
              </a:rPr>
              <a:t>文书问答，查什么表</a:t>
            </a:r>
            <a:r>
              <a:rPr lang="en-US" altLang="zh-CN" sz="2000" b="1" dirty="0">
                <a:solidFill>
                  <a:srgbClr val="103380"/>
                </a:solidFill>
                <a:latin typeface="微软雅黑" panose="020B0503020204020204" pitchFamily="34" charset="-122"/>
                <a:ea typeface="微软雅黑" panose="020B0503020204020204" pitchFamily="34" charset="-122"/>
                <a:sym typeface="+mn-ea"/>
              </a:rPr>
              <a:t>&gt;</a:t>
            </a:r>
            <a:r>
              <a:rPr lang="zh-CN" altLang="en-US" sz="2000" b="1" dirty="0">
                <a:solidFill>
                  <a:srgbClr val="103380"/>
                </a:solidFill>
                <a:latin typeface="微软雅黑" panose="020B0503020204020204" pitchFamily="34" charset="-122"/>
                <a:ea typeface="微软雅黑" panose="020B0503020204020204" pitchFamily="34" charset="-122"/>
                <a:sym typeface="+mn-ea"/>
              </a:rPr>
              <a:t>）</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自主规划任务路径</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精准执行查询与检索</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融合推理分析</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输出可解释</a:t>
            </a:r>
            <a:r>
              <a:rPr lang="zh-CN" altLang="en-US" sz="2000" b="1" dirty="0">
                <a:solidFill>
                  <a:srgbClr val="103380"/>
                </a:solidFill>
                <a:latin typeface="微软雅黑" panose="020B0503020204020204" pitchFamily="34" charset="-122"/>
                <a:ea typeface="微软雅黑" panose="020B0503020204020204" pitchFamily="34" charset="-122"/>
                <a:sym typeface="+mn-ea"/>
              </a:rPr>
              <a:t>答案</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系统模型选用：</a:t>
            </a:r>
            <a:r>
              <a:rPr lang="zh-CN" altLang="en-US" sz="2000" dirty="0">
                <a:solidFill>
                  <a:srgbClr val="103380"/>
                </a:solidFill>
                <a:latin typeface="微软雅黑" panose="020B0503020204020204" pitchFamily="34" charset="-122"/>
                <a:ea typeface="微软雅黑" panose="020B0503020204020204" pitchFamily="34" charset="-122"/>
                <a:sym typeface="+mn-ea"/>
              </a:rPr>
              <a:t>国产</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系统指标：</a:t>
            </a:r>
            <a:r>
              <a:rPr lang="zh-CN" altLang="en-US" sz="2000" dirty="0">
                <a:solidFill>
                  <a:srgbClr val="103380"/>
                </a:solidFill>
                <a:latin typeface="微软雅黑" panose="020B0503020204020204" pitchFamily="34" charset="-122"/>
                <a:ea typeface="微软雅黑" panose="020B0503020204020204" pitchFamily="34" charset="-122"/>
                <a:sym typeface="+mn-ea"/>
              </a:rPr>
              <a:t>准确性、鲁棒性、</a:t>
            </a:r>
            <a:r>
              <a:rPr lang="zh-CN" altLang="en-US" sz="2000" dirty="0">
                <a:solidFill>
                  <a:srgbClr val="103380"/>
                </a:solidFill>
                <a:latin typeface="微软雅黑" panose="020B0503020204020204" pitchFamily="34" charset="-122"/>
                <a:ea typeface="微软雅黑" panose="020B0503020204020204" pitchFamily="34" charset="-122"/>
                <a:sym typeface="+mn-ea"/>
              </a:rPr>
              <a:t>响应时间</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b="1" dirty="0">
                <a:solidFill>
                  <a:srgbClr val="103380"/>
                </a:solidFill>
                <a:latin typeface="微软雅黑" panose="020B0503020204020204" pitchFamily="34" charset="-122"/>
                <a:ea typeface="微软雅黑" panose="020B0503020204020204" pitchFamily="34" charset="-122"/>
                <a:sym typeface="+mn-ea"/>
              </a:rPr>
              <a:t>其它</a:t>
            </a:r>
            <a:r>
              <a:rPr lang="zh-CN" altLang="en-US" sz="2000" b="1" dirty="0">
                <a:solidFill>
                  <a:srgbClr val="103380"/>
                </a:solidFill>
                <a:latin typeface="微软雅黑" panose="020B0503020204020204" pitchFamily="34" charset="-122"/>
                <a:ea typeface="微软雅黑" panose="020B0503020204020204" pitchFamily="34" charset="-122"/>
                <a:sym typeface="+mn-ea"/>
              </a:rPr>
              <a:t>注意点：</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r>
              <a:rPr lang="zh-CN" altLang="en-US" sz="2000" dirty="0">
                <a:solidFill>
                  <a:srgbClr val="103380"/>
                </a:solidFill>
                <a:latin typeface="微软雅黑" panose="020B0503020204020204" pitchFamily="34" charset="-122"/>
                <a:ea typeface="微软雅黑" panose="020B0503020204020204" pitchFamily="34" charset="-122"/>
                <a:sym typeface="+mn-ea"/>
              </a:rPr>
              <a:t>多跳问答、可解释性、模型参数量越小越好、数据种类跳跃越多贡献越大、低质量数据（</a:t>
            </a:r>
            <a:r>
              <a:rPr lang="en-US" altLang="zh-CN" sz="2000" dirty="0">
                <a:solidFill>
                  <a:srgbClr val="103380"/>
                </a:solidFill>
                <a:latin typeface="微软雅黑" panose="020B0503020204020204" pitchFamily="34" charset="-122"/>
                <a:ea typeface="微软雅黑" panose="020B0503020204020204" pitchFamily="34" charset="-122"/>
                <a:sym typeface="+mn-ea"/>
              </a:rPr>
              <a:t>CAD</a:t>
            </a:r>
            <a:r>
              <a:rPr lang="zh-CN" altLang="en-US" sz="2000" dirty="0">
                <a:solidFill>
                  <a:srgbClr val="103380"/>
                </a:solidFill>
                <a:latin typeface="微软雅黑" panose="020B0503020204020204" pitchFamily="34" charset="-122"/>
                <a:ea typeface="微软雅黑" panose="020B0503020204020204" pitchFamily="34" charset="-122"/>
                <a:sym typeface="+mn-ea"/>
              </a:rPr>
              <a:t>文档）的</a:t>
            </a:r>
            <a:r>
              <a:rPr lang="zh-CN" altLang="en-US" sz="2000" dirty="0">
                <a:solidFill>
                  <a:srgbClr val="103380"/>
                </a:solidFill>
                <a:latin typeface="微软雅黑" panose="020B0503020204020204" pitchFamily="34" charset="-122"/>
                <a:ea typeface="微软雅黑" panose="020B0503020204020204" pitchFamily="34" charset="-122"/>
                <a:sym typeface="+mn-ea"/>
              </a:rPr>
              <a:t>情况、方案可扩展性</a:t>
            </a:r>
            <a:endParaRPr lang="zh-CN" altLang="en-US" sz="2000" dirty="0">
              <a:solidFill>
                <a:srgbClr val="103380"/>
              </a:solidFill>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pP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现状</a:t>
            </a:r>
          </a:p>
        </p:txBody>
      </p:sp>
      <p:sp>
        <p:nvSpPr>
          <p:cNvPr id="4" name="Text Box 3"/>
          <p:cNvSpPr txBox="1"/>
          <p:nvPr/>
        </p:nvSpPr>
        <p:spPr>
          <a:xfrm>
            <a:off x="470535" y="968375"/>
            <a:ext cx="10888980" cy="5146040"/>
          </a:xfrm>
          <a:prstGeom prst="rect">
            <a:avLst/>
          </a:prstGeom>
          <a:noFill/>
        </p:spPr>
        <p:txBody>
          <a:bodyPr wrap="square" rtlCol="0">
            <a:noAutofit/>
          </a:bodyPr>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基础任务</a:t>
            </a:r>
            <a:r>
              <a:rPr lang="zh-CN" altLang="en-US" sz="2000" b="1" dirty="0">
                <a:solidFill>
                  <a:srgbClr val="103380"/>
                </a:solidFill>
                <a:latin typeface="微软雅黑" panose="020B0503020204020204" pitchFamily="34" charset="-122"/>
                <a:ea typeface="微软雅黑" panose="020B0503020204020204" pitchFamily="34" charset="-122"/>
                <a:sym typeface="+mn-ea"/>
              </a:rPr>
              <a:t>的完整闭环已跑通。单表问答，单文档问答等</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en-US" altLang="zh-CN" sz="2000" b="1" dirty="0">
                <a:solidFill>
                  <a:srgbClr val="103380"/>
                </a:solidFill>
                <a:latin typeface="微软雅黑" panose="020B0503020204020204" pitchFamily="34" charset="-122"/>
                <a:ea typeface="微软雅黑" panose="020B0503020204020204" pitchFamily="34" charset="-122"/>
                <a:sym typeface="+mn-ea"/>
              </a:rPr>
              <a:t>RAG</a:t>
            </a:r>
            <a:r>
              <a:rPr lang="zh-CN" altLang="en-US" sz="2000" b="1" dirty="0">
                <a:solidFill>
                  <a:srgbClr val="103380"/>
                </a:solidFill>
                <a:latin typeface="微软雅黑" panose="020B0503020204020204" pitchFamily="34" charset="-122"/>
                <a:ea typeface="微软雅黑" panose="020B0503020204020204" pitchFamily="34" charset="-122"/>
                <a:sym typeface="+mn-ea"/>
              </a:rPr>
              <a:t>、澄清部分、</a:t>
            </a:r>
            <a:r>
              <a:rPr lang="zh-CN" altLang="en-US" sz="2000" b="1" dirty="0">
                <a:solidFill>
                  <a:srgbClr val="103380"/>
                </a:solidFill>
                <a:latin typeface="微软雅黑" panose="020B0503020204020204" pitchFamily="34" charset="-122"/>
                <a:ea typeface="微软雅黑" panose="020B0503020204020204" pitchFamily="34" charset="-122"/>
                <a:sym typeface="+mn-ea"/>
              </a:rPr>
              <a:t>注册表等内容均有修改，同步最新远程</a:t>
            </a:r>
            <a:r>
              <a:rPr lang="zh-CN" altLang="en-US" sz="2000" b="1" dirty="0">
                <a:solidFill>
                  <a:srgbClr val="103380"/>
                </a:solidFill>
                <a:latin typeface="微软雅黑" panose="020B0503020204020204" pitchFamily="34" charset="-122"/>
                <a:ea typeface="微软雅黑" panose="020B0503020204020204" pitchFamily="34" charset="-122"/>
                <a:sym typeface="+mn-ea"/>
              </a:rPr>
              <a:t>去做。</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测试不同</a:t>
            </a:r>
            <a:r>
              <a:rPr lang="en-US" altLang="zh-CN" sz="2000" b="1" dirty="0">
                <a:solidFill>
                  <a:srgbClr val="103380"/>
                </a:solidFill>
                <a:latin typeface="微软雅黑" panose="020B0503020204020204" pitchFamily="34" charset="-122"/>
                <a:ea typeface="微软雅黑" panose="020B0503020204020204" pitchFamily="34" charset="-122"/>
                <a:sym typeface="+mn-ea"/>
              </a:rPr>
              <a:t>AI LLM</a:t>
            </a:r>
            <a:r>
              <a:rPr lang="zh-CN" altLang="en-US"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目前选用</a:t>
            </a:r>
            <a:r>
              <a:rPr lang="en-US" altLang="zh-CN" sz="2000" b="1" dirty="0">
                <a:solidFill>
                  <a:srgbClr val="103380"/>
                </a:solidFill>
                <a:latin typeface="微软雅黑" panose="020B0503020204020204" pitchFamily="34" charset="-122"/>
                <a:ea typeface="微软雅黑" panose="020B0503020204020204" pitchFamily="34" charset="-122"/>
                <a:sym typeface="+mn-ea"/>
              </a:rPr>
              <a:t>MiMo-V2.6-Flash</a:t>
            </a:r>
            <a:r>
              <a:rPr lang="zh-CN" altLang="en-US" sz="2000" b="1" dirty="0">
                <a:solidFill>
                  <a:srgbClr val="103380"/>
                </a:solidFill>
                <a:latin typeface="微软雅黑" panose="020B0503020204020204" pitchFamily="34" charset="-122"/>
                <a:ea typeface="微软雅黑" panose="020B0503020204020204" pitchFamily="34" charset="-122"/>
                <a:sym typeface="+mn-ea"/>
              </a:rPr>
              <a:t>（已写入</a:t>
            </a:r>
            <a:r>
              <a:rPr lang="en-US" altLang="zh-CN" sz="2000" b="1" dirty="0">
                <a:solidFill>
                  <a:srgbClr val="103380"/>
                </a:solidFill>
                <a:latin typeface="微软雅黑" panose="020B0503020204020204" pitchFamily="34" charset="-122"/>
                <a:ea typeface="微软雅黑" panose="020B0503020204020204" pitchFamily="34" charset="-122"/>
                <a:sym typeface="+mn-ea"/>
              </a:rPr>
              <a:t>env</a:t>
            </a:r>
            <a:r>
              <a:rPr lang="zh-CN" altLang="en-US" sz="2000" b="1" dirty="0">
                <a:solidFill>
                  <a:srgbClr val="103380"/>
                </a:solidFill>
                <a:latin typeface="微软雅黑" panose="020B0503020204020204" pitchFamily="34" charset="-122"/>
                <a:ea typeface="微软雅黑" panose="020B0503020204020204" pitchFamily="34" charset="-122"/>
                <a:sym typeface="+mn-ea"/>
              </a:rPr>
              <a:t>）</a:t>
            </a:r>
            <a:endParaRPr lang="en-US" altLang="zh-CN"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en-US" altLang="zh-CN" sz="2000" b="1" dirty="0">
                <a:solidFill>
                  <a:srgbClr val="103380"/>
                </a:solidFill>
                <a:latin typeface="微软雅黑" panose="020B0503020204020204" pitchFamily="34" charset="-122"/>
                <a:ea typeface="微软雅黑" panose="020B0503020204020204" pitchFamily="34" charset="-122"/>
                <a:sym typeface="+mn-ea"/>
              </a:rPr>
              <a:t>UI</a:t>
            </a:r>
            <a:r>
              <a:rPr lang="zh-CN" altLang="en-US" sz="2000" b="1" dirty="0">
                <a:solidFill>
                  <a:srgbClr val="103380"/>
                </a:solidFill>
                <a:latin typeface="微软雅黑" panose="020B0503020204020204" pitchFamily="34" charset="-122"/>
                <a:ea typeface="微软雅黑" panose="020B0503020204020204" pitchFamily="34" charset="-122"/>
                <a:sym typeface="+mn-ea"/>
              </a:rPr>
              <a:t>的</a:t>
            </a:r>
            <a:r>
              <a:rPr lang="en-US" altLang="zh-CN" sz="2000" b="1" dirty="0">
                <a:solidFill>
                  <a:srgbClr val="103380"/>
                </a:solidFill>
                <a:latin typeface="微软雅黑" panose="020B0503020204020204" pitchFamily="34" charset="-122"/>
                <a:ea typeface="微软雅黑" panose="020B0503020204020204" pitchFamily="34" charset="-122"/>
                <a:sym typeface="+mn-ea"/>
              </a:rPr>
              <a:t>展示链路</a:t>
            </a:r>
            <a:r>
              <a:rPr lang="zh-CN" altLang="en-US" sz="2000" b="1" dirty="0">
                <a:solidFill>
                  <a:srgbClr val="103380"/>
                </a:solidFill>
                <a:latin typeface="微软雅黑" panose="020B0503020204020204" pitchFamily="34" charset="-122"/>
                <a:ea typeface="微软雅黑" panose="020B0503020204020204" pitchFamily="34" charset="-122"/>
                <a:sym typeface="+mn-ea"/>
              </a:rPr>
              <a:t>优化</a:t>
            </a:r>
            <a:endParaRPr lang="en-US" altLang="zh-CN"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400" b="1" dirty="0">
                <a:solidFill>
                  <a:srgbClr val="103380"/>
                </a:solidFill>
                <a:latin typeface="微软雅黑" panose="020B0503020204020204" pitchFamily="34" charset="-122"/>
                <a:ea typeface="微软雅黑" panose="020B0503020204020204" pitchFamily="34" charset="-122"/>
                <a:sym typeface="+mn-ea"/>
              </a:rPr>
              <a:t>问题：</a:t>
            </a:r>
            <a:endParaRPr lang="zh-CN" altLang="en-US" sz="24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C00000"/>
                </a:solidFill>
                <a:latin typeface="微软雅黑" panose="020B0503020204020204" pitchFamily="34" charset="-122"/>
                <a:ea typeface="微软雅黑" panose="020B0503020204020204" pitchFamily="34" charset="-122"/>
                <a:sym typeface="+mn-ea"/>
              </a:rPr>
              <a:t>测评集能力分析，选择与认领分工</a:t>
            </a:r>
            <a:r>
              <a:rPr lang="zh-CN" altLang="en-US" sz="2000" b="1" dirty="0">
                <a:solidFill>
                  <a:srgbClr val="103380"/>
                </a:solidFill>
                <a:latin typeface="微软雅黑" panose="020B0503020204020204" pitchFamily="34" charset="-122"/>
                <a:ea typeface="微软雅黑" panose="020B0503020204020204" pitchFamily="34" charset="-122"/>
                <a:sym typeface="+mn-ea"/>
              </a:rPr>
              <a:t>（跑评测与试用</a:t>
            </a:r>
            <a:r>
              <a:rPr lang="zh-CN" altLang="en-US" sz="2000" b="1" dirty="0">
                <a:solidFill>
                  <a:srgbClr val="103380"/>
                </a:solidFill>
                <a:latin typeface="微软雅黑" panose="020B0503020204020204" pitchFamily="34" charset="-122"/>
                <a:ea typeface="微软雅黑" panose="020B0503020204020204" pitchFamily="34" charset="-122"/>
                <a:sym typeface="+mn-ea"/>
              </a:rPr>
              <a:t>体验）</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跨源能力怎么</a:t>
            </a:r>
            <a:r>
              <a:rPr lang="zh-CN" altLang="en-US" sz="2000" b="1" dirty="0">
                <a:solidFill>
                  <a:srgbClr val="103380"/>
                </a:solidFill>
                <a:latin typeface="微软雅黑" panose="020B0503020204020204" pitchFamily="34" charset="-122"/>
                <a:ea typeface="微软雅黑" panose="020B0503020204020204" pitchFamily="34" charset="-122"/>
                <a:sym typeface="+mn-ea"/>
              </a:rPr>
              <a:t>做好？</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en-US" altLang="zh-CN" sz="2000" b="1" dirty="0">
                <a:solidFill>
                  <a:srgbClr val="103380"/>
                </a:solidFill>
                <a:latin typeface="微软雅黑" panose="020B0503020204020204" pitchFamily="34" charset="-122"/>
                <a:ea typeface="微软雅黑" panose="020B0503020204020204" pitchFamily="34" charset="-122"/>
                <a:sym typeface="+mn-ea"/>
              </a:rPr>
              <a:t>UI</a:t>
            </a:r>
            <a:r>
              <a:rPr lang="zh-CN" altLang="en-US" sz="2000" b="1" dirty="0">
                <a:solidFill>
                  <a:srgbClr val="103380"/>
                </a:solidFill>
                <a:latin typeface="微软雅黑" panose="020B0503020204020204" pitchFamily="34" charset="-122"/>
                <a:ea typeface="微软雅黑" panose="020B0503020204020204" pitchFamily="34" charset="-122"/>
                <a:sym typeface="+mn-ea"/>
              </a:rPr>
              <a:t>太粗糙，已初步删减和</a:t>
            </a:r>
            <a:r>
              <a:rPr lang="zh-CN" altLang="en-US" sz="2000" b="1" dirty="0">
                <a:solidFill>
                  <a:srgbClr val="103380"/>
                </a:solidFill>
                <a:latin typeface="微软雅黑" panose="020B0503020204020204" pitchFamily="34" charset="-122"/>
                <a:ea typeface="微软雅黑" panose="020B0503020204020204" pitchFamily="34" charset="-122"/>
                <a:sym typeface="+mn-ea"/>
              </a:rPr>
              <a:t>优化，后面考虑用ｓｋｉｌｌ重构</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Wingdings" panose="05000000000000000000" charset="0"/>
              <a:buNone/>
            </a:pP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400" b="1" dirty="0">
                <a:solidFill>
                  <a:srgbClr val="103380"/>
                </a:solidFill>
                <a:latin typeface="微软雅黑" panose="020B0503020204020204" pitchFamily="34" charset="-122"/>
                <a:ea typeface="微软雅黑" panose="020B0503020204020204" pitchFamily="34" charset="-122"/>
                <a:sym typeface="+mn-ea"/>
              </a:rPr>
              <a:t>目标：</a:t>
            </a:r>
            <a:endParaRPr lang="zh-CN" altLang="en-US" sz="24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对应</a:t>
            </a:r>
            <a:r>
              <a:rPr lang="zh-CN" altLang="en-US" sz="2000" b="1" dirty="0">
                <a:solidFill>
                  <a:srgbClr val="C00000"/>
                </a:solidFill>
                <a:latin typeface="微软雅黑" panose="020B0503020204020204" pitchFamily="34" charset="-122"/>
                <a:ea typeface="微软雅黑" panose="020B0503020204020204" pitchFamily="34" charset="-122"/>
                <a:sym typeface="+mn-ea"/>
              </a:rPr>
              <a:t>专项准确率至少</a:t>
            </a:r>
            <a:r>
              <a:rPr lang="en-US" altLang="zh-CN" sz="2000" b="1" dirty="0">
                <a:solidFill>
                  <a:srgbClr val="C00000"/>
                </a:solidFill>
                <a:latin typeface="微软雅黑" panose="020B0503020204020204" pitchFamily="34" charset="-122"/>
                <a:ea typeface="微软雅黑" panose="020B0503020204020204" pitchFamily="34" charset="-122"/>
                <a:sym typeface="+mn-ea"/>
              </a:rPr>
              <a:t>70%</a:t>
            </a:r>
            <a:r>
              <a:rPr lang="zh-CN" altLang="en-US" sz="2000" b="1" dirty="0">
                <a:solidFill>
                  <a:srgbClr val="C00000"/>
                </a:solidFill>
                <a:latin typeface="微软雅黑" panose="020B0503020204020204" pitchFamily="34" charset="-122"/>
                <a:ea typeface="微软雅黑" panose="020B0503020204020204" pitchFamily="34" charset="-122"/>
                <a:sym typeface="+mn-ea"/>
              </a:rPr>
              <a:t>以上</a:t>
            </a:r>
            <a:r>
              <a:rPr lang="zh-CN" altLang="en-US" sz="2000" b="1" dirty="0">
                <a:solidFill>
                  <a:srgbClr val="103380"/>
                </a:solidFill>
                <a:latin typeface="微软雅黑" panose="020B0503020204020204" pitchFamily="34" charset="-122"/>
                <a:ea typeface="微软雅黑" panose="020B0503020204020204" pitchFamily="34" charset="-122"/>
                <a:sym typeface="+mn-ea"/>
              </a:rPr>
              <a:t>，不做的专项</a:t>
            </a:r>
            <a:r>
              <a:rPr lang="zh-CN" altLang="en-US" sz="2000" b="1" dirty="0">
                <a:solidFill>
                  <a:srgbClr val="103380"/>
                </a:solidFill>
                <a:latin typeface="微软雅黑" panose="020B0503020204020204" pitchFamily="34" charset="-122"/>
                <a:ea typeface="微软雅黑" panose="020B0503020204020204" pitchFamily="34" charset="-122"/>
                <a:sym typeface="+mn-ea"/>
              </a:rPr>
              <a:t>后续删除</a:t>
            </a:r>
            <a:r>
              <a:rPr lang="zh-CN" altLang="en-US" sz="2000" b="1" dirty="0">
                <a:solidFill>
                  <a:srgbClr val="103380"/>
                </a:solidFill>
                <a:latin typeface="微软雅黑" panose="020B0503020204020204" pitchFamily="34" charset="-122"/>
                <a:ea typeface="微软雅黑" panose="020B0503020204020204" pitchFamily="34" charset="-122"/>
                <a:sym typeface="+mn-ea"/>
              </a:rPr>
              <a:t>对应测试</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C00000"/>
                </a:solidFill>
                <a:latin typeface="微软雅黑" panose="020B0503020204020204" pitchFamily="34" charset="-122"/>
                <a:ea typeface="微软雅黑" panose="020B0503020204020204" pitchFamily="34" charset="-122"/>
                <a:sym typeface="+mn-ea"/>
              </a:rPr>
              <a:t>测试集适当扩充，要求各项至少</a:t>
            </a:r>
            <a:r>
              <a:rPr lang="en-US" altLang="zh-CN" sz="2000" b="1" dirty="0">
                <a:solidFill>
                  <a:srgbClr val="C00000"/>
                </a:solidFill>
                <a:latin typeface="微软雅黑" panose="020B0503020204020204" pitchFamily="34" charset="-122"/>
                <a:ea typeface="微软雅黑" panose="020B0503020204020204" pitchFamily="34" charset="-122"/>
                <a:sym typeface="+mn-ea"/>
              </a:rPr>
              <a:t>10</a:t>
            </a:r>
            <a:r>
              <a:rPr lang="zh-CN" altLang="en-US" sz="2000" b="1" dirty="0">
                <a:solidFill>
                  <a:srgbClr val="C00000"/>
                </a:solidFill>
                <a:latin typeface="微软雅黑" panose="020B0503020204020204" pitchFamily="34" charset="-122"/>
                <a:ea typeface="微软雅黑" panose="020B0503020204020204" pitchFamily="34" charset="-122"/>
                <a:sym typeface="+mn-ea"/>
              </a:rPr>
              <a:t>个，可以做</a:t>
            </a:r>
            <a:r>
              <a:rPr lang="en-US" altLang="zh-CN" sz="2000" b="1" dirty="0">
                <a:solidFill>
                  <a:srgbClr val="C00000"/>
                </a:solidFill>
                <a:latin typeface="微软雅黑" panose="020B0503020204020204" pitchFamily="34" charset="-122"/>
                <a:ea typeface="微软雅黑" panose="020B0503020204020204" pitchFamily="34" charset="-122"/>
                <a:sym typeface="+mn-ea"/>
              </a:rPr>
              <a:t>15+</a:t>
            </a:r>
            <a:r>
              <a:rPr lang="zh-CN" altLang="en-US" sz="2000" b="1" dirty="0">
                <a:solidFill>
                  <a:srgbClr val="C00000"/>
                </a:solidFill>
                <a:latin typeface="微软雅黑" panose="020B0503020204020204" pitchFamily="34" charset="-122"/>
                <a:ea typeface="微软雅黑" panose="020B0503020204020204" pitchFamily="34" charset="-122"/>
                <a:sym typeface="+mn-ea"/>
              </a:rPr>
              <a:t>个</a:t>
            </a:r>
            <a:r>
              <a:rPr lang="zh-CN" altLang="en-US" sz="2000" b="1" dirty="0">
                <a:solidFill>
                  <a:srgbClr val="103380"/>
                </a:solidFill>
                <a:latin typeface="微软雅黑" panose="020B0503020204020204" pitchFamily="34" charset="-122"/>
                <a:ea typeface="微软雅黑" panose="020B0503020204020204" pitchFamily="34" charset="-122"/>
                <a:sym typeface="+mn-ea"/>
              </a:rPr>
              <a:t>（对应部分在原基础上自己让</a:t>
            </a:r>
            <a:r>
              <a:rPr lang="en-US" altLang="zh-CN" sz="2000" b="1" dirty="0">
                <a:solidFill>
                  <a:srgbClr val="103380"/>
                </a:solidFill>
                <a:latin typeface="微软雅黑" panose="020B0503020204020204" pitchFamily="34" charset="-122"/>
                <a:ea typeface="微软雅黑" panose="020B0503020204020204" pitchFamily="34" charset="-122"/>
                <a:sym typeface="+mn-ea"/>
              </a:rPr>
              <a:t>ai</a:t>
            </a:r>
            <a:r>
              <a:rPr lang="zh-CN" altLang="en-US" sz="2000" b="1" dirty="0">
                <a:solidFill>
                  <a:srgbClr val="103380"/>
                </a:solidFill>
                <a:latin typeface="微软雅黑" panose="020B0503020204020204" pitchFamily="34" charset="-122"/>
                <a:ea typeface="微软雅黑" panose="020B0503020204020204" pitchFamily="34" charset="-122"/>
                <a:sym typeface="+mn-ea"/>
              </a:rPr>
              <a:t>结合</a:t>
            </a:r>
            <a:r>
              <a:rPr lang="zh-CN" altLang="en-US" sz="2000" b="1" dirty="0">
                <a:solidFill>
                  <a:srgbClr val="103380"/>
                </a:solidFill>
                <a:latin typeface="微软雅黑" panose="020B0503020204020204" pitchFamily="34" charset="-122"/>
                <a:ea typeface="微软雅黑" panose="020B0503020204020204" pitchFamily="34" charset="-122"/>
                <a:sym typeface="+mn-ea"/>
              </a:rPr>
              <a:t>数据集扩充）</a:t>
            </a:r>
            <a:endParaRPr lang="en-US" altLang="zh-CN" sz="24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Wingdings" panose="05000000000000000000" charset="0"/>
              <a:buNone/>
            </a:pPr>
            <a:endParaRPr lang="en-US" altLang="zh-CN"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7931785" y="1012825"/>
            <a:ext cx="4071620" cy="2663190"/>
          </a:xfrm>
          <a:prstGeom prst="rect">
            <a:avLst/>
          </a:prstGeom>
        </p:spPr>
      </p:pic>
      <p:pic>
        <p:nvPicPr>
          <p:cNvPr id="5" name="图片 4"/>
          <p:cNvPicPr>
            <a:picLocks noChangeAspect="1"/>
          </p:cNvPicPr>
          <p:nvPr/>
        </p:nvPicPr>
        <p:blipFill>
          <a:blip r:embed="rId2"/>
          <a:stretch>
            <a:fillRect/>
          </a:stretch>
        </p:blipFill>
        <p:spPr>
          <a:xfrm>
            <a:off x="6242685" y="4149090"/>
            <a:ext cx="5581015" cy="9036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选择与</a:t>
            </a:r>
            <a:r>
              <a:t>分工</a:t>
            </a:r>
          </a:p>
        </p:txBody>
      </p:sp>
      <p:sp>
        <p:nvSpPr>
          <p:cNvPr id="4" name="Text Box 3"/>
          <p:cNvSpPr txBox="1"/>
          <p:nvPr/>
        </p:nvSpPr>
        <p:spPr>
          <a:xfrm>
            <a:off x="245110" y="774700"/>
            <a:ext cx="10175875" cy="5668645"/>
          </a:xfrm>
          <a:prstGeom prst="rect">
            <a:avLst/>
          </a:prstGeom>
          <a:noFill/>
        </p:spPr>
        <p:txBody>
          <a:bodyPr wrap="square" rtlCol="0">
            <a:noAutofit/>
          </a:bodyPr>
          <a:p>
            <a:pPr indent="0" algn="l">
              <a:lnSpc>
                <a:spcPct val="125000"/>
              </a:lnSpc>
              <a:spcBef>
                <a:spcPts val="0"/>
              </a:spcBef>
              <a:spcAft>
                <a:spcPts val="0"/>
              </a:spcAft>
              <a:buClrTx/>
              <a:buSzTx/>
              <a:buFont typeface="Wingdings" panose="05000000000000000000" charset="0"/>
              <a:buNone/>
            </a:pPr>
            <a:r>
              <a:rPr lang="zh-CN" altLang="en-US" sz="2400" b="1" dirty="0">
                <a:solidFill>
                  <a:srgbClr val="103380"/>
                </a:solidFill>
                <a:latin typeface="微软雅黑" panose="020B0503020204020204" pitchFamily="34" charset="-122"/>
                <a:ea typeface="微软雅黑" panose="020B0503020204020204" pitchFamily="34" charset="-122"/>
                <a:sym typeface="+mn-ea"/>
              </a:rPr>
              <a:t>优先</a:t>
            </a:r>
            <a:r>
              <a:rPr lang="en-US" altLang="zh-CN" sz="2400" b="1" dirty="0">
                <a:solidFill>
                  <a:srgbClr val="103380"/>
                </a:solidFill>
                <a:latin typeface="微软雅黑" panose="020B0503020204020204" pitchFamily="34" charset="-122"/>
                <a:ea typeface="微软雅黑" panose="020B0503020204020204" pitchFamily="34" charset="-122"/>
                <a:sym typeface="+mn-ea"/>
              </a:rPr>
              <a:t>:</a:t>
            </a:r>
            <a:endParaRPr lang="zh-CN" altLang="en-US" sz="24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基础 </a:t>
            </a:r>
            <a:r>
              <a:rPr lang="en-US" altLang="zh-CN" sz="2000" b="1" dirty="0">
                <a:solidFill>
                  <a:srgbClr val="103380"/>
                </a:solidFill>
                <a:latin typeface="微软雅黑" panose="020B0503020204020204" pitchFamily="34" charset="-122"/>
                <a:ea typeface="微软雅黑" panose="020B0503020204020204" pitchFamily="34" charset="-122"/>
                <a:sym typeface="+mn-ea"/>
              </a:rPr>
              <a:t>NL2SQL  - chinook</a:t>
            </a:r>
            <a:r>
              <a:rPr lang="zh-CN" altLang="en-US" sz="2000" b="1" dirty="0">
                <a:solidFill>
                  <a:srgbClr val="103380"/>
                </a:solidFill>
                <a:latin typeface="微软雅黑" panose="020B0503020204020204" pitchFamily="34" charset="-122"/>
                <a:ea typeface="微软雅黑" panose="020B0503020204020204" pitchFamily="34" charset="-122"/>
                <a:sym typeface="+mn-ea"/>
              </a:rPr>
              <a:t>这边没问题，</a:t>
            </a:r>
            <a:r>
              <a:rPr lang="zh-CN" altLang="en-US" sz="2000" b="1" dirty="0">
                <a:solidFill>
                  <a:srgbClr val="103380"/>
                </a:solidFill>
                <a:latin typeface="微软雅黑" panose="020B0503020204020204" pitchFamily="34" charset="-122"/>
                <a:ea typeface="微软雅黑" panose="020B0503020204020204" pitchFamily="34" charset="-122"/>
                <a:sym typeface="+mn-ea"/>
              </a:rPr>
              <a:t>需扩充测评集</a:t>
            </a:r>
            <a:endParaRPr lang="en-US" altLang="zh-CN"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基础文档问答</a:t>
            </a:r>
            <a:r>
              <a:rPr lang="en-US" altLang="zh-CN"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eval_basic_rag.jsonl - RAG</a:t>
            </a:r>
            <a:r>
              <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精度问题</a:t>
            </a:r>
            <a:endPar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多文档问答</a:t>
            </a:r>
            <a:r>
              <a:rPr lang="en-US" altLang="zh-CN"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 - RAG </a:t>
            </a:r>
            <a:r>
              <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问题</a:t>
            </a:r>
            <a:endPar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rPr>
              <a:t>跨源问答</a:t>
            </a:r>
            <a:endParaRPr lang="zh-CN" altLang="en-US" sz="2000" b="1" dirty="0">
              <a:solidFill>
                <a:srgbClr val="103380"/>
              </a:solidFill>
              <a:highlight>
                <a:srgbClr val="FFFF00"/>
              </a:highlight>
              <a:latin typeface="微软雅黑" panose="020B0503020204020204" pitchFamily="34" charset="-122"/>
              <a:ea typeface="微软雅黑" panose="020B0503020204020204" pitchFamily="34" charset="-122"/>
              <a:sym typeface="+mn-ea"/>
            </a:endParaRPr>
          </a:p>
          <a:p>
            <a:pPr algn="l">
              <a:lnSpc>
                <a:spcPct val="125000"/>
              </a:lnSpc>
              <a:spcBef>
                <a:spcPts val="0"/>
              </a:spcBef>
              <a:spcAft>
                <a:spcPts val="0"/>
              </a:spcAft>
              <a:buClrTx/>
              <a:buSzTx/>
              <a:buFont typeface="Wingdings" panose="05000000000000000000" charset="0"/>
              <a:buNone/>
            </a:pPr>
            <a:r>
              <a:rPr lang="zh-CN" altLang="en-US" sz="2400" b="1" dirty="0">
                <a:solidFill>
                  <a:srgbClr val="103380"/>
                </a:solidFill>
                <a:latin typeface="微软雅黑" panose="020B0503020204020204" pitchFamily="34" charset="-122"/>
                <a:ea typeface="微软雅黑" panose="020B0503020204020204" pitchFamily="34" charset="-122"/>
                <a:sym typeface="+mn-ea"/>
              </a:rPr>
              <a:t>中级任务：</a:t>
            </a:r>
            <a:endParaRPr lang="zh-CN" altLang="en-US" sz="24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专项·主动澄清</a:t>
            </a:r>
            <a:r>
              <a:rPr lang="en-US" altLang="zh-CN" sz="2000" b="1" dirty="0">
                <a:solidFill>
                  <a:srgbClr val="103380"/>
                </a:solidFill>
                <a:latin typeface="微软雅黑" panose="020B0503020204020204" pitchFamily="34" charset="-122"/>
                <a:ea typeface="微软雅黑" panose="020B0503020204020204" pitchFamily="34" charset="-122"/>
                <a:sym typeface="+mn-ea"/>
              </a:rPr>
              <a:t>eval_special_clarification.jsonl - </a:t>
            </a:r>
            <a:r>
              <a:rPr lang="zh-CN" altLang="en-US" sz="2000" b="1" dirty="0">
                <a:solidFill>
                  <a:srgbClr val="103380"/>
                </a:solidFill>
                <a:latin typeface="微软雅黑" panose="020B0503020204020204" pitchFamily="34" charset="-122"/>
                <a:ea typeface="微软雅黑" panose="020B0503020204020204" pitchFamily="34" charset="-122"/>
                <a:sym typeface="+mn-ea"/>
              </a:rPr>
              <a:t>中级三</a:t>
            </a:r>
            <a:r>
              <a:rPr lang="en-US" altLang="zh-CN" sz="2000" b="1" dirty="0">
                <a:solidFill>
                  <a:srgbClr val="103380"/>
                </a:solidFill>
                <a:latin typeface="微软雅黑" panose="020B0503020204020204" pitchFamily="34" charset="-122"/>
                <a:ea typeface="微软雅黑" panose="020B0503020204020204" pitchFamily="34" charset="-122"/>
                <a:sym typeface="+mn-ea"/>
              </a:rPr>
              <a:t> </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专项·别名与分类</a:t>
            </a:r>
            <a:r>
              <a:rPr lang="en-US" altLang="zh-CN" sz="2000" b="1" dirty="0">
                <a:solidFill>
                  <a:srgbClr val="103380"/>
                </a:solidFill>
                <a:latin typeface="微软雅黑" panose="020B0503020204020204" pitchFamily="34" charset="-122"/>
                <a:ea typeface="微软雅黑" panose="020B0503020204020204" pitchFamily="34" charset="-122"/>
                <a:sym typeface="+mn-ea"/>
              </a:rPr>
              <a:t>eval_special_alias_robustness.jsonl - </a:t>
            </a:r>
            <a:r>
              <a:rPr lang="zh-CN" altLang="en-US" sz="2000" b="1" dirty="0">
                <a:solidFill>
                  <a:srgbClr val="103380"/>
                </a:solidFill>
                <a:latin typeface="微软雅黑" panose="020B0503020204020204" pitchFamily="34" charset="-122"/>
                <a:ea typeface="微软雅黑" panose="020B0503020204020204" pitchFamily="34" charset="-122"/>
                <a:sym typeface="+mn-ea"/>
              </a:rPr>
              <a:t>中级一</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专项·多表关联</a:t>
            </a:r>
            <a:r>
              <a:rPr lang="en-US" altLang="zh-CN" sz="2000" b="1" dirty="0">
                <a:solidFill>
                  <a:srgbClr val="103380"/>
                </a:solidFill>
                <a:latin typeface="微软雅黑" panose="020B0503020204020204" pitchFamily="34" charset="-122"/>
                <a:ea typeface="微软雅黑" panose="020B0503020204020204" pitchFamily="34" charset="-122"/>
                <a:sym typeface="+mn-ea"/>
              </a:rPr>
              <a:t>eval_special_multitable.jsonl</a:t>
            </a:r>
            <a:r>
              <a:rPr lang="zh-CN" altLang="en-US" sz="2000" b="1" dirty="0">
                <a:solidFill>
                  <a:srgbClr val="103380"/>
                </a:solidFill>
                <a:latin typeface="微软雅黑" panose="020B0503020204020204" pitchFamily="34" charset="-122"/>
                <a:ea typeface="微软雅黑" panose="020B0503020204020204" pitchFamily="34" charset="-122"/>
                <a:sym typeface="+mn-ea"/>
              </a:rPr>
              <a:t> </a:t>
            </a:r>
            <a:r>
              <a:rPr lang="en-US" altLang="zh-CN" sz="2000" b="1" dirty="0">
                <a:solidFill>
                  <a:srgbClr val="103380"/>
                </a:solidFill>
                <a:latin typeface="微软雅黑" panose="020B0503020204020204" pitchFamily="34" charset="-122"/>
                <a:ea typeface="微软雅黑" panose="020B0503020204020204" pitchFamily="34" charset="-122"/>
                <a:sym typeface="+mn-ea"/>
              </a:rPr>
              <a:t>- </a:t>
            </a:r>
            <a:r>
              <a:rPr lang="zh-CN" altLang="en-US" sz="2000" b="1" dirty="0">
                <a:solidFill>
                  <a:srgbClr val="103380"/>
                </a:solidFill>
                <a:latin typeface="微软雅黑" panose="020B0503020204020204" pitchFamily="34" charset="-122"/>
                <a:ea typeface="微软雅黑" panose="020B0503020204020204" pitchFamily="34" charset="-122"/>
                <a:sym typeface="+mn-ea"/>
              </a:rPr>
              <a:t>中级</a:t>
            </a:r>
            <a:r>
              <a:rPr lang="zh-CN" altLang="en-US" sz="2000" b="1" dirty="0">
                <a:solidFill>
                  <a:srgbClr val="103380"/>
                </a:solidFill>
                <a:latin typeface="微软雅黑" panose="020B0503020204020204" pitchFamily="34" charset="-122"/>
                <a:ea typeface="微软雅黑" panose="020B0503020204020204" pitchFamily="34" charset="-122"/>
                <a:sym typeface="+mn-ea"/>
              </a:rPr>
              <a:t>四五</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专项·公式计算</a:t>
            </a:r>
            <a:r>
              <a:rPr lang="en-US" altLang="zh-CN" sz="2000" b="1" dirty="0">
                <a:solidFill>
                  <a:srgbClr val="103380"/>
                </a:solidFill>
                <a:latin typeface="微软雅黑" panose="020B0503020204020204" pitchFamily="34" charset="-122"/>
                <a:ea typeface="微软雅黑" panose="020B0503020204020204" pitchFamily="34" charset="-122"/>
                <a:sym typeface="+mn-ea"/>
              </a:rPr>
              <a:t>eval_special_formula.jsonl - </a:t>
            </a:r>
            <a:r>
              <a:rPr lang="zh-CN" altLang="en-US" sz="2000" b="1" dirty="0">
                <a:solidFill>
                  <a:srgbClr val="103380"/>
                </a:solidFill>
                <a:latin typeface="微软雅黑" panose="020B0503020204020204" pitchFamily="34" charset="-122"/>
                <a:ea typeface="微软雅黑" panose="020B0503020204020204" pitchFamily="34" charset="-122"/>
                <a:sym typeface="+mn-ea"/>
              </a:rPr>
              <a:t>中级六</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专项·多模态（扩数据集，修测评集题目）</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多轮会话（</a:t>
            </a:r>
            <a:r>
              <a:rPr lang="zh-CN" altLang="en-US" sz="2000" b="1" dirty="0">
                <a:solidFill>
                  <a:srgbClr val="103380"/>
                </a:solidFill>
                <a:latin typeface="微软雅黑" panose="020B0503020204020204" pitchFamily="34" charset="-122"/>
                <a:ea typeface="微软雅黑" panose="020B0503020204020204" pitchFamily="34" charset="-122"/>
                <a:sym typeface="+mn-ea"/>
              </a:rPr>
              <a:t>可删测评集</a:t>
            </a:r>
            <a:r>
              <a:rPr lang="zh-CN" altLang="en-US" sz="2000" b="1" dirty="0">
                <a:solidFill>
                  <a:srgbClr val="103380"/>
                </a:solidFill>
                <a:latin typeface="微软雅黑" panose="020B0503020204020204" pitchFamily="34" charset="-122"/>
                <a:ea typeface="微软雅黑" panose="020B0503020204020204" pitchFamily="34" charset="-122"/>
                <a:sym typeface="+mn-ea"/>
              </a:rPr>
              <a:t>）</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专项·无证据处理（边界不清晰，可删测评集</a:t>
            </a:r>
            <a:r>
              <a:rPr lang="en-US" altLang="zh-CN" sz="2000" b="1" dirty="0">
                <a:solidFill>
                  <a:srgbClr val="103380"/>
                </a:solidFill>
                <a:latin typeface="微软雅黑" panose="020B0503020204020204" pitchFamily="34" charset="-122"/>
                <a:ea typeface="微软雅黑" panose="020B0503020204020204" pitchFamily="34" charset="-122"/>
                <a:sym typeface="+mn-ea"/>
              </a:rPr>
              <a:t>/</a:t>
            </a:r>
            <a:r>
              <a:rPr lang="zh-CN" altLang="en-US" sz="2000" b="1" dirty="0">
                <a:solidFill>
                  <a:srgbClr val="103380"/>
                </a:solidFill>
                <a:latin typeface="微软雅黑" panose="020B0503020204020204" pitchFamily="34" charset="-122"/>
                <a:ea typeface="微软雅黑" panose="020B0503020204020204" pitchFamily="34" charset="-122"/>
                <a:sym typeface="+mn-ea"/>
              </a:rPr>
              <a:t>修改题目，不要和主动澄清</a:t>
            </a:r>
            <a:r>
              <a:rPr lang="zh-CN" altLang="en-US" sz="2000" b="1" dirty="0">
                <a:solidFill>
                  <a:srgbClr val="103380"/>
                </a:solidFill>
                <a:latin typeface="微软雅黑" panose="020B0503020204020204" pitchFamily="34" charset="-122"/>
                <a:ea typeface="微软雅黑" panose="020B0503020204020204" pitchFamily="34" charset="-122"/>
                <a:sym typeface="+mn-ea"/>
              </a:rPr>
              <a:t>混淆）</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marL="342900" indent="-342900" algn="l">
              <a:lnSpc>
                <a:spcPct val="125000"/>
              </a:lnSpc>
              <a:spcBef>
                <a:spcPts val="0"/>
              </a:spcBef>
              <a:spcAft>
                <a:spcPts val="0"/>
              </a:spcAft>
              <a:buClrTx/>
              <a:buSzTx/>
              <a:buFont typeface="Wingdings" panose="05000000000000000000" charset="0"/>
              <a:buChar char="l"/>
            </a:pP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p:txBody>
      </p:sp>
      <p:sp>
        <p:nvSpPr>
          <p:cNvPr id="6" name="Text Box 3"/>
          <p:cNvSpPr txBox="1"/>
          <p:nvPr/>
        </p:nvSpPr>
        <p:spPr>
          <a:xfrm>
            <a:off x="7670800" y="953770"/>
            <a:ext cx="4769485" cy="5668645"/>
          </a:xfrm>
          <a:prstGeom prst="rect">
            <a:avLst/>
          </a:prstGeom>
          <a:noFill/>
        </p:spPr>
        <p:txBody>
          <a:bodyPr wrap="square" rtlCol="0">
            <a:noAutofit/>
          </a:bodyPr>
          <a:p>
            <a:pPr marL="342900" indent="-342900" algn="l">
              <a:lnSpc>
                <a:spcPct val="125000"/>
              </a:lnSpc>
              <a:spcBef>
                <a:spcPts val="0"/>
              </a:spcBef>
              <a:spcAft>
                <a:spcPts val="0"/>
              </a:spcAft>
              <a:buClrTx/>
              <a:buSzTx/>
              <a:buFont typeface="Wingdings" panose="05000000000000000000" charset="0"/>
              <a:buChar char="l"/>
            </a:pPr>
            <a:r>
              <a:rPr lang="zh-CN" altLang="en-US" sz="2000" b="1" dirty="0">
                <a:solidFill>
                  <a:srgbClr val="103380"/>
                </a:solidFill>
                <a:latin typeface="微软雅黑" panose="020B0503020204020204" pitchFamily="34" charset="-122"/>
                <a:ea typeface="微软雅黑" panose="020B0503020204020204" pitchFamily="34" charset="-122"/>
                <a:sym typeface="+mn-ea"/>
              </a:rPr>
              <a:t>已实现</a:t>
            </a:r>
            <a:r>
              <a:rPr lang="zh-CN" altLang="en-US" sz="2000" b="1" dirty="0">
                <a:solidFill>
                  <a:srgbClr val="103380"/>
                </a:solidFill>
                <a:latin typeface="微软雅黑" panose="020B0503020204020204" pitchFamily="34" charset="-122"/>
                <a:ea typeface="微软雅黑" panose="020B0503020204020204" pitchFamily="34" charset="-122"/>
                <a:sym typeface="+mn-ea"/>
              </a:rPr>
              <a:t>的：</a:t>
            </a:r>
            <a:endParaRPr lang="zh-CN" altLang="en-US" sz="2000" b="1" dirty="0">
              <a:solidFill>
                <a:srgbClr val="103380"/>
              </a:solidFill>
              <a:latin typeface="微软雅黑" panose="020B0503020204020204" pitchFamily="34" charset="-122"/>
              <a:ea typeface="微软雅黑" panose="020B0503020204020204" pitchFamily="34" charset="-122"/>
              <a:sym typeface="+mn-ea"/>
            </a:endParaRPr>
          </a:p>
          <a:p>
            <a:pPr indent="0" algn="l">
              <a:lnSpc>
                <a:spcPct val="125000"/>
              </a:lnSpc>
              <a:spcBef>
                <a:spcPts val="0"/>
              </a:spcBef>
              <a:spcAft>
                <a:spcPts val="0"/>
              </a:spcAft>
              <a:buClrTx/>
              <a:buSzTx/>
              <a:buFont typeface="Arial" panose="020B0604020202020204" pitchFamily="34" charset="0"/>
              <a:buNone/>
            </a:pPr>
            <a:endParaRPr lang="en-US" altLang="zh-CN" sz="2000" dirty="0">
              <a:solidFill>
                <a:srgbClr val="10338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选择与分工</a:t>
            </a:r>
            <a:r>
              <a:rPr lang="en-US" altLang="zh-CN"/>
              <a:t> pua</a:t>
            </a:r>
            <a:endParaRPr lang="en-US" altLang="zh-CN"/>
          </a:p>
        </p:txBody>
      </p:sp>
      <p:graphicFrame>
        <p:nvGraphicFramePr>
          <p:cNvPr id="3" name="表格 2"/>
          <p:cNvGraphicFramePr/>
          <p:nvPr/>
        </p:nvGraphicFramePr>
        <p:xfrm>
          <a:off x="427990" y="836930"/>
          <a:ext cx="11476990" cy="5584825"/>
        </p:xfrm>
        <a:graphic>
          <a:graphicData uri="http://schemas.openxmlformats.org/drawingml/2006/table">
            <a:tbl>
              <a:tblPr>
                <a:tableStyleId>{BC89EF96-8CEA-46FF-86C4-4CE0E7609802}</a:tableStyleId>
              </a:tblPr>
              <a:tblGrid>
                <a:gridCol w="938530"/>
                <a:gridCol w="4638040"/>
                <a:gridCol w="3370580"/>
                <a:gridCol w="2529840"/>
              </a:tblGrid>
              <a:tr h="355600">
                <a:tc>
                  <a:txBody>
                    <a:bodyPr/>
                    <a:p>
                      <a:pPr algn="ctr"/>
                      <a:r>
                        <a:rPr lang="zh-CN" altLang="en-US" sz="1200" b="1"/>
                        <a:t>线</a:t>
                      </a:r>
                      <a:endParaRPr lang="zh-CN" altLang="en-US" sz="1200" b="1"/>
                    </a:p>
                  </a:txBody>
                  <a:tcPr marL="0" marR="0" marT="0" marB="0" anchor="ctr" anchorCtr="0"/>
                </a:tc>
                <a:tc>
                  <a:txBody>
                    <a:bodyPr/>
                    <a:p>
                      <a:pPr algn="ctr"/>
                      <a:r>
                        <a:rPr lang="zh-CN" altLang="en-US" sz="1200" b="1"/>
                        <a:t>负责的墙与当前问题（评测证据）</a:t>
                      </a:r>
                      <a:endParaRPr lang="zh-CN" altLang="en-US" sz="1200" b="1"/>
                    </a:p>
                  </a:txBody>
                  <a:tcPr marL="0" marR="0" marT="0" marB="0" anchor="ctr" anchorCtr="0"/>
                </a:tc>
                <a:tc>
                  <a:txBody>
                    <a:bodyPr/>
                    <a:p>
                      <a:pPr algn="ctr"/>
                      <a:r>
                        <a:rPr lang="zh-CN" altLang="en-US" sz="1200" b="1"/>
                        <a:t>验收测评集（按优先级分层）</a:t>
                      </a:r>
                      <a:endParaRPr lang="zh-CN" altLang="en-US" sz="1200" b="1"/>
                    </a:p>
                  </a:txBody>
                  <a:tcPr marL="0" marR="0" marT="0" marB="0" anchor="ctr" anchorCtr="0"/>
                </a:tc>
                <a:tc>
                  <a:txBody>
                    <a:bodyPr/>
                    <a:p>
                      <a:pPr algn="ctr"/>
                      <a:r>
                        <a:rPr lang="zh-CN" altLang="en-US" sz="1200" b="1"/>
                        <a:t>对应幻灯片条目</a:t>
                      </a:r>
                      <a:endParaRPr lang="zh-CN" altLang="en-US" sz="1200" b="1"/>
                    </a:p>
                  </a:txBody>
                  <a:tcPr marL="0" marR="0" marT="0" marB="0" anchor="ctr" anchorCtr="0"/>
                </a:tc>
              </a:tr>
              <a:tr h="1258570">
                <a:tc>
                  <a:txBody>
                    <a:bodyPr/>
                    <a:p>
                      <a:r>
                        <a:rPr lang="en-US" altLang="zh-CN" sz="1200"/>
                        <a:t>A </a:t>
                      </a:r>
                      <a:r>
                        <a:rPr lang="zh-CN" altLang="en-US" sz="1200"/>
                        <a:t>检索与证据线</a:t>
                      </a:r>
                      <a:endParaRPr lang="zh-CN" altLang="en-US" sz="1200"/>
                    </a:p>
                  </a:txBody>
                  <a:tcPr marL="0" marR="0" marT="0" marB="0" anchor="ctr" anchorCtr="0"/>
                </a:tc>
                <a:tc>
                  <a:txBody>
                    <a:bodyPr/>
                    <a:p>
                      <a:r>
                        <a:rPr lang="zh-CN" altLang="en-US" sz="1200" b="1">
                          <a:solidFill>
                            <a:srgbClr val="FF0000"/>
                          </a:solidFill>
                        </a:rPr>
                        <a:t>墙 </a:t>
                      </a:r>
                      <a:r>
                        <a:rPr lang="en-US" altLang="zh-CN" sz="1200" b="1">
                          <a:solidFill>
                            <a:srgbClr val="FF0000"/>
                          </a:solidFill>
                        </a:rPr>
                        <a:t>1 </a:t>
                      </a:r>
                      <a:r>
                        <a:rPr lang="zh-CN" altLang="en-US" sz="1200" b="1">
                          <a:solidFill>
                            <a:srgbClr val="FF0000"/>
                          </a:solidFill>
                        </a:rPr>
                        <a:t>检索精度（代码：</a:t>
                      </a:r>
                      <a:r>
                        <a:rPr lang="en-US" altLang="zh-CN" sz="1200" b="1">
                          <a:solidFill>
                            <a:srgbClr val="FF0000"/>
                          </a:solidFill>
                        </a:rPr>
                        <a:t>app/knowledge/</a:t>
                      </a:r>
                      <a:r>
                        <a:rPr lang="zh-CN" altLang="en-US" sz="1200" b="1">
                          <a:solidFill>
                            <a:srgbClr val="FF0000"/>
                          </a:solidFill>
                        </a:rPr>
                        <a:t>、</a:t>
                      </a:r>
                      <a:r>
                        <a:rPr lang="en-US" altLang="zh-CN" sz="1200" b="1">
                          <a:solidFill>
                            <a:srgbClr val="FF0000"/>
                          </a:solidFill>
                        </a:rPr>
                        <a:t>app/profiles/</a:t>
                      </a:r>
                      <a:r>
                        <a:rPr lang="zh-CN" altLang="en-US" sz="1200" b="1">
                          <a:solidFill>
                            <a:srgbClr val="FF0000"/>
                          </a:solidFill>
                        </a:rPr>
                        <a:t>；兼管证据绑定格式 </a:t>
                      </a:r>
                      <a:r>
                        <a:rPr lang="en-US" altLang="zh-CN" sz="1200" b="1">
                          <a:solidFill>
                            <a:srgbClr val="FF0000"/>
                          </a:solidFill>
                        </a:rPr>
                        <a:t>app/evidence/binding.py</a:t>
                      </a:r>
                      <a:r>
                        <a:rPr lang="zh-CN" altLang="en-US" sz="1200" b="1">
                          <a:solidFill>
                            <a:srgbClr val="FF0000"/>
                          </a:solidFill>
                        </a:rPr>
                        <a:t>）</a:t>
                      </a:r>
                      <a:br>
                        <a:rPr lang="zh-CN" altLang="en-US" sz="1200"/>
                      </a:br>
                      <a:r>
                        <a:rPr lang="zh-CN" altLang="en-US" sz="1200"/>
                        <a:t>当前问题：</a:t>
                      </a:r>
                      <a:r>
                        <a:rPr lang="en-US" altLang="zh-CN" sz="1200"/>
                        <a:t>① alias </a:t>
                      </a:r>
                      <a:r>
                        <a:rPr lang="zh-CN" altLang="en-US" sz="1200"/>
                        <a:t>集 </a:t>
                      </a:r>
                      <a:r>
                        <a:rPr lang="en-US" altLang="zh-CN" sz="1200"/>
                        <a:t>2/8</a:t>
                      </a:r>
                      <a:r>
                        <a:rPr lang="zh-CN" altLang="en-US" sz="1200"/>
                        <a:t>，失败 </a:t>
                      </a:r>
                      <a:r>
                        <a:rPr lang="en-US" altLang="zh-CN" sz="1200"/>
                        <a:t>6 </a:t>
                      </a:r>
                      <a:r>
                        <a:rPr lang="zh-CN" altLang="en-US" sz="1200"/>
                        <a:t>题全是「该命中 </a:t>
                      </a:r>
                      <a:r>
                        <a:rPr lang="en-US" altLang="zh-CN" sz="1200"/>
                        <a:t>D03 </a:t>
                      </a:r>
                      <a:r>
                        <a:rPr lang="zh-CN" altLang="en-US" sz="1200"/>
                        <a:t>却命中 </a:t>
                      </a:r>
                      <a:r>
                        <a:rPr lang="en-US" altLang="zh-CN" sz="1200"/>
                        <a:t>D12/D09 </a:t>
                      </a:r>
                      <a:r>
                        <a:rPr lang="zh-CN" altLang="en-US" sz="1200"/>
                        <a:t>或检索为空」；</a:t>
                      </a:r>
                      <a:r>
                        <a:rPr lang="en-US" altLang="zh-CN" sz="1200"/>
                        <a:t>② multidoc </a:t>
                      </a:r>
                      <a:r>
                        <a:rPr lang="zh-CN" altLang="en-US" sz="1200"/>
                        <a:t>集 </a:t>
                      </a:r>
                      <a:r>
                        <a:rPr lang="en-US" altLang="zh-CN" sz="1200"/>
                        <a:t>0/5</a:t>
                      </a:r>
                      <a:r>
                        <a:rPr lang="zh-CN" altLang="en-US" sz="1200"/>
                        <a:t>，</a:t>
                      </a:r>
                      <a:r>
                        <a:rPr lang="en-US" altLang="zh-CN" sz="1200"/>
                        <a:t>5 </a:t>
                      </a:r>
                      <a:r>
                        <a:rPr lang="zh-CN" altLang="en-US" sz="1200"/>
                        <a:t>题全是「命中一份、漏另一份」；</a:t>
                      </a:r>
                      <a:r>
                        <a:rPr lang="en-US" altLang="zh-CN" sz="1200"/>
                        <a:t>③ basic_rag 3 </a:t>
                      </a:r>
                      <a:r>
                        <a:rPr lang="zh-CN" altLang="en-US" sz="1200"/>
                        <a:t>题错命中（</a:t>
                      </a:r>
                      <a:r>
                        <a:rPr lang="en-US" altLang="zh-CN" sz="1200"/>
                        <a:t>D12/D06 </a:t>
                      </a:r>
                      <a:r>
                        <a:rPr lang="zh-CN" altLang="en-US" sz="1200"/>
                        <a:t>排在 </a:t>
                      </a:r>
                      <a:r>
                        <a:rPr lang="en-US" altLang="zh-CN" sz="1200"/>
                        <a:t>D03/D07/D08 </a:t>
                      </a:r>
                      <a:r>
                        <a:rPr lang="zh-CN" altLang="en-US" sz="1200"/>
                        <a:t>前，</a:t>
                      </a:r>
                      <a:r>
                        <a:rPr lang="en-US" altLang="zh-CN" sz="1200"/>
                        <a:t>7/10</a:t>
                      </a:r>
                      <a:r>
                        <a:rPr lang="zh-CN" altLang="en-US" sz="1200"/>
                        <a:t>）；</a:t>
                      </a:r>
                      <a:r>
                        <a:rPr lang="en-US" altLang="zh-CN" sz="1200"/>
                        <a:t>④ cross </a:t>
                      </a:r>
                      <a:r>
                        <a:rPr lang="zh-CN" altLang="en-US" sz="1200"/>
                        <a:t>多题 </a:t>
                      </a:r>
                      <a:r>
                        <a:rPr lang="en-US" altLang="zh-CN" sz="1200"/>
                        <a:t>D06/D08 </a:t>
                      </a:r>
                      <a:r>
                        <a:rPr lang="zh-CN" altLang="en-US" sz="1200"/>
                        <a:t>未检索（</a:t>
                      </a:r>
                      <a:r>
                        <a:rPr lang="en-US" altLang="zh-CN" sz="1200"/>
                        <a:t>cross-009 </a:t>
                      </a:r>
                      <a:r>
                        <a:rPr lang="zh-CN" altLang="en-US" sz="1200"/>
                        <a:t>复跑仍缺证据）；</a:t>
                      </a:r>
                      <a:r>
                        <a:rPr lang="en-US" altLang="zh-CN" sz="1200"/>
                        <a:t>⑤ formula </a:t>
                      </a:r>
                      <a:r>
                        <a:rPr lang="zh-CN" altLang="en-US" sz="1200"/>
                        <a:t>证据未绑定、</a:t>
                      </a:r>
                      <a:r>
                        <a:rPr lang="en-US" altLang="zh-CN" sz="1200"/>
                        <a:t>multimodal-004 </a:t>
                      </a:r>
                      <a:r>
                        <a:rPr lang="zh-CN" altLang="en-US" sz="1200"/>
                        <a:t>未检索 </a:t>
                      </a:r>
                      <a:r>
                        <a:rPr lang="en-US" altLang="zh-CN" sz="1200"/>
                        <a:t>D06</a:t>
                      </a:r>
                      <a:endParaRPr lang="en-US" altLang="zh-CN" sz="1200"/>
                    </a:p>
                  </a:txBody>
                  <a:tcPr marL="0" marR="0" marT="0" marB="0" anchor="ctr" anchorCtr="0"/>
                </a:tc>
                <a:tc>
                  <a:txBody>
                    <a:bodyPr/>
                    <a:p>
                      <a:r>
                        <a:rPr lang="zh-CN" altLang="en-US" sz="1200" b="1"/>
                        <a:t>第一层（主验收）：</a:t>
                      </a:r>
                      <a:r>
                        <a:rPr lang="en-US" altLang="zh-CN" sz="1200" b="1"/>
                        <a:t>alias</a:t>
                      </a:r>
                      <a:r>
                        <a:rPr lang="zh-CN" altLang="en-US" sz="1200" b="1"/>
                        <a:t>、</a:t>
                      </a:r>
                      <a:r>
                        <a:rPr lang="en-US" altLang="zh-CN" sz="1200" b="1"/>
                        <a:t>multidoc</a:t>
                      </a:r>
                      <a:r>
                        <a:rPr lang="zh-CN" altLang="en-US" sz="1200" b="1"/>
                        <a:t>、</a:t>
                      </a:r>
                      <a:r>
                        <a:rPr lang="en-US" altLang="zh-CN" sz="1200" b="1"/>
                        <a:t>basic_rag——</a:t>
                      </a:r>
                      <a:r>
                        <a:rPr lang="zh-CN" altLang="en-US" sz="1200" b="1"/>
                        <a:t>检索命中是这三集判分的直接决定因素</a:t>
                      </a:r>
                      <a:br>
                        <a:rPr lang="zh-CN" altLang="en-US" sz="1200"/>
                      </a:br>
                      <a:r>
                        <a:rPr lang="zh-CN" altLang="en-US" sz="1200"/>
                        <a:t>第二层（关联验收）：</a:t>
                      </a:r>
                      <a:r>
                        <a:rPr lang="en-US" altLang="zh-CN" sz="1200"/>
                        <a:t>cross </a:t>
                      </a:r>
                      <a:r>
                        <a:rPr lang="zh-CN" altLang="en-US" sz="1200"/>
                        <a:t>的检索部分（</a:t>
                      </a:r>
                      <a:r>
                        <a:rPr lang="en-US" altLang="zh-CN" sz="1200"/>
                        <a:t>D06/D08 </a:t>
                      </a:r>
                      <a:r>
                        <a:rPr lang="zh-CN" altLang="en-US" sz="1200"/>
                        <a:t>命中）、</a:t>
                      </a:r>
                      <a:r>
                        <a:rPr lang="en-US" altLang="zh-CN" sz="1200"/>
                        <a:t>formula </a:t>
                      </a:r>
                      <a:r>
                        <a:rPr lang="zh-CN" altLang="en-US" sz="1200"/>
                        <a:t>的证据引用部分、</a:t>
                      </a:r>
                      <a:r>
                        <a:rPr lang="en-US" altLang="zh-CN" sz="1200"/>
                        <a:t>multimodal </a:t>
                      </a:r>
                      <a:r>
                        <a:rPr lang="zh-CN" altLang="en-US" sz="1200"/>
                        <a:t>的 </a:t>
                      </a:r>
                      <a:r>
                        <a:rPr lang="en-US" altLang="zh-CN" sz="1200"/>
                        <a:t>D06 </a:t>
                      </a:r>
                      <a:r>
                        <a:rPr lang="zh-CN" altLang="en-US" sz="1200"/>
                        <a:t>检索部分（</a:t>
                      </a:r>
                      <a:r>
                        <a:rPr lang="en-US" altLang="zh-CN" sz="1200"/>
                        <a:t>mm-004</a:t>
                      </a:r>
                      <a:r>
                        <a:rPr lang="zh-CN" altLang="en-US" sz="1200"/>
                        <a:t>）</a:t>
                      </a:r>
                      <a:br>
                        <a:rPr lang="zh-CN" altLang="en-US" sz="1200"/>
                      </a:br>
                      <a:r>
                        <a:rPr lang="zh-CN" altLang="en-US" sz="1200"/>
                        <a:t>第三层（回归）：全量 </a:t>
                      </a:r>
                      <a:r>
                        <a:rPr lang="en-US" altLang="zh-CN" sz="1200"/>
                        <a:t>80 </a:t>
                      </a:r>
                      <a:r>
                        <a:rPr lang="zh-CN" altLang="en-US" sz="1200"/>
                        <a:t>条 </a:t>
                      </a:r>
                      <a:r>
                        <a:rPr lang="en-US" altLang="zh-CN" sz="1200"/>
                        <a:t>+ clarify </a:t>
                      </a:r>
                      <a:r>
                        <a:rPr lang="zh-CN" altLang="en-US" sz="1200"/>
                        <a:t>集不退化</a:t>
                      </a:r>
                      <a:endParaRPr lang="zh-CN" altLang="en-US" sz="1200"/>
                    </a:p>
                  </a:txBody>
                  <a:tcPr marL="0" marR="0" marT="0" marB="0" anchor="ctr" anchorCtr="0"/>
                </a:tc>
                <a:tc>
                  <a:txBody>
                    <a:bodyPr/>
                    <a:p>
                      <a:r>
                        <a:rPr lang="zh-CN" altLang="en-US" sz="1200">
                          <a:highlight>
                            <a:srgbClr val="FFFF00"/>
                          </a:highlight>
                        </a:rPr>
                        <a:t>优先：</a:t>
                      </a:r>
                      <a:r>
                        <a:rPr lang="zh-CN" altLang="en-US" sz="1200" b="1">
                          <a:highlight>
                            <a:srgbClr val="FFFF00"/>
                          </a:highlight>
                        </a:rPr>
                        <a:t>基础文档问答</a:t>
                      </a:r>
                      <a:r>
                        <a:rPr lang="zh-CN" altLang="en-US" sz="1200">
                          <a:highlight>
                            <a:srgbClr val="FFFF00"/>
                          </a:highlight>
                        </a:rPr>
                        <a:t>（</a:t>
                      </a:r>
                      <a:r>
                        <a:rPr lang="en-US" altLang="zh-CN" sz="1200">
                          <a:highlight>
                            <a:srgbClr val="FFFF00"/>
                          </a:highlight>
                        </a:rPr>
                        <a:t>basic_rag</a:t>
                      </a:r>
                      <a:r>
                        <a:rPr lang="zh-CN" altLang="en-US" sz="1200">
                          <a:highlight>
                            <a:srgbClr val="FFFF00"/>
                          </a:highlight>
                        </a:rPr>
                        <a:t>）、</a:t>
                      </a:r>
                      <a:r>
                        <a:rPr lang="zh-CN" altLang="en-US" sz="1200" b="1">
                          <a:highlight>
                            <a:srgbClr val="FFFF00"/>
                          </a:highlight>
                        </a:rPr>
                        <a:t>多文档问答</a:t>
                      </a:r>
                      <a:r>
                        <a:rPr lang="zh-CN" altLang="en-US" sz="1200">
                          <a:highlight>
                            <a:srgbClr val="FFFF00"/>
                          </a:highlight>
                        </a:rPr>
                        <a:t>（</a:t>
                      </a:r>
                      <a:r>
                        <a:rPr lang="en-US" altLang="zh-CN" sz="1200">
                          <a:highlight>
                            <a:srgbClr val="FFFF00"/>
                          </a:highlight>
                        </a:rPr>
                        <a:t>multidoc</a:t>
                      </a:r>
                      <a:r>
                        <a:rPr lang="zh-CN" altLang="en-US" sz="1200">
                          <a:highlight>
                            <a:srgbClr val="FFFF00"/>
                          </a:highlight>
                        </a:rPr>
                        <a:t>）</a:t>
                      </a:r>
                      <a:br>
                        <a:rPr lang="zh-CN" altLang="en-US" sz="1200"/>
                      </a:br>
                      <a:r>
                        <a:rPr lang="zh-CN" altLang="en-US" sz="1200" b="1"/>
                        <a:t>中级一：别名与分类</a:t>
                      </a:r>
                      <a:r>
                        <a:rPr lang="zh-CN" altLang="en-US" sz="1200"/>
                        <a:t>（</a:t>
                      </a:r>
                      <a:r>
                        <a:rPr lang="en-US" altLang="zh-CN" sz="1200"/>
                        <a:t>alias</a:t>
                      </a:r>
                      <a:r>
                        <a:rPr lang="zh-CN" altLang="en-US" sz="1200"/>
                        <a:t>）</a:t>
                      </a:r>
                      <a:br>
                        <a:rPr lang="zh-CN" altLang="en-US" sz="1200"/>
                      </a:br>
                      <a:r>
                        <a:rPr lang="zh-CN" altLang="en-US" sz="1200" b="1"/>
                        <a:t>多模态扩数据集</a:t>
                      </a:r>
                      <a:r>
                        <a:rPr lang="zh-CN" altLang="en-US" sz="1200"/>
                        <a:t>＋修题（</a:t>
                      </a:r>
                      <a:r>
                        <a:rPr lang="en-US" altLang="zh-CN" sz="1200"/>
                        <a:t>multimodal</a:t>
                      </a:r>
                      <a:r>
                        <a:rPr lang="zh-CN" altLang="en-US" sz="1200"/>
                        <a:t>，本线承检索部分）</a:t>
                      </a:r>
                      <a:endParaRPr lang="zh-CN" altLang="en-US" sz="1200"/>
                    </a:p>
                  </a:txBody>
                  <a:tcPr marL="0" marR="0" marT="0" marB="0" anchor="ctr" anchorCtr="0"/>
                </a:tc>
              </a:tr>
              <a:tr h="1831340">
                <a:tc>
                  <a:txBody>
                    <a:bodyPr/>
                    <a:p>
                      <a:r>
                        <a:rPr lang="en-US" altLang="zh-CN" sz="1200"/>
                        <a:t>B SQL </a:t>
                      </a:r>
                      <a:r>
                        <a:rPr lang="zh-CN" altLang="en-US" sz="1200"/>
                        <a:t>与计算线</a:t>
                      </a:r>
                      <a:endParaRPr lang="zh-CN" altLang="en-US" sz="1200"/>
                    </a:p>
                  </a:txBody>
                  <a:tcPr marL="0" marR="0" marT="0" marB="0" anchor="ctr" anchorCtr="0"/>
                </a:tc>
                <a:tc>
                  <a:txBody>
                    <a:bodyPr/>
                    <a:p>
                      <a:r>
                        <a:rPr lang="zh-CN" altLang="en-US" sz="1200" b="1">
                          <a:solidFill>
                            <a:srgbClr val="FF0000"/>
                          </a:solidFill>
                        </a:rPr>
                        <a:t>墙 </a:t>
                      </a:r>
                      <a:r>
                        <a:rPr lang="en-US" altLang="zh-CN" sz="1200" b="1">
                          <a:solidFill>
                            <a:srgbClr val="FF0000"/>
                          </a:solidFill>
                        </a:rPr>
                        <a:t>4 </a:t>
                      </a:r>
                      <a:r>
                        <a:rPr lang="zh-CN" altLang="en-US" sz="1200" b="1">
                          <a:solidFill>
                            <a:srgbClr val="FF0000"/>
                          </a:solidFill>
                        </a:rPr>
                        <a:t>多表 </a:t>
                      </a:r>
                      <a:r>
                        <a:rPr lang="en-US" altLang="zh-CN" sz="1200" b="1">
                          <a:solidFill>
                            <a:srgbClr val="FF0000"/>
                          </a:solidFill>
                        </a:rPr>
                        <a:t>JOIN/TOP-N </a:t>
                      </a:r>
                      <a:r>
                        <a:rPr lang="zh-CN" altLang="en-US" sz="1200" b="1">
                          <a:solidFill>
                            <a:srgbClr val="FF0000"/>
                          </a:solidFill>
                        </a:rPr>
                        <a:t>＋ 墙 </a:t>
                      </a:r>
                      <a:r>
                        <a:rPr lang="en-US" altLang="zh-CN" sz="1200" b="1">
                          <a:solidFill>
                            <a:srgbClr val="FF0000"/>
                          </a:solidFill>
                        </a:rPr>
                        <a:t>2 </a:t>
                      </a:r>
                      <a:r>
                        <a:rPr lang="zh-CN" altLang="en-US" sz="1200" b="1">
                          <a:solidFill>
                            <a:srgbClr val="FF0000"/>
                          </a:solidFill>
                        </a:rPr>
                        <a:t>跨源计算落地（代码：</a:t>
                      </a:r>
                      <a:r>
                        <a:rPr lang="en-US" altLang="zh-CN" sz="1200" b="1">
                          <a:solidFill>
                            <a:srgbClr val="FF0000"/>
                          </a:solidFill>
                        </a:rPr>
                        <a:t>backend/sql_module/</a:t>
                      </a:r>
                      <a:r>
                        <a:rPr lang="zh-CN" altLang="en-US" sz="1200" b="1">
                          <a:solidFill>
                            <a:srgbClr val="FF0000"/>
                          </a:solidFill>
                        </a:rPr>
                        <a:t>、</a:t>
                      </a:r>
                      <a:r>
                        <a:rPr lang="en-US" altLang="zh-CN" sz="1200" b="1">
                          <a:solidFill>
                            <a:srgbClr val="FF0000"/>
                          </a:solidFill>
                        </a:rPr>
                        <a:t>app/integrations/sql_d12.py</a:t>
                      </a:r>
                      <a:r>
                        <a:rPr lang="zh-CN" altLang="en-US" sz="1200" b="1">
                          <a:solidFill>
                            <a:srgbClr val="FF0000"/>
                          </a:solidFill>
                        </a:rPr>
                        <a:t>、</a:t>
                      </a:r>
                      <a:r>
                        <a:rPr lang="en-US" altLang="zh-CN" sz="1200" b="1">
                          <a:solidFill>
                            <a:srgbClr val="FF0000"/>
                          </a:solidFill>
                        </a:rPr>
                        <a:t>app/tools/local_calculator.py</a:t>
                      </a:r>
                      <a:r>
                        <a:rPr lang="zh-CN" altLang="en-US" sz="1200" b="1">
                          <a:solidFill>
                            <a:srgbClr val="FF0000"/>
                          </a:solidFill>
                        </a:rPr>
                        <a:t>、</a:t>
                      </a:r>
                      <a:r>
                        <a:rPr lang="en-US" altLang="zh-CN" sz="1200" b="1">
                          <a:solidFill>
                            <a:srgbClr val="FF0000"/>
                          </a:solidFill>
                        </a:rPr>
                        <a:t>parsing.py </a:t>
                      </a:r>
                      <a:r>
                        <a:rPr lang="zh-CN" altLang="en-US" sz="1200" b="1">
                          <a:solidFill>
                            <a:srgbClr val="FF0000"/>
                          </a:solidFill>
                        </a:rPr>
                        <a:t>时间解析、</a:t>
                      </a:r>
                      <a:r>
                        <a:rPr lang="en-US" altLang="zh-CN" sz="1200" b="1">
                          <a:solidFill>
                            <a:srgbClr val="FF0000"/>
                          </a:solidFill>
                        </a:rPr>
                        <a:t>graph.py calculate </a:t>
                      </a:r>
                      <a:r>
                        <a:rPr lang="zh-CN" altLang="en-US" sz="1200" b="1">
                          <a:solidFill>
                            <a:srgbClr val="FF0000"/>
                          </a:solidFill>
                        </a:rPr>
                        <a:t>节点、</a:t>
                      </a:r>
                      <a:r>
                        <a:rPr lang="en-US" altLang="zh-CN" sz="1200" b="1">
                          <a:solidFill>
                            <a:srgbClr val="FF0000"/>
                          </a:solidFill>
                        </a:rPr>
                        <a:t>composer.py </a:t>
                      </a:r>
                      <a:r>
                        <a:rPr lang="zh-CN" altLang="en-US" sz="1200" b="1">
                          <a:solidFill>
                            <a:srgbClr val="FF0000"/>
                          </a:solidFill>
                        </a:rPr>
                        <a:t>计算落地段）</a:t>
                      </a:r>
                      <a:br>
                        <a:rPr lang="zh-CN" altLang="en-US" sz="1200"/>
                      </a:br>
                      <a:r>
                        <a:rPr lang="zh-CN" altLang="en-US" sz="1200"/>
                        <a:t>当前问题：</a:t>
                      </a:r>
                      <a:r>
                        <a:rPr lang="en-US" altLang="zh-CN" sz="1200"/>
                        <a:t>① multitable 0/8</a:t>
                      </a:r>
                      <a:r>
                        <a:rPr lang="zh-CN" altLang="en-US" sz="1200"/>
                        <a:t>：</a:t>
                      </a:r>
                      <a:r>
                        <a:rPr lang="en-US" altLang="zh-CN" sz="1200"/>
                        <a:t>001/002/003 TOP-N </a:t>
                      </a:r>
                      <a:r>
                        <a:rPr lang="zh-CN" altLang="en-US" sz="1200"/>
                        <a:t>只回 </a:t>
                      </a:r>
                      <a:r>
                        <a:rPr lang="en-US" altLang="zh-CN" sz="1200"/>
                        <a:t>1 </a:t>
                      </a:r>
                      <a:r>
                        <a:rPr lang="zh-CN" altLang="en-US" sz="1200"/>
                        <a:t>行、</a:t>
                      </a:r>
                      <a:r>
                        <a:rPr lang="en-US" altLang="zh-CN" sz="1200"/>
                        <a:t>006 </a:t>
                      </a:r>
                      <a:r>
                        <a:rPr lang="zh-CN" altLang="en-US" sz="1200"/>
                        <a:t>聚合粒度 </a:t>
                      </a:r>
                      <a:r>
                        <a:rPr lang="en-US" altLang="zh-CN" sz="1200"/>
                        <a:t>1 </a:t>
                      </a:r>
                      <a:r>
                        <a:rPr lang="zh-CN" altLang="en-US" sz="1200"/>
                        <a:t>行 </a:t>
                      </a:r>
                      <a:r>
                        <a:rPr lang="en-US" altLang="zh-CN" sz="1200"/>
                        <a:t>vs </a:t>
                      </a:r>
                      <a:r>
                        <a:rPr lang="zh-CN" altLang="en-US" sz="1200"/>
                        <a:t>金标准 </a:t>
                      </a:r>
                      <a:r>
                        <a:rPr lang="en-US" altLang="zh-CN" sz="1200"/>
                        <a:t>3 </a:t>
                      </a:r>
                      <a:r>
                        <a:rPr lang="zh-CN" altLang="en-US" sz="1200"/>
                        <a:t>行、</a:t>
                      </a:r>
                      <a:r>
                        <a:rPr lang="en-US" altLang="zh-CN" sz="1200"/>
                        <a:t>007 </a:t>
                      </a:r>
                      <a:r>
                        <a:rPr lang="zh-CN" altLang="en-US" sz="1200"/>
                        <a:t>行序不一致被判 </a:t>
                      </a:r>
                      <a:r>
                        <a:rPr lang="en-US" altLang="zh-CN" sz="1200"/>
                        <a:t>insufficient_evidence</a:t>
                      </a:r>
                      <a:r>
                        <a:rPr lang="zh-CN" altLang="en-US" sz="1200"/>
                        <a:t>、</a:t>
                      </a:r>
                      <a:r>
                        <a:rPr lang="en-US" altLang="zh-CN" sz="1200"/>
                        <a:t>008 </a:t>
                      </a:r>
                      <a:r>
                        <a:rPr lang="zh-CN" altLang="en-US" sz="1200"/>
                        <a:t>报 </a:t>
                      </a:r>
                      <a:r>
                        <a:rPr lang="en-US" altLang="zh-CN" sz="1200"/>
                        <a:t>MISSING_REQUIRED_SLOT</a:t>
                      </a:r>
                      <a:r>
                        <a:rPr lang="zh-CN" altLang="en-US" sz="1200"/>
                        <a:t>；</a:t>
                      </a:r>
                      <a:r>
                        <a:rPr lang="en-US" altLang="zh-CN" sz="1200"/>
                        <a:t>② formula 0/6</a:t>
                      </a:r>
                      <a:r>
                        <a:rPr lang="zh-CN" altLang="en-US" sz="1200"/>
                        <a:t>：</a:t>
                      </a:r>
                      <a:r>
                        <a:rPr lang="en-US" altLang="zh-CN" sz="1200"/>
                        <a:t>gap/rate/aov</a:t>
                      </a:r>
                      <a:r>
                        <a:rPr lang="zh-CN" altLang="en-US" sz="1200"/>
                        <a:t>「算得出、写不进答案、绑不上证据」（</a:t>
                      </a:r>
                      <a:r>
                        <a:rPr lang="en-US" altLang="zh-CN" sz="1200"/>
                        <a:t>006 </a:t>
                      </a:r>
                      <a:r>
                        <a:rPr lang="zh-CN" altLang="en-US" sz="1200"/>
                        <a:t>的 </a:t>
                      </a:r>
                      <a:r>
                        <a:rPr lang="en-US" altLang="zh-CN" sz="1200"/>
                        <a:t>sum=120 </a:t>
                      </a:r>
                      <a:r>
                        <a:rPr lang="zh-CN" altLang="en-US" sz="1200"/>
                        <a:t>计算缺失）；</a:t>
                      </a:r>
                      <a:r>
                        <a:rPr lang="en-US" altLang="zh-CN" sz="1200"/>
                        <a:t>③ cross-001 </a:t>
                      </a:r>
                      <a:r>
                        <a:rPr lang="zh-CN" altLang="en-US" sz="1200"/>
                        <a:t>算出但答案未体现；</a:t>
                      </a:r>
                      <a:r>
                        <a:rPr lang="en-US" altLang="zh-CN" sz="1200"/>
                        <a:t>④ </a:t>
                      </a:r>
                      <a:r>
                        <a:rPr lang="zh-CN" altLang="en-US" sz="1200"/>
                        <a:t>时间解析仅整年</a:t>
                      </a:r>
                      <a:r>
                        <a:rPr lang="en-US" altLang="zh-CN" sz="1200"/>
                        <a:t>/</a:t>
                      </a:r>
                      <a:r>
                        <a:rPr lang="zh-CN" altLang="en-US" sz="1200"/>
                        <a:t>完整季度，月粒度缺口（</a:t>
                      </a:r>
                      <a:r>
                        <a:rPr lang="en-US" altLang="zh-CN" sz="1200"/>
                        <a:t>mm-004 </a:t>
                      </a:r>
                      <a:r>
                        <a:rPr lang="zh-CN" altLang="en-US" sz="1200"/>
                        <a:t>卡死、</a:t>
                      </a:r>
                      <a:r>
                        <a:rPr lang="en-US" altLang="zh-CN" sz="1200"/>
                        <a:t>cross-009 </a:t>
                      </a:r>
                      <a:r>
                        <a:rPr lang="zh-CN" altLang="en-US" sz="1200"/>
                        <a:t>按月 </a:t>
                      </a:r>
                      <a:r>
                        <a:rPr lang="en-US" altLang="zh-CN" sz="1200"/>
                        <a:t>3 </a:t>
                      </a:r>
                      <a:r>
                        <a:rPr lang="zh-CN" altLang="en-US" sz="1200"/>
                        <a:t>行出不来）</a:t>
                      </a:r>
                      <a:endParaRPr lang="zh-CN" altLang="en-US" sz="1200"/>
                    </a:p>
                  </a:txBody>
                  <a:tcPr marL="0" marR="0" marT="0" marB="0" anchor="ctr" anchorCtr="0"/>
                </a:tc>
                <a:tc>
                  <a:txBody>
                    <a:bodyPr/>
                    <a:p>
                      <a:r>
                        <a:rPr lang="zh-CN" altLang="en-US" sz="1200" b="1"/>
                        <a:t>第一层（主验收）：</a:t>
                      </a:r>
                      <a:r>
                        <a:rPr lang="en-US" altLang="zh-CN" sz="1200" b="1"/>
                        <a:t>multitable</a:t>
                      </a:r>
                      <a:r>
                        <a:rPr lang="zh-CN" altLang="en-US" sz="1200" b="1"/>
                        <a:t>（</a:t>
                      </a:r>
                      <a:r>
                        <a:rPr lang="en-US" altLang="zh-CN" sz="1200" b="1"/>
                        <a:t>001/002/003/006/007/008</a:t>
                      </a:r>
                      <a:r>
                        <a:rPr lang="zh-CN" altLang="en-US" sz="1200" b="1"/>
                        <a:t>）、</a:t>
                      </a:r>
                      <a:r>
                        <a:rPr lang="en-US" altLang="zh-CN" sz="1200" b="1"/>
                        <a:t>basic_nl2sql </a:t>
                      </a:r>
                      <a:r>
                        <a:rPr lang="zh-CN" altLang="en-US" sz="1200" b="1"/>
                        <a:t>与 </a:t>
                      </a:r>
                      <a:r>
                        <a:rPr lang="en-US" altLang="zh-CN" sz="1200" b="1"/>
                        <a:t>NL2SQL </a:t>
                      </a:r>
                      <a:r>
                        <a:rPr lang="zh-CN" altLang="en-US" sz="1200" b="1"/>
                        <a:t>扩充题（保持 </a:t>
                      </a:r>
                      <a:r>
                        <a:rPr lang="en-US" altLang="zh-CN" sz="1200" b="1"/>
                        <a:t>10/10 </a:t>
                      </a:r>
                      <a:r>
                        <a:rPr lang="zh-CN" altLang="en-US" sz="1200" b="1"/>
                        <a:t>不退化）</a:t>
                      </a:r>
                      <a:br>
                        <a:rPr lang="zh-CN" altLang="en-US" sz="1200"/>
                      </a:br>
                      <a:r>
                        <a:rPr lang="zh-CN" altLang="en-US" sz="1200"/>
                        <a:t>第二层（关联验收）：</a:t>
                      </a:r>
                      <a:r>
                        <a:rPr lang="en-US" altLang="zh-CN" sz="1200"/>
                        <a:t>formula </a:t>
                      </a:r>
                      <a:r>
                        <a:rPr lang="zh-CN" altLang="en-US" sz="1200"/>
                        <a:t>计算落地部分（</a:t>
                      </a:r>
                      <a:r>
                        <a:rPr lang="en-US" altLang="zh-CN" sz="1200"/>
                        <a:t>001–006</a:t>
                      </a:r>
                      <a:r>
                        <a:rPr lang="zh-CN" altLang="en-US" sz="1200"/>
                        <a:t>）、</a:t>
                      </a:r>
                      <a:r>
                        <a:rPr lang="en-US" altLang="zh-CN" sz="1200"/>
                        <a:t>cross </a:t>
                      </a:r>
                      <a:r>
                        <a:rPr lang="zh-CN" altLang="en-US" sz="1200"/>
                        <a:t>计算部分（</a:t>
                      </a:r>
                      <a:r>
                        <a:rPr lang="en-US" altLang="zh-CN" sz="1200"/>
                        <a:t>cross-001 </a:t>
                      </a:r>
                      <a:r>
                        <a:rPr lang="zh-CN" altLang="en-US" sz="1200"/>
                        <a:t>等）、月粒度时间解析（</a:t>
                      </a:r>
                      <a:r>
                        <a:rPr lang="en-US" altLang="zh-CN" sz="1200"/>
                        <a:t>mm-004</a:t>
                      </a:r>
                      <a:r>
                        <a:rPr lang="zh-CN" altLang="en-US" sz="1200"/>
                        <a:t>、</a:t>
                      </a:r>
                      <a:r>
                        <a:rPr lang="en-US" altLang="zh-CN" sz="1200"/>
                        <a:t>cross-009</a:t>
                      </a:r>
                      <a:r>
                        <a:rPr lang="zh-CN" altLang="en-US" sz="1200"/>
                        <a:t>）</a:t>
                      </a:r>
                      <a:br>
                        <a:rPr lang="zh-CN" altLang="en-US" sz="1200"/>
                      </a:br>
                      <a:r>
                        <a:rPr lang="zh-CN" altLang="en-US" sz="1200"/>
                        <a:t>第三层（回归）：全量 </a:t>
                      </a:r>
                      <a:r>
                        <a:rPr lang="en-US" altLang="zh-CN" sz="1200"/>
                        <a:t>80 </a:t>
                      </a:r>
                      <a:r>
                        <a:rPr lang="zh-CN" altLang="en-US" sz="1200"/>
                        <a:t>条</a:t>
                      </a:r>
                      <a:endParaRPr lang="zh-CN" altLang="en-US" sz="1200"/>
                    </a:p>
                  </a:txBody>
                  <a:tcPr marL="0" marR="0" marT="0" marB="0" anchor="ctr" anchorCtr="0"/>
                </a:tc>
                <a:tc>
                  <a:txBody>
                    <a:bodyPr/>
                    <a:p>
                      <a:r>
                        <a:rPr lang="zh-CN" altLang="en-US" sz="1200">
                          <a:highlight>
                            <a:srgbClr val="FFFF00"/>
                          </a:highlight>
                        </a:rPr>
                        <a:t>优先：</a:t>
                      </a:r>
                      <a:r>
                        <a:rPr lang="en-US" altLang="zh-CN" sz="1200" b="1">
                          <a:highlight>
                            <a:srgbClr val="FFFF00"/>
                          </a:highlight>
                        </a:rPr>
                        <a:t>NL2SQL </a:t>
                      </a:r>
                      <a:r>
                        <a:rPr lang="zh-CN" altLang="en-US" sz="1200" b="1">
                          <a:highlight>
                            <a:srgbClr val="FFFF00"/>
                          </a:highlight>
                        </a:rPr>
                        <a:t>扩充</a:t>
                      </a:r>
                      <a:r>
                        <a:rPr lang="zh-CN" altLang="en-US" sz="1200">
                          <a:highlight>
                            <a:srgbClr val="FFFF00"/>
                          </a:highlight>
                        </a:rPr>
                        <a:t>（</a:t>
                      </a:r>
                      <a:r>
                        <a:rPr lang="en-US" altLang="zh-CN" sz="1200">
                          <a:highlight>
                            <a:srgbClr val="FFFF00"/>
                          </a:highlight>
                        </a:rPr>
                        <a:t>basic_nl2sql</a:t>
                      </a:r>
                      <a:r>
                        <a:rPr lang="zh-CN" altLang="en-US" sz="1200">
                          <a:highlight>
                            <a:srgbClr val="FFFF00"/>
                          </a:highlight>
                        </a:rPr>
                        <a:t>＋扩充题）</a:t>
                      </a:r>
                      <a:br>
                        <a:rPr lang="zh-CN" altLang="en-US" sz="1200"/>
                      </a:br>
                      <a:r>
                        <a:rPr lang="zh-CN" altLang="en-US" sz="1200"/>
                        <a:t>中级四五：</a:t>
                      </a:r>
                      <a:r>
                        <a:rPr lang="zh-CN" altLang="en-US" sz="1200" b="1"/>
                        <a:t>多表关联</a:t>
                      </a:r>
                      <a:r>
                        <a:rPr lang="zh-CN" altLang="en-US" sz="1200"/>
                        <a:t>（</a:t>
                      </a:r>
                      <a:r>
                        <a:rPr lang="en-US" altLang="zh-CN" sz="1200"/>
                        <a:t>multitable</a:t>
                      </a:r>
                      <a:r>
                        <a:rPr lang="zh-CN" altLang="en-US" sz="1200"/>
                        <a:t>）</a:t>
                      </a:r>
                      <a:br>
                        <a:rPr lang="zh-CN" altLang="en-US" sz="1200"/>
                      </a:br>
                      <a:r>
                        <a:rPr lang="zh-CN" altLang="en-US" sz="1200"/>
                        <a:t>中级六：</a:t>
                      </a:r>
                      <a:r>
                        <a:rPr lang="zh-CN" altLang="en-US" sz="1200" b="1"/>
                        <a:t>公式计算</a:t>
                      </a:r>
                      <a:r>
                        <a:rPr lang="zh-CN" altLang="en-US" sz="1200"/>
                        <a:t>（</a:t>
                      </a:r>
                      <a:r>
                        <a:rPr lang="en-US" altLang="zh-CN" sz="1200"/>
                        <a:t>formula</a:t>
                      </a:r>
                      <a:r>
                        <a:rPr lang="zh-CN" altLang="en-US" sz="1200"/>
                        <a:t>）</a:t>
                      </a:r>
                      <a:br>
                        <a:rPr lang="zh-CN" altLang="en-US" sz="1200"/>
                      </a:br>
                      <a:r>
                        <a:rPr lang="zh-CN" altLang="en-US" sz="1200">
                          <a:highlight>
                            <a:srgbClr val="FFFF00"/>
                          </a:highlight>
                        </a:rPr>
                        <a:t>优先跨源问答</a:t>
                      </a:r>
                      <a:r>
                        <a:rPr lang="zh-CN" altLang="en-US" sz="1200"/>
                        <a:t>（</a:t>
                      </a:r>
                      <a:r>
                        <a:rPr lang="en-US" altLang="zh-CN" sz="1200"/>
                        <a:t>cross</a:t>
                      </a:r>
                      <a:r>
                        <a:rPr lang="zh-CN" altLang="en-US" sz="1200"/>
                        <a:t>，本线承计算落地与数值绑定）</a:t>
                      </a:r>
                      <a:endParaRPr lang="zh-CN" altLang="en-US" sz="1200"/>
                    </a:p>
                  </a:txBody>
                  <a:tcPr marL="0" marR="0" marT="0" marB="0" anchor="ctr" anchorCtr="0"/>
                </a:tc>
              </a:tr>
              <a:tr h="2117725">
                <a:tc>
                  <a:txBody>
                    <a:bodyPr/>
                    <a:p>
                      <a:r>
                        <a:rPr lang="en-US" altLang="zh-CN" sz="1200"/>
                        <a:t>C </a:t>
                      </a:r>
                      <a:r>
                        <a:rPr lang="zh-CN" altLang="en-US" sz="1200"/>
                        <a:t>编排与交互线</a:t>
                      </a:r>
                      <a:endParaRPr lang="zh-CN" altLang="en-US" sz="1200"/>
                    </a:p>
                  </a:txBody>
                  <a:tcPr marL="0" marR="0" marT="0" marB="0" anchor="ctr" anchorCtr="0"/>
                </a:tc>
                <a:tc>
                  <a:txBody>
                    <a:bodyPr/>
                    <a:p>
                      <a:r>
                        <a:rPr lang="zh-CN" altLang="en-US" sz="1200" b="1">
                          <a:solidFill>
                            <a:srgbClr val="FF0000"/>
                          </a:solidFill>
                        </a:rPr>
                        <a:t>墙 </a:t>
                      </a:r>
                      <a:r>
                        <a:rPr lang="en-US" altLang="zh-CN" sz="1200" b="1">
                          <a:solidFill>
                            <a:srgbClr val="FF0000"/>
                          </a:solidFill>
                        </a:rPr>
                        <a:t>5 </a:t>
                      </a:r>
                      <a:r>
                        <a:rPr lang="zh-CN" altLang="en-US" sz="1200" b="1">
                          <a:solidFill>
                            <a:srgbClr val="FF0000"/>
                          </a:solidFill>
                        </a:rPr>
                        <a:t>路由误判 ＋ 墙 </a:t>
                      </a:r>
                      <a:r>
                        <a:rPr lang="en-US" altLang="zh-CN" sz="1200" b="1">
                          <a:solidFill>
                            <a:srgbClr val="FF0000"/>
                          </a:solidFill>
                        </a:rPr>
                        <a:t>3 </a:t>
                      </a:r>
                      <a:r>
                        <a:rPr lang="zh-CN" altLang="en-US" sz="1200" b="1">
                          <a:solidFill>
                            <a:srgbClr val="FF0000"/>
                          </a:solidFill>
                        </a:rPr>
                        <a:t>澄清策略 ＋ 状态语义（代码：</a:t>
                      </a:r>
                      <a:r>
                        <a:rPr lang="en-US" altLang="zh-CN" sz="1200" b="1">
                          <a:solidFill>
                            <a:srgbClr val="FF0000"/>
                          </a:solidFill>
                        </a:rPr>
                        <a:t>graph.py router/</a:t>
                      </a:r>
                      <a:r>
                        <a:rPr lang="zh-CN" altLang="en-US" sz="1200" b="1">
                          <a:solidFill>
                            <a:srgbClr val="FF0000"/>
                          </a:solidFill>
                        </a:rPr>
                        <a:t>澄清节点、</a:t>
                      </a:r>
                      <a:r>
                        <a:rPr lang="en-US" altLang="zh-CN" sz="1200" b="1">
                          <a:solidFill>
                            <a:srgbClr val="FF0000"/>
                          </a:solidFill>
                        </a:rPr>
                        <a:t>session.py</a:t>
                      </a:r>
                      <a:r>
                        <a:rPr lang="zh-CN" altLang="en-US" sz="1200" b="1">
                          <a:solidFill>
                            <a:srgbClr val="FF0000"/>
                          </a:solidFill>
                        </a:rPr>
                        <a:t>、</a:t>
                      </a:r>
                      <a:r>
                        <a:rPr lang="en-US" altLang="zh-CN" sz="1200" b="1">
                          <a:solidFill>
                            <a:srgbClr val="FF0000"/>
                          </a:solidFill>
                        </a:rPr>
                        <a:t>state.py</a:t>
                      </a:r>
                      <a:r>
                        <a:rPr lang="zh-CN" altLang="en-US" sz="1200" b="1">
                          <a:solidFill>
                            <a:srgbClr val="FF0000"/>
                          </a:solidFill>
                        </a:rPr>
                        <a:t>、</a:t>
                      </a:r>
                      <a:r>
                        <a:rPr lang="en-US" altLang="zh-CN" sz="1200" b="1">
                          <a:solidFill>
                            <a:srgbClr val="FF0000"/>
                          </a:solidFill>
                        </a:rPr>
                        <a:t>ask_service.py</a:t>
                      </a:r>
                      <a:r>
                        <a:rPr lang="zh-CN" altLang="en-US" sz="1200" b="1">
                          <a:solidFill>
                            <a:srgbClr val="FF0000"/>
                          </a:solidFill>
                        </a:rPr>
                        <a:t>、</a:t>
                      </a:r>
                      <a:r>
                        <a:rPr lang="en-US" altLang="zh-CN" sz="1200" b="1">
                          <a:solidFill>
                            <a:srgbClr val="FF0000"/>
                          </a:solidFill>
                        </a:rPr>
                        <a:t>graph_ask_service.py</a:t>
                      </a:r>
                      <a:r>
                        <a:rPr lang="zh-CN" altLang="en-US" sz="1200" b="1">
                          <a:solidFill>
                            <a:srgbClr val="FF0000"/>
                          </a:solidFill>
                        </a:rPr>
                        <a:t>、状态枚举与澄清槽位词表）</a:t>
                      </a:r>
                      <a:br>
                        <a:rPr lang="zh-CN" altLang="en-US" sz="1200" b="1">
                          <a:solidFill>
                            <a:srgbClr val="FF0000"/>
                          </a:solidFill>
                        </a:rPr>
                      </a:br>
                      <a:r>
                        <a:rPr lang="zh-CN" altLang="en-US" sz="1200"/>
                        <a:t>当前问题：</a:t>
                      </a:r>
                      <a:r>
                        <a:rPr lang="en-US" altLang="zh-CN" sz="1200"/>
                        <a:t>① </a:t>
                      </a:r>
                      <a:r>
                        <a:rPr lang="zh-CN" altLang="en-US" sz="1200"/>
                        <a:t>路由误判：</a:t>
                      </a:r>
                      <a:r>
                        <a:rPr lang="en-US" altLang="zh-CN" sz="1200"/>
                        <a:t>multitable-004/005 sql→rag</a:t>
                      </a:r>
                      <a:r>
                        <a:rPr lang="zh-CN" altLang="en-US" sz="1200"/>
                        <a:t>、</a:t>
                      </a:r>
                      <a:r>
                        <a:rPr lang="en-US" altLang="zh-CN" sz="1200"/>
                        <a:t>cross-003/004/007/008/010 cross→rag</a:t>
                      </a:r>
                      <a:r>
                        <a:rPr lang="zh-CN" altLang="en-US" sz="1200"/>
                        <a:t>、</a:t>
                      </a:r>
                      <a:r>
                        <a:rPr lang="en-US" altLang="zh-CN" sz="1200"/>
                        <a:t>formula-006/negative-005/cross-009 </a:t>
                      </a:r>
                      <a:r>
                        <a:rPr lang="zh-CN" altLang="en-US" sz="1200"/>
                        <a:t>误路由 </a:t>
                      </a:r>
                      <a:r>
                        <a:rPr lang="en-US" altLang="zh-CN" sz="1200"/>
                        <a:t>sql </a:t>
                      </a:r>
                      <a:r>
                        <a:rPr lang="zh-CN" altLang="en-US" sz="1200"/>
                        <a:t>硬答；</a:t>
                      </a:r>
                      <a:r>
                        <a:rPr lang="en-US" altLang="zh-CN" sz="1200"/>
                        <a:t>② </a:t>
                      </a:r>
                      <a:r>
                        <a:rPr lang="zh-CN" altLang="en-US" sz="1200"/>
                        <a:t>过度澄清残留：</a:t>
                      </a:r>
                      <a:r>
                        <a:rPr lang="en-US" altLang="zh-CN" sz="1200"/>
                        <a:t>cross-002/005/006</a:t>
                      </a:r>
                      <a:r>
                        <a:rPr lang="zh-CN" altLang="en-US" sz="1200"/>
                        <a:t>、</a:t>
                      </a:r>
                      <a:r>
                        <a:rPr lang="en-US" altLang="zh-CN" sz="1200"/>
                        <a:t>multidoc-001</a:t>
                      </a:r>
                      <a:r>
                        <a:rPr lang="zh-CN" altLang="en-US" sz="1200"/>
                        <a:t>、</a:t>
                      </a:r>
                      <a:r>
                        <a:rPr lang="en-US" altLang="zh-CN" sz="1200"/>
                        <a:t>session </a:t>
                      </a:r>
                      <a:r>
                        <a:rPr lang="zh-CN" altLang="en-US" sz="1200"/>
                        <a:t>多轮仍要年份澄清；</a:t>
                      </a:r>
                      <a:r>
                        <a:rPr lang="en-US" altLang="zh-CN" sz="1200"/>
                        <a:t>③ </a:t>
                      </a:r>
                      <a:r>
                        <a:rPr lang="zh-CN" altLang="en-US" sz="1200"/>
                        <a:t>欠澄清：</a:t>
                      </a:r>
                      <a:r>
                        <a:rPr lang="en-US" altLang="zh-CN" sz="1200"/>
                        <a:t>clarify-005/006 </a:t>
                      </a:r>
                      <a:r>
                        <a:rPr lang="zh-CN" altLang="en-US" sz="1200"/>
                        <a:t>该问没问；</a:t>
                      </a:r>
                      <a:r>
                        <a:rPr lang="en-US" altLang="zh-CN" sz="1200"/>
                        <a:t>④ </a:t>
                      </a:r>
                      <a:r>
                        <a:rPr lang="zh-CN" altLang="en-US" sz="1200"/>
                        <a:t>槽位词表与金标准不一致：</a:t>
                      </a:r>
                      <a:r>
                        <a:rPr lang="en-US" altLang="zh-CN" sz="1200"/>
                        <a:t>clarify-001/007/008</a:t>
                      </a:r>
                      <a:r>
                        <a:rPr lang="zh-CN" altLang="en-US" sz="1200"/>
                        <a:t>（</a:t>
                      </a:r>
                      <a:r>
                        <a:rPr lang="en-US" altLang="zh-CN" sz="1200"/>
                        <a:t>period vs quarter</a:t>
                      </a:r>
                      <a:r>
                        <a:rPr lang="zh-CN" altLang="en-US" sz="1200"/>
                        <a:t>、缺 </a:t>
                      </a:r>
                      <a:r>
                        <a:rPr lang="en-US" altLang="zh-CN" sz="1200"/>
                        <a:t>target_metric</a:t>
                      </a:r>
                      <a:r>
                        <a:rPr lang="zh-CN" altLang="en-US" sz="1200"/>
                        <a:t>、</a:t>
                      </a:r>
                      <a:r>
                        <a:rPr lang="en-US" altLang="zh-CN" sz="1200"/>
                        <a:t>genre_scope vs genre_boundary</a:t>
                      </a:r>
                      <a:r>
                        <a:rPr lang="zh-CN" altLang="en-US" sz="1200"/>
                        <a:t>）、</a:t>
                      </a:r>
                      <a:r>
                        <a:rPr lang="en-US" altLang="zh-CN" sz="1200"/>
                        <a:t>004 </a:t>
                      </a:r>
                      <a:r>
                        <a:rPr lang="zh-CN" altLang="en-US" sz="1200"/>
                        <a:t>槽位串味；</a:t>
                      </a:r>
                      <a:r>
                        <a:rPr lang="en-US" altLang="zh-CN" sz="1200"/>
                        <a:t>⑤ unsupported </a:t>
                      </a:r>
                      <a:r>
                        <a:rPr lang="zh-CN" altLang="en-US" sz="1200"/>
                        <a:t>与 </a:t>
                      </a:r>
                      <a:r>
                        <a:rPr lang="en-US" altLang="zh-CN" sz="1200"/>
                        <a:t>insufficient_evidence </a:t>
                      </a:r>
                      <a:r>
                        <a:rPr lang="zh-CN" altLang="en-US" sz="1200"/>
                        <a:t>边界不清（</a:t>
                      </a:r>
                      <a:r>
                        <a:rPr lang="en-US" altLang="zh-CN" sz="1200"/>
                        <a:t>negative-004</a:t>
                      </a:r>
                      <a:r>
                        <a:rPr lang="zh-CN" altLang="en-US" sz="1200"/>
                        <a:t>）、</a:t>
                      </a:r>
                      <a:r>
                        <a:rPr lang="en-US" altLang="zh-CN" sz="1200"/>
                        <a:t>session </a:t>
                      </a:r>
                      <a:r>
                        <a:rPr lang="zh-CN" altLang="en-US" sz="1200"/>
                        <a:t>继承失效（</a:t>
                      </a:r>
                      <a:r>
                        <a:rPr lang="en-US" altLang="zh-CN" sz="1200"/>
                        <a:t>0/5</a:t>
                      </a:r>
                      <a:r>
                        <a:rPr lang="zh-CN" altLang="en-US" sz="1200"/>
                        <a:t>）</a:t>
                      </a:r>
                      <a:endParaRPr lang="zh-CN" altLang="en-US" sz="1200"/>
                    </a:p>
                  </a:txBody>
                  <a:tcPr marL="0" marR="0" marT="0" marB="0" anchor="ctr" anchorCtr="0"/>
                </a:tc>
                <a:tc>
                  <a:txBody>
                    <a:bodyPr/>
                    <a:p>
                      <a:r>
                        <a:rPr lang="zh-CN" altLang="en-US" sz="1200" b="1"/>
                        <a:t>第一层（主验收）：</a:t>
                      </a:r>
                      <a:r>
                        <a:rPr lang="en-US" altLang="zh-CN" sz="1200" b="1"/>
                        <a:t>clarify</a:t>
                      </a:r>
                      <a:r>
                        <a:rPr lang="zh-CN" altLang="en-US" sz="1200" b="1"/>
                        <a:t>、</a:t>
                      </a:r>
                      <a:r>
                        <a:rPr lang="en-US" altLang="zh-CN" sz="1200" b="1"/>
                        <a:t>negative</a:t>
                      </a:r>
                      <a:r>
                        <a:rPr lang="zh-CN" altLang="en-US" sz="1200" b="1"/>
                        <a:t>、</a:t>
                      </a:r>
                      <a:r>
                        <a:rPr lang="en-US" altLang="zh-CN" sz="1200" b="1"/>
                        <a:t>session</a:t>
                      </a:r>
                      <a:r>
                        <a:rPr lang="zh-CN" altLang="en-US" sz="1200" b="1"/>
                        <a:t>（多轮）</a:t>
                      </a:r>
                      <a:br>
                        <a:rPr lang="zh-CN" altLang="en-US" sz="1200"/>
                      </a:br>
                      <a:r>
                        <a:rPr lang="zh-CN" altLang="en-US" sz="1200"/>
                        <a:t>第二层（关联验收）：</a:t>
                      </a:r>
                      <a:r>
                        <a:rPr lang="en-US" altLang="zh-CN" sz="1200"/>
                        <a:t>cross </a:t>
                      </a:r>
                      <a:r>
                        <a:rPr lang="zh-CN" altLang="en-US" sz="1200"/>
                        <a:t>的路由与澄清部分（</a:t>
                      </a:r>
                      <a:r>
                        <a:rPr lang="en-US" altLang="zh-CN" sz="1200"/>
                        <a:t>002/005/006 </a:t>
                      </a:r>
                      <a:r>
                        <a:rPr lang="zh-CN" altLang="en-US" sz="1200"/>
                        <a:t>过度澄清、</a:t>
                      </a:r>
                      <a:r>
                        <a:rPr lang="en-US" altLang="zh-CN" sz="1200"/>
                        <a:t>5 </a:t>
                      </a:r>
                      <a:r>
                        <a:rPr lang="zh-CN" altLang="en-US" sz="1200"/>
                        <a:t>题路由）、</a:t>
                      </a:r>
                      <a:r>
                        <a:rPr lang="en-US" altLang="zh-CN" sz="1200"/>
                        <a:t>multitable-004/005 </a:t>
                      </a:r>
                      <a:r>
                        <a:rPr lang="zh-CN" altLang="en-US" sz="1200"/>
                        <a:t>路由部分、</a:t>
                      </a:r>
                      <a:r>
                        <a:rPr lang="en-US" altLang="zh-CN" sz="1200"/>
                        <a:t>formula-006 </a:t>
                      </a:r>
                      <a:r>
                        <a:rPr lang="zh-CN" altLang="en-US" sz="1200"/>
                        <a:t>与 </a:t>
                      </a:r>
                      <a:r>
                        <a:rPr lang="en-US" altLang="zh-CN" sz="1200"/>
                        <a:t>negative-005 </a:t>
                      </a:r>
                      <a:r>
                        <a:rPr lang="zh-CN" altLang="en-US" sz="1200"/>
                        <a:t>拒绝边界</a:t>
                      </a:r>
                      <a:br>
                        <a:rPr lang="zh-CN" altLang="en-US" sz="1200"/>
                      </a:br>
                      <a:r>
                        <a:rPr lang="zh-CN" altLang="en-US" sz="1200"/>
                        <a:t>第三层（回归）：全量 </a:t>
                      </a:r>
                      <a:r>
                        <a:rPr lang="en-US" altLang="zh-CN" sz="1200"/>
                        <a:t>80 </a:t>
                      </a:r>
                      <a:r>
                        <a:rPr lang="zh-CN" altLang="en-US" sz="1200"/>
                        <a:t>条</a:t>
                      </a:r>
                      <a:endParaRPr lang="zh-CN" altLang="en-US" sz="1200"/>
                    </a:p>
                  </a:txBody>
                  <a:tcPr marL="0" marR="0" marT="0" marB="0" anchor="ctr" anchorCtr="0"/>
                </a:tc>
                <a:tc>
                  <a:txBody>
                    <a:bodyPr/>
                    <a:p>
                      <a:r>
                        <a:rPr lang="zh-CN" altLang="en-US" sz="1200"/>
                        <a:t>中级三：</a:t>
                      </a:r>
                      <a:r>
                        <a:rPr lang="zh-CN" altLang="en-US" sz="1200" b="1"/>
                        <a:t>主动澄清</a:t>
                      </a:r>
                      <a:r>
                        <a:rPr lang="zh-CN" altLang="en-US" sz="1200"/>
                        <a:t>（</a:t>
                      </a:r>
                      <a:r>
                        <a:rPr lang="en-US" altLang="zh-CN" sz="1200"/>
                        <a:t>clarify</a:t>
                      </a:r>
                      <a:r>
                        <a:rPr lang="zh-CN" altLang="en-US" sz="1200"/>
                        <a:t>）</a:t>
                      </a:r>
                      <a:br>
                        <a:rPr lang="zh-CN" altLang="en-US" sz="1200"/>
                      </a:br>
                      <a:r>
                        <a:rPr lang="zh-CN" altLang="en-US" sz="1200" b="1"/>
                        <a:t>无证据处理</a:t>
                      </a:r>
                      <a:r>
                        <a:rPr lang="zh-CN" altLang="en-US" sz="1200"/>
                        <a:t>（</a:t>
                      </a:r>
                      <a:r>
                        <a:rPr lang="en-US" altLang="zh-CN" sz="1200"/>
                        <a:t>negative</a:t>
                      </a:r>
                      <a:r>
                        <a:rPr lang="zh-CN" altLang="en-US" sz="1200"/>
                        <a:t>，边界不清可删改，勿与澄清混淆）</a:t>
                      </a:r>
                      <a:br>
                        <a:rPr lang="zh-CN" altLang="en-US" sz="1200"/>
                      </a:br>
                      <a:r>
                        <a:rPr lang="zh-CN" altLang="en-US" sz="1200" b="1"/>
                        <a:t>多轮会话</a:t>
                      </a:r>
                      <a:r>
                        <a:rPr lang="zh-CN" altLang="en-US" sz="1200"/>
                        <a:t>（</a:t>
                      </a:r>
                      <a:r>
                        <a:rPr lang="en-US" altLang="zh-CN" sz="1200"/>
                        <a:t>session</a:t>
                      </a:r>
                      <a:r>
                        <a:rPr lang="zh-CN" altLang="en-US" sz="1200"/>
                        <a:t>，可删）</a:t>
                      </a:r>
                      <a:br>
                        <a:rPr lang="zh-CN" altLang="en-US" sz="1200"/>
                      </a:br>
                      <a:r>
                        <a:rPr lang="zh-CN" altLang="en-US" sz="1200" b="1">
                          <a:highlight>
                            <a:srgbClr val="FFFF00"/>
                          </a:highlight>
                        </a:rPr>
                        <a:t>优先</a:t>
                      </a:r>
                      <a:r>
                        <a:rPr lang="en-US" altLang="zh-CN" sz="1200" b="1">
                          <a:highlight>
                            <a:srgbClr val="FFFF00"/>
                          </a:highlight>
                        </a:rPr>
                        <a:t>:</a:t>
                      </a:r>
                      <a:r>
                        <a:rPr lang="zh-CN" altLang="en-US" sz="1200" b="1">
                          <a:highlight>
                            <a:srgbClr val="FFFF00"/>
                          </a:highlight>
                        </a:rPr>
                        <a:t>跨源问答</a:t>
                      </a:r>
                      <a:r>
                        <a:rPr lang="zh-CN" altLang="en-US" sz="1200">
                          <a:highlight>
                            <a:srgbClr val="FFFF00"/>
                          </a:highlight>
                        </a:rPr>
                        <a:t>（</a:t>
                      </a:r>
                      <a:r>
                        <a:rPr lang="en-US" altLang="zh-CN" sz="1200">
                          <a:highlight>
                            <a:srgbClr val="FFFF00"/>
                          </a:highlight>
                        </a:rPr>
                        <a:t>cross</a:t>
                      </a:r>
                      <a:r>
                        <a:rPr lang="zh-CN" altLang="en-US" sz="1200">
                          <a:highlight>
                            <a:srgbClr val="FFFF00"/>
                          </a:highlight>
                        </a:rPr>
                        <a:t>，本线承路由与澄清信号）</a:t>
                      </a:r>
                      <a:endParaRPr lang="zh-CN" altLang="en-US" sz="1200">
                        <a:highlight>
                          <a:srgbClr val="FFFF00"/>
                        </a:highlight>
                      </a:endParaRPr>
                    </a:p>
                  </a:txBody>
                  <a:tcPr marL="0" marR="0" marT="0" marB="0" anchor="ctr" anchorCtr="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初赛</a:t>
            </a:r>
            <a:r>
              <a:t>提交</a:t>
            </a:r>
          </a:p>
        </p:txBody>
      </p:sp>
      <p:sp>
        <p:nvSpPr>
          <p:cNvPr id="5" name="Text Box 3"/>
          <p:cNvSpPr txBox="1"/>
          <p:nvPr/>
        </p:nvSpPr>
        <p:spPr>
          <a:xfrm>
            <a:off x="337185" y="1012825"/>
            <a:ext cx="5495925" cy="5146040"/>
          </a:xfrm>
          <a:prstGeom prst="rect">
            <a:avLst/>
          </a:prstGeom>
          <a:noFill/>
        </p:spPr>
        <p:txBody>
          <a:bodyPr wrap="square" rtlCol="0">
            <a:noAutofit/>
          </a:bodyPr>
          <a:p>
            <a:pPr indent="0" algn="l" fontAlgn="auto">
              <a:lnSpc>
                <a:spcPct val="125000"/>
              </a:lnSpc>
              <a:spcBef>
                <a:spcPts val="0"/>
              </a:spcBef>
              <a:spcAft>
                <a:spcPts val="0"/>
              </a:spcAft>
              <a:buClrTx/>
              <a:buSzTx/>
              <a:buFont typeface="Wingdings" panose="05000000000000000000" charset="0"/>
              <a:buNone/>
            </a:pPr>
            <a:r>
              <a:rPr lang="zh-CN" altLang="en-US" sz="2400" b="1" kern="100" dirty="0">
                <a:solidFill>
                  <a:srgbClr val="103380"/>
                </a:solidFill>
                <a:uFillTx/>
                <a:latin typeface="微软雅黑" panose="020B0503020204020204" pitchFamily="34" charset="-122"/>
                <a:ea typeface="微软雅黑" panose="020B0503020204020204" pitchFamily="34" charset="-122"/>
                <a:sym typeface="+mn-ea"/>
              </a:rPr>
              <a:t>最终提交形式：</a:t>
            </a:r>
            <a:r>
              <a:rPr lang="en-US" altLang="zh-CN" sz="2400" b="1" kern="100" dirty="0">
                <a:solidFill>
                  <a:srgbClr val="103380"/>
                </a:solidFill>
                <a:uFillTx/>
                <a:latin typeface="微软雅黑" panose="020B0503020204020204" pitchFamily="34" charset="-122"/>
                <a:ea typeface="微软雅黑" panose="020B0503020204020204" pitchFamily="34" charset="-122"/>
                <a:sym typeface="+mn-ea"/>
              </a:rPr>
              <a:t>ddl 10.19</a:t>
            </a:r>
            <a:endParaRPr lang="zh-CN" altLang="en-US" sz="24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（1）技术文档——设计报告：提交 </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Word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版本及 </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PDF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版本各 1 份，总篇幅建议不超过 20 页（含封面、目录、正文及附录）。</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封面或目录后的</a:t>
            </a:r>
            <a:r>
              <a:rPr lang="zh-CN" altLang="en-US"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第 1-2 页必须为“项目核心亮点预览页”</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，集中展示作品相对于赛题基础任务和中级任务要求所实现的核心能力，</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包括但不限于：</a:t>
            </a:r>
            <a:r>
              <a:rPr lang="zh-CN" altLang="en-US"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系统整体架构图、多模态数据融合处理链路、核心创新点摘要、已攻克的中级任务清单及实现效果关键数据</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（如 </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NL2SQL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执行准确率、</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RAG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检索命中率、澄清交互成功率等）。</a:t>
            </a:r>
            <a:endParaRPr lang="en-US" altLang="zh-CN" sz="24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Arial" panose="020B0604020202020204" pitchFamily="34"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p:txBody>
      </p:sp>
      <p:sp>
        <p:nvSpPr>
          <p:cNvPr id="6" name="Text Box 3"/>
          <p:cNvSpPr txBox="1"/>
          <p:nvPr/>
        </p:nvSpPr>
        <p:spPr>
          <a:xfrm>
            <a:off x="6216650" y="1088390"/>
            <a:ext cx="5825490" cy="5146040"/>
          </a:xfrm>
          <a:prstGeom prst="rect">
            <a:avLst/>
          </a:prstGeom>
          <a:noFill/>
        </p:spPr>
        <p:txBody>
          <a:bodyPr wrap="square" rtlCol="0">
            <a:noAutofit/>
          </a:bodyPr>
          <a:p>
            <a:pPr indent="0" algn="l" fontAlgn="auto">
              <a:lnSpc>
                <a:spcPct val="125000"/>
              </a:lnSpc>
              <a:spcBef>
                <a:spcPts val="0"/>
              </a:spcBef>
              <a:spcAft>
                <a:spcPts val="0"/>
              </a:spcAft>
              <a:buClrTx/>
              <a:buSzTx/>
              <a:buFont typeface="Wingdings" panose="05000000000000000000" charset="0"/>
              <a:buNone/>
            </a:pPr>
            <a:r>
              <a:rPr lang="zh-CN" altLang="en-US" kern="100" dirty="0">
                <a:solidFill>
                  <a:srgbClr val="103380"/>
                </a:solidFill>
                <a:uFillTx/>
                <a:latin typeface="微软雅黑" panose="020B0503020204020204" pitchFamily="34" charset="-122"/>
                <a:ea typeface="微软雅黑" panose="020B0503020204020204" pitchFamily="34" charset="-122"/>
                <a:sym typeface="+mn-ea"/>
              </a:rPr>
              <a:t>（2）技术文档——技术实现说明书：格式要求同上，总篇幅建议不超过 30 页。内容应系统阐述以下模块：</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zh-CN" altLang="en-US" kern="100" dirty="0">
                <a:solidFill>
                  <a:srgbClr val="103380"/>
                </a:solidFill>
                <a:uFillTx/>
                <a:latin typeface="微软雅黑" panose="020B0503020204020204" pitchFamily="34" charset="-122"/>
                <a:ea typeface="微软雅黑" panose="020B0503020204020204" pitchFamily="34" charset="-122"/>
                <a:sym typeface="+mn-ea"/>
              </a:rPr>
              <a:t>系统总体架构设计</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en-US" altLang="zh-CN" kern="100" dirty="0">
                <a:solidFill>
                  <a:srgbClr val="103380"/>
                </a:solidFill>
                <a:uFillTx/>
                <a:latin typeface="微软雅黑" panose="020B0503020204020204" pitchFamily="34" charset="-122"/>
                <a:ea typeface="微软雅黑" panose="020B0503020204020204" pitchFamily="34" charset="-122"/>
                <a:sym typeface="+mn-ea"/>
              </a:rPr>
              <a:t>NL2SQL </a:t>
            </a:r>
            <a:r>
              <a:rPr lang="zh-CN" altLang="en-US" kern="100" dirty="0">
                <a:solidFill>
                  <a:srgbClr val="103380"/>
                </a:solidFill>
                <a:uFillTx/>
                <a:latin typeface="微软雅黑" panose="020B0503020204020204" pitchFamily="34" charset="-122"/>
                <a:ea typeface="微软雅黑" panose="020B0503020204020204" pitchFamily="34" charset="-122"/>
                <a:sym typeface="+mn-ea"/>
              </a:rPr>
              <a:t>模块技术实现（包含 </a:t>
            </a:r>
            <a:r>
              <a:rPr lang="en-US" altLang="zh-CN" kern="100" dirty="0">
                <a:solidFill>
                  <a:srgbClr val="103380"/>
                </a:solidFill>
                <a:uFillTx/>
                <a:latin typeface="微软雅黑" panose="020B0503020204020204" pitchFamily="34" charset="-122"/>
                <a:ea typeface="微软雅黑" panose="020B0503020204020204" pitchFamily="34" charset="-122"/>
                <a:sym typeface="+mn-ea"/>
              </a:rPr>
              <a:t>Schema</a:t>
            </a:r>
            <a:r>
              <a:rPr lang="zh-CN" altLang="en-US" kern="100" dirty="0">
                <a:solidFill>
                  <a:srgbClr val="103380"/>
                </a:solidFill>
                <a:uFillTx/>
                <a:latin typeface="微软雅黑" panose="020B0503020204020204" pitchFamily="34" charset="-122"/>
                <a:ea typeface="微软雅黑" panose="020B0503020204020204" pitchFamily="34" charset="-122"/>
                <a:sym typeface="+mn-ea"/>
              </a:rPr>
              <a:t>　</a:t>
            </a:r>
            <a:r>
              <a:rPr lang="en-US" altLang="zh-CN" kern="100" dirty="0">
                <a:solidFill>
                  <a:srgbClr val="103380"/>
                </a:solidFill>
                <a:uFillTx/>
                <a:latin typeface="微软雅黑" panose="020B0503020204020204" pitchFamily="34" charset="-122"/>
                <a:ea typeface="微软雅黑" panose="020B0503020204020204" pitchFamily="34" charset="-122"/>
                <a:sym typeface="+mn-ea"/>
              </a:rPr>
              <a:t>Linking </a:t>
            </a:r>
            <a:r>
              <a:rPr lang="zh-CN" altLang="en-US" kern="100" dirty="0">
                <a:solidFill>
                  <a:srgbClr val="103380"/>
                </a:solidFill>
                <a:uFillTx/>
                <a:latin typeface="微软雅黑" panose="020B0503020204020204" pitchFamily="34" charset="-122"/>
                <a:ea typeface="微软雅黑" panose="020B0503020204020204" pitchFamily="34" charset="-122"/>
                <a:sym typeface="+mn-ea"/>
              </a:rPr>
              <a:t>方案、要素识别模型、</a:t>
            </a:r>
            <a:r>
              <a:rPr lang="en-US" altLang="zh-CN" kern="100" dirty="0">
                <a:solidFill>
                  <a:srgbClr val="103380"/>
                </a:solidFill>
                <a:uFillTx/>
                <a:latin typeface="微软雅黑" panose="020B0503020204020204" pitchFamily="34" charset="-122"/>
                <a:ea typeface="微软雅黑" panose="020B0503020204020204" pitchFamily="34" charset="-122"/>
                <a:sym typeface="+mn-ea"/>
              </a:rPr>
              <a:t>SQL </a:t>
            </a:r>
            <a:r>
              <a:rPr lang="zh-CN" altLang="en-US" kern="100" dirty="0">
                <a:solidFill>
                  <a:srgbClr val="103380"/>
                </a:solidFill>
                <a:uFillTx/>
                <a:latin typeface="微软雅黑" panose="020B0503020204020204" pitchFamily="34" charset="-122"/>
                <a:ea typeface="微软雅黑" panose="020B0503020204020204" pitchFamily="34" charset="-122"/>
                <a:sym typeface="+mn-ea"/>
              </a:rPr>
              <a:t>生成与校验机制）</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en-US" altLang="zh-CN" kern="100" dirty="0">
                <a:solidFill>
                  <a:srgbClr val="103380"/>
                </a:solidFill>
                <a:uFillTx/>
                <a:latin typeface="微软雅黑" panose="020B0503020204020204" pitchFamily="34" charset="-122"/>
                <a:ea typeface="微软雅黑" panose="020B0503020204020204" pitchFamily="34" charset="-122"/>
                <a:sym typeface="+mn-ea"/>
              </a:rPr>
              <a:t>RAG </a:t>
            </a:r>
            <a:r>
              <a:rPr lang="zh-CN" altLang="en-US" kern="100" dirty="0">
                <a:solidFill>
                  <a:srgbClr val="103380"/>
                </a:solidFill>
                <a:uFillTx/>
                <a:latin typeface="微软雅黑" panose="020B0503020204020204" pitchFamily="34" charset="-122"/>
                <a:ea typeface="微软雅黑" panose="020B0503020204020204" pitchFamily="34" charset="-122"/>
                <a:sym typeface="+mn-ea"/>
              </a:rPr>
              <a:t>问答模块技术实现（包含文档解析与切片策略、向量检索方案、生成融合机制）</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zh-CN" altLang="en-US" kern="100" dirty="0">
                <a:solidFill>
                  <a:srgbClr val="103380"/>
                </a:solidFill>
                <a:uFillTx/>
                <a:latin typeface="微软雅黑" panose="020B0503020204020204" pitchFamily="34" charset="-122"/>
                <a:ea typeface="微软雅黑" panose="020B0503020204020204" pitchFamily="34" charset="-122"/>
                <a:sym typeface="+mn-ea"/>
              </a:rPr>
              <a:t>多源异构数据融合推理策略</a:t>
            </a:r>
            <a:r>
              <a:rPr lang="zh-CN" altLang="en-US"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（结构化数据库与非结构化知识库的协同查询与结果整合）</a:t>
            </a:r>
            <a:r>
              <a:rPr lang="zh-CN" altLang="en-US" kern="100" dirty="0">
                <a:solidFill>
                  <a:srgbClr val="C00000"/>
                </a:solidFill>
                <a:highlight>
                  <a:srgbClr val="FFFF00"/>
                </a:highlight>
                <a:uFillTx/>
                <a:latin typeface="微软雅黑" panose="020B0503020204020204" pitchFamily="34" charset="-122"/>
                <a:ea typeface="微软雅黑" panose="020B0503020204020204" pitchFamily="34" charset="-122"/>
                <a:sym typeface="+mn-ea"/>
              </a:rPr>
              <a:t>（跨源要做好）</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zh-CN" altLang="en-US"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可解释性实现方案（包含推理链路追踪、数据来源标注、工具调用链可视化）</a:t>
            </a:r>
            <a:r>
              <a:rPr lang="zh-CN" altLang="en-US" kern="100" dirty="0">
                <a:solidFill>
                  <a:srgbClr val="C00000"/>
                </a:solidFill>
                <a:highlight>
                  <a:srgbClr val="FFFF00"/>
                </a:highlight>
                <a:uFillTx/>
                <a:latin typeface="微软雅黑" panose="020B0503020204020204" pitchFamily="34" charset="-122"/>
                <a:ea typeface="微软雅黑" panose="020B0503020204020204" pitchFamily="34" charset="-122"/>
                <a:sym typeface="+mn-ea"/>
              </a:rPr>
              <a:t>（展示链路优化）</a:t>
            </a:r>
            <a:endParaRPr lang="zh-CN" altLang="en-US"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zh-CN" altLang="en-US" kern="100" dirty="0">
                <a:solidFill>
                  <a:srgbClr val="103380"/>
                </a:solidFill>
                <a:uFillTx/>
                <a:latin typeface="微软雅黑" panose="020B0503020204020204" pitchFamily="34" charset="-122"/>
                <a:ea typeface="微软雅黑" panose="020B0503020204020204" pitchFamily="34" charset="-122"/>
                <a:sym typeface="+mn-ea"/>
              </a:rPr>
              <a:t>中级任务攻克方案详述</a:t>
            </a:r>
            <a:endParaRPr lang="zh-CN" altLang="en-US" kern="100" dirty="0">
              <a:solidFill>
                <a:srgbClr val="103380"/>
              </a:solidFill>
              <a:uFillTx/>
              <a:latin typeface="微软雅黑" panose="020B0503020204020204" pitchFamily="34" charset="-122"/>
              <a:ea typeface="微软雅黑" panose="020B0503020204020204" pitchFamily="34" charset="-122"/>
              <a:sym typeface="+mn-ea"/>
            </a:endParaRPr>
          </a:p>
          <a:p>
            <a:pPr marL="342900" indent="-342900" algn="l" fontAlgn="auto">
              <a:lnSpc>
                <a:spcPct val="125000"/>
              </a:lnSpc>
              <a:spcBef>
                <a:spcPts val="0"/>
              </a:spcBef>
              <a:spcAft>
                <a:spcPts val="0"/>
              </a:spcAft>
              <a:buClrTx/>
              <a:buSzTx/>
              <a:buFont typeface="Wingdings" panose="05000000000000000000" charset="0"/>
              <a:buChar char="l"/>
            </a:pPr>
            <a:r>
              <a:rPr lang="zh-CN" altLang="en-US" kern="100" dirty="0">
                <a:solidFill>
                  <a:srgbClr val="103380"/>
                </a:solidFill>
                <a:uFillTx/>
                <a:latin typeface="微软雅黑" panose="020B0503020204020204" pitchFamily="34" charset="-122"/>
                <a:ea typeface="微软雅黑" panose="020B0503020204020204" pitchFamily="34" charset="-122"/>
                <a:sym typeface="+mn-ea"/>
              </a:rPr>
              <a:t>系统测试与性能评估（包含测试数据集说明、评估指标定义、测试结果及分析）</a:t>
            </a:r>
            <a:endParaRPr lang="en-US" altLang="zh-CN" sz="24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Arial" panose="020B0604020202020204" pitchFamily="34"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t>初赛</a:t>
            </a:r>
            <a:r>
              <a:t>提交</a:t>
            </a:r>
          </a:p>
        </p:txBody>
      </p:sp>
      <p:sp>
        <p:nvSpPr>
          <p:cNvPr id="6" name="Text Box 3"/>
          <p:cNvSpPr txBox="1"/>
          <p:nvPr/>
        </p:nvSpPr>
        <p:spPr>
          <a:xfrm>
            <a:off x="200660" y="1043305"/>
            <a:ext cx="9161145" cy="3253740"/>
          </a:xfrm>
          <a:prstGeom prst="rect">
            <a:avLst/>
          </a:prstGeom>
          <a:noFill/>
        </p:spPr>
        <p:txBody>
          <a:bodyPr wrap="square" rtlCol="0">
            <a:noAutofit/>
          </a:bodyPr>
          <a:p>
            <a:pPr indent="0" algn="l" fontAlgn="auto">
              <a:lnSpc>
                <a:spcPct val="125000"/>
              </a:lnSpc>
              <a:spcBef>
                <a:spcPts val="0"/>
              </a:spcBef>
              <a:spcAft>
                <a:spcPts val="0"/>
              </a:spcAft>
              <a:buClrTx/>
              <a:buSzTx/>
              <a:buFont typeface="Wingdings" panose="05000000000000000000" charset="0"/>
              <a:buNone/>
            </a:pP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（3）技术数据:作品原始文件（</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ZIP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数据包），应包含：</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完整项目源代码（需包含清晰的目录结构说明和 </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README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文件）</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a:t>
            </a:r>
            <a:r>
              <a:rPr lang="en-US" altLang="en-US"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数据库 </a:t>
            </a:r>
            <a:r>
              <a:rPr lang="en-US" altLang="zh-CN"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schema </a:t>
            </a:r>
            <a:r>
              <a:rPr lang="zh-CN" altLang="en-US" sz="2000" kern="100" dirty="0">
                <a:solidFill>
                  <a:srgbClr val="103380"/>
                </a:solidFill>
                <a:highlight>
                  <a:srgbClr val="FFFF00"/>
                </a:highlight>
                <a:uFillTx/>
                <a:latin typeface="微软雅黑" panose="020B0503020204020204" pitchFamily="34" charset="-122"/>
                <a:ea typeface="微软雅黑" panose="020B0503020204020204" pitchFamily="34" charset="-122"/>
                <a:sym typeface="+mn-ea"/>
              </a:rPr>
              <a:t>定义文件</a:t>
            </a:r>
            <a:r>
              <a:rPr lang="zh-CN" altLang="en-US" sz="2000" kern="100" dirty="0">
                <a:solidFill>
                  <a:srgbClr val="C00000"/>
                </a:solidFill>
                <a:highlight>
                  <a:srgbClr val="FFFF00"/>
                </a:highlight>
                <a:uFillTx/>
                <a:latin typeface="微软雅黑" panose="020B0503020204020204" pitchFamily="34" charset="-122"/>
                <a:ea typeface="微软雅黑" panose="020B0503020204020204" pitchFamily="34" charset="-122"/>
                <a:sym typeface="+mn-ea"/>
              </a:rPr>
              <a:t>（喜）</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知识库文档样本（不少于 10 份，涵盖不同类型文档格式）</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模型权重文件（若适用）</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运行环境配置说明（包括依赖包列表及版本号）</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r>
              <a:rPr lang="en-US" altLang="en-US" sz="2000" kern="100" dirty="0">
                <a:solidFill>
                  <a:srgbClr val="103380"/>
                </a:solidFill>
                <a:uFillTx/>
                <a:latin typeface="微软雅黑" panose="020B0503020204020204" pitchFamily="34" charset="-122"/>
                <a:ea typeface="微软雅黑" panose="020B0503020204020204" pitchFamily="34" charset="-122"/>
                <a:sym typeface="+mn-ea"/>
              </a:rPr>
              <a:t>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可执行 </a:t>
            </a:r>
            <a:r>
              <a:rPr lang="en-US" altLang="zh-CN" sz="2000" kern="100" dirty="0">
                <a:solidFill>
                  <a:srgbClr val="103380"/>
                </a:solidFill>
                <a:uFillTx/>
                <a:latin typeface="微软雅黑" panose="020B0503020204020204" pitchFamily="34" charset="-122"/>
                <a:ea typeface="微软雅黑" panose="020B0503020204020204" pitchFamily="34" charset="-122"/>
                <a:sym typeface="+mn-ea"/>
              </a:rPr>
              <a:t>Demo </a:t>
            </a:r>
            <a:r>
              <a:rPr lang="zh-CN" altLang="en-US" sz="2000" kern="100" dirty="0">
                <a:solidFill>
                  <a:srgbClr val="103380"/>
                </a:solidFill>
                <a:uFillTx/>
                <a:latin typeface="微软雅黑" panose="020B0503020204020204" pitchFamily="34" charset="-122"/>
                <a:ea typeface="微软雅黑" panose="020B0503020204020204" pitchFamily="34" charset="-122"/>
                <a:sym typeface="+mn-ea"/>
              </a:rPr>
              <a:t>的快速启动脚本</a:t>
            </a:r>
            <a:endParaRPr lang="zh-CN" altLang="en-US" sz="2000"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Wingdings" panose="05000000000000000000"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a:p>
            <a:pPr indent="0" algn="l" fontAlgn="auto">
              <a:lnSpc>
                <a:spcPct val="125000"/>
              </a:lnSpc>
              <a:spcBef>
                <a:spcPts val="0"/>
              </a:spcBef>
              <a:spcAft>
                <a:spcPts val="0"/>
              </a:spcAft>
              <a:buClrTx/>
              <a:buSzTx/>
              <a:buFont typeface="Arial" panose="020B0604020202020204" pitchFamily="34" charset="0"/>
              <a:buNone/>
            </a:pPr>
            <a:endParaRPr lang="en-US" altLang="zh-CN" sz="2000" b="1" kern="100" dirty="0">
              <a:solidFill>
                <a:srgbClr val="103380"/>
              </a:solidFill>
              <a:uFillTx/>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200660" y="3879215"/>
            <a:ext cx="6436995" cy="1083945"/>
          </a:xfrm>
          <a:prstGeom prst="rect">
            <a:avLst/>
          </a:prstGeom>
        </p:spPr>
      </p:pic>
      <p:pic>
        <p:nvPicPr>
          <p:cNvPr id="4" name="图片 3"/>
          <p:cNvPicPr>
            <a:picLocks noChangeAspect="1"/>
          </p:cNvPicPr>
          <p:nvPr/>
        </p:nvPicPr>
        <p:blipFill>
          <a:blip r:embed="rId2"/>
          <a:stretch>
            <a:fillRect/>
          </a:stretch>
        </p:blipFill>
        <p:spPr>
          <a:xfrm>
            <a:off x="6541770" y="3322320"/>
            <a:ext cx="5636260" cy="25292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sz="2000" b="1" dirty="0">
                <a:latin typeface="微软雅黑" panose="020B0503020204020204" pitchFamily="34" charset="-122"/>
              </a:rPr>
              <a:t>智能信息处理与通信技术省高校重点实验室</a:t>
            </a:r>
            <a:endParaRPr lang="zh-CN" altLang="en-US" sz="2000" b="1" dirty="0">
              <a:latin typeface="微软雅黑" panose="020B0503020204020204" pitchFamily="34" charset="-122"/>
            </a:endParaRPr>
          </a:p>
        </p:txBody>
      </p:sp>
      <p:sp>
        <p:nvSpPr>
          <p:cNvPr id="2" name="文本框 1"/>
          <p:cNvSpPr txBox="1"/>
          <p:nvPr/>
        </p:nvSpPr>
        <p:spPr>
          <a:xfrm>
            <a:off x="2810697" y="4688645"/>
            <a:ext cx="6600733" cy="1129665"/>
          </a:xfrm>
          <a:prstGeom prst="rect">
            <a:avLst/>
          </a:prstGeom>
          <a:noFill/>
        </p:spPr>
        <p:txBody>
          <a:bodyPr wrap="square">
            <a:spAutoFit/>
          </a:bodyPr>
          <a:lstStyle/>
          <a:p>
            <a:pPr algn="ctr">
              <a:lnSpc>
                <a:spcPct val="125000"/>
              </a:lnSpc>
            </a:pPr>
            <a:r>
              <a:rPr lang="zh-CN" altLang="en-US"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邮箱：</a:t>
            </a:r>
            <a:r>
              <a:rPr lang="en-US" altLang="zh-CN" dirty="0">
                <a:solidFill>
                  <a:srgbClr val="0361B4"/>
                </a:solidFill>
                <a:latin typeface="Times New Roman" panose="02020603050405020304" pitchFamily="18" charset="0"/>
                <a:cs typeface="Times New Roman" panose="02020603050405020304" pitchFamily="18" charset="0"/>
              </a:rPr>
              <a:t>1225013844@njupt.edu.cn</a:t>
            </a:r>
            <a:endParaRPr lang="en-US" altLang="zh-CN" dirty="0">
              <a:solidFill>
                <a:srgbClr val="0361B4"/>
              </a:solidFill>
              <a:latin typeface="Times New Roman" panose="02020603050405020304" pitchFamily="18" charset="0"/>
              <a:cs typeface="Times New Roman" panose="02020603050405020304" pitchFamily="18" charset="0"/>
            </a:endParaRPr>
          </a:p>
          <a:p>
            <a:pPr algn="ctr">
              <a:lnSpc>
                <a:spcPct val="125000"/>
              </a:lnSpc>
            </a:pPr>
            <a:endParaRPr lang="en-US" altLang="zh-CN" dirty="0">
              <a:solidFill>
                <a:srgbClr val="0361B4"/>
              </a:solidFill>
              <a:latin typeface="Times New Roman" panose="02020603050405020304" pitchFamily="18" charset="0"/>
              <a:cs typeface="Times New Roman" panose="02020603050405020304" pitchFamily="18" charset="0"/>
            </a:endParaRPr>
          </a:p>
          <a:p>
            <a:pPr algn="ctr">
              <a:lnSpc>
                <a:spcPct val="125000"/>
              </a:lnSpc>
            </a:pPr>
            <a:r>
              <a:rPr lang="zh-CN" altLang="en-US"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地址：南京市新模范马路</a:t>
            </a:r>
            <a:r>
              <a:rPr lang="en-US" altLang="zh-CN"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66</a:t>
            </a:r>
            <a:r>
              <a:rPr lang="zh-CN" altLang="en-US"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号南京邮电大学综合科研楼</a:t>
            </a:r>
            <a:r>
              <a:rPr lang="en-US" altLang="zh-CN"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15</a:t>
            </a:r>
            <a:r>
              <a:rPr lang="zh-CN" altLang="en-US"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rPr>
              <a:t>楼</a:t>
            </a:r>
            <a:endParaRPr lang="en-US" altLang="zh-CN" b="1" dirty="0">
              <a:solidFill>
                <a:srgbClr val="0361B4"/>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RESOURCE_RECORD_KEY" val="{&quot;10&quot;:[3506636,2155638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7254</Words>
  <Application>WPS 演示</Application>
  <PresentationFormat>宽屏</PresentationFormat>
  <Paragraphs>338</Paragraphs>
  <Slides>17</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宋体</vt:lpstr>
      <vt:lpstr>Wingdings</vt:lpstr>
      <vt:lpstr>微软雅黑</vt:lpstr>
      <vt:lpstr>楷体</vt:lpstr>
      <vt:lpstr>华文楷体</vt:lpstr>
      <vt:lpstr>Calibri</vt:lpstr>
      <vt:lpstr>等线</vt:lpstr>
      <vt:lpstr>Wingdings</vt:lpstr>
      <vt:lpstr>Times New Roman</vt:lpstr>
      <vt:lpstr>Arial Unicode MS</vt:lpstr>
      <vt:lpstr>MS PGothic</vt:lpstr>
      <vt:lpstr>Office 主题​​</vt:lpstr>
      <vt:lpstr>PowerPoint 演示文稿</vt:lpstr>
      <vt:lpstr>赛题原则</vt:lpstr>
      <vt:lpstr>场景定义</vt:lpstr>
      <vt:lpstr>核心用户与场景：</vt:lpstr>
      <vt:lpstr>数据集+测评集</vt:lpstr>
      <vt:lpstr>做的是什么</vt:lpstr>
      <vt:lpstr>现阶段分工</vt:lpstr>
      <vt:lpstr>中级任务</vt:lpstr>
      <vt:lpstr>阶段任务</vt:lpstr>
      <vt:lpstr>场景定义2</vt:lpstr>
      <vt:lpstr>会议-企业关注点</vt:lpstr>
      <vt:lpstr>会议-企业关注点</vt:lpstr>
      <vt:lpstr>现状</vt:lpstr>
      <vt:lpstr>选择与分工</vt:lpstr>
      <vt:lpstr>现状</vt:lpstr>
      <vt:lpstr>现状</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websys</dc:creator>
  <cp:lastModifiedBy>吕佳阳</cp:lastModifiedBy>
  <cp:revision>2294</cp:revision>
  <dcterms:created xsi:type="dcterms:W3CDTF">2017-10-12T12:27:00Z</dcterms:created>
  <dcterms:modified xsi:type="dcterms:W3CDTF">2026-10-09T14:05:17Z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KSORubyTemplateID">
    <vt:lpwstr>2</vt:lpwstr>
  </property>
  <property fmtid="{D5CDD505-2E9C-101B-9397-08002B2CF9AE}" pid="4" name="ICV">
    <vt:lpwstr>6A479E560DD34935BCAF30EE3B18C5A2_13</vt:lpwstr>
  </property>
</Properties>
</file>