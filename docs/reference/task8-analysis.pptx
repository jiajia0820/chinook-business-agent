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</p:sldMasterIdLst>
  <p:notesMasterIdLst>
    <p:notesMasterId r:id="rId15"/>
  </p:notesMasterIdLst>
  <p:sldIdLst>
    <p:sldId id="256" r:id="rId3"/>
    <p:sldId id="2848" r:id="rId4"/>
    <p:sldId id="2849" r:id="rId5"/>
    <p:sldId id="2877" r:id="rId6"/>
    <p:sldId id="2880" r:id="rId7"/>
    <p:sldId id="2882" r:id="rId8"/>
    <p:sldId id="2881" r:id="rId9"/>
    <p:sldId id="2883" r:id="rId10"/>
    <p:sldId id="2884" r:id="rId11"/>
    <p:sldId id="2879" r:id="rId12"/>
    <p:sldId id="2878" r:id="rId13"/>
    <p:sldId id="1364" r:id="rId14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517D26F8-AD37-49A3-ACA4-FF28468FA954}">
          <p14:sldIdLst>
            <p14:sldId id="256"/>
            <p14:sldId id="2848"/>
            <p14:sldId id="2849"/>
            <p14:sldId id="2877"/>
            <p14:sldId id="2880"/>
            <p14:sldId id="2882"/>
            <p14:sldId id="2881"/>
            <p14:sldId id="2883"/>
            <p14:sldId id="2884"/>
            <p14:sldId id="2879"/>
            <p14:sldId id="2878"/>
            <p14:sldId id="13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12" userDrawn="1">
          <p15:clr>
            <a:srgbClr val="A4A3A4"/>
          </p15:clr>
        </p15:guide>
        <p15:guide id="2" pos="379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毛 马" initials="毛" lastIdx="1" clrIdx="0"/>
  <p:cmAuthor id="2" name="46762" initials="authorId_46762" lastIdx="0" clrIdx="1"/>
  <p:cmAuthor id="3" name="姜晓琳" initials="authorId_1845022132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7F"/>
    <a:srgbClr val="C00000"/>
    <a:srgbClr val="7D5D00"/>
    <a:srgbClr val="9E9B93"/>
    <a:srgbClr val="DBEEF3"/>
    <a:srgbClr val="015CAE"/>
    <a:srgbClr val="0567BE"/>
    <a:srgbClr val="0361B4"/>
    <a:srgbClr val="113380"/>
    <a:srgbClr val="0971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21" autoAdjust="0"/>
    <p:restoredTop sz="95455" autoAdjust="0"/>
  </p:normalViewPr>
  <p:slideViewPr>
    <p:cSldViewPr showGuides="1">
      <p:cViewPr varScale="1">
        <p:scale>
          <a:sx n="110" d="100"/>
          <a:sy n="110" d="100"/>
        </p:scale>
        <p:origin x="1182" y="108"/>
      </p:cViewPr>
      <p:guideLst>
        <p:guide orient="horz" pos="2112"/>
        <p:guide pos="379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770"/>
    </p:cViewPr>
  </p:sorterViewPr>
  <p:gridSpacing cx="45005" cy="45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gs" Target="tags/tag1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microsoft.com/office/2007/relationships/hdphoto" Target="../media/image7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93"/>
          <a:stretch>
            <a:fillRect/>
          </a:stretch>
        </p:blipFill>
        <p:spPr>
          <a:xfrm>
            <a:off x="-24680" y="1737562"/>
            <a:ext cx="12241021" cy="2018755"/>
          </a:xfrm>
          <a:prstGeom prst="rect">
            <a:avLst/>
          </a:prstGeom>
        </p:spPr>
      </p:pic>
      <p:sp>
        <p:nvSpPr>
          <p:cNvPr id="16" name="平行四边形 9"/>
          <p:cNvSpPr/>
          <p:nvPr userDrawn="1"/>
        </p:nvSpPr>
        <p:spPr>
          <a:xfrm>
            <a:off x="8688288" y="3840397"/>
            <a:ext cx="3503712" cy="144016"/>
          </a:xfrm>
          <a:custGeom>
            <a:avLst/>
            <a:gdLst>
              <a:gd name="connsiteX0" fmla="*/ 0 w 2627784"/>
              <a:gd name="connsiteY0" fmla="*/ 144016 h 144016"/>
              <a:gd name="connsiteX1" fmla="*/ 79565 w 2627784"/>
              <a:gd name="connsiteY1" fmla="*/ 0 h 144016"/>
              <a:gd name="connsiteX2" fmla="*/ 2627784 w 2627784"/>
              <a:gd name="connsiteY2" fmla="*/ 0 h 144016"/>
              <a:gd name="connsiteX3" fmla="*/ 2548219 w 2627784"/>
              <a:gd name="connsiteY3" fmla="*/ 144016 h 144016"/>
              <a:gd name="connsiteX4" fmla="*/ 0 w 2627784"/>
              <a:gd name="connsiteY4" fmla="*/ 144016 h 144016"/>
              <a:gd name="connsiteX0-1" fmla="*/ 0 w 2627784"/>
              <a:gd name="connsiteY0-2" fmla="*/ 144016 h 144016"/>
              <a:gd name="connsiteX1-3" fmla="*/ 79565 w 2627784"/>
              <a:gd name="connsiteY1-4" fmla="*/ 0 h 144016"/>
              <a:gd name="connsiteX2-5" fmla="*/ 2627784 w 2627784"/>
              <a:gd name="connsiteY2-6" fmla="*/ 0 h 144016"/>
              <a:gd name="connsiteX3-7" fmla="*/ 2626507 w 2627784"/>
              <a:gd name="connsiteY3-8" fmla="*/ 140885 h 144016"/>
              <a:gd name="connsiteX4-9" fmla="*/ 0 w 2627784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627784" h="144016">
                <a:moveTo>
                  <a:pt x="0" y="144016"/>
                </a:moveTo>
                <a:lnTo>
                  <a:pt x="79565" y="0"/>
                </a:lnTo>
                <a:lnTo>
                  <a:pt x="2627784" y="0"/>
                </a:lnTo>
                <a:cubicBezTo>
                  <a:pt x="2627358" y="46962"/>
                  <a:pt x="2626933" y="93923"/>
                  <a:pt x="2626507" y="140885"/>
                </a:cubicBezTo>
                <a:lnTo>
                  <a:pt x="0" y="144016"/>
                </a:lnTo>
                <a:close/>
              </a:path>
            </a:pathLst>
          </a:cu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0" name="平行四边形 10"/>
          <p:cNvSpPr/>
          <p:nvPr userDrawn="1"/>
        </p:nvSpPr>
        <p:spPr>
          <a:xfrm>
            <a:off x="-2473" y="3840397"/>
            <a:ext cx="8690760" cy="144016"/>
          </a:xfrm>
          <a:custGeom>
            <a:avLst/>
            <a:gdLst>
              <a:gd name="connsiteX0" fmla="*/ 0 w 6516215"/>
              <a:gd name="connsiteY0" fmla="*/ 144016 h 144016"/>
              <a:gd name="connsiteX1" fmla="*/ 79565 w 6516215"/>
              <a:gd name="connsiteY1" fmla="*/ 0 h 144016"/>
              <a:gd name="connsiteX2" fmla="*/ 6516215 w 6516215"/>
              <a:gd name="connsiteY2" fmla="*/ 0 h 144016"/>
              <a:gd name="connsiteX3" fmla="*/ 6436650 w 6516215"/>
              <a:gd name="connsiteY3" fmla="*/ 144016 h 144016"/>
              <a:gd name="connsiteX4" fmla="*/ 0 w 6516215"/>
              <a:gd name="connsiteY4" fmla="*/ 144016 h 144016"/>
              <a:gd name="connsiteX0-1" fmla="*/ 1855 w 6518070"/>
              <a:gd name="connsiteY0-2" fmla="*/ 144016 h 144016"/>
              <a:gd name="connsiteX1-3" fmla="*/ 0 w 6518070"/>
              <a:gd name="connsiteY1-4" fmla="*/ 0 h 144016"/>
              <a:gd name="connsiteX2-5" fmla="*/ 6518070 w 6518070"/>
              <a:gd name="connsiteY2-6" fmla="*/ 0 h 144016"/>
              <a:gd name="connsiteX3-7" fmla="*/ 6438505 w 6518070"/>
              <a:gd name="connsiteY3-8" fmla="*/ 144016 h 144016"/>
              <a:gd name="connsiteX4-9" fmla="*/ 1855 w 6518070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518070" h="144016">
                <a:moveTo>
                  <a:pt x="1855" y="144016"/>
                </a:moveTo>
                <a:cubicBezTo>
                  <a:pt x="1237" y="96011"/>
                  <a:pt x="618" y="48005"/>
                  <a:pt x="0" y="0"/>
                </a:cubicBezTo>
                <a:lnTo>
                  <a:pt x="6518070" y="0"/>
                </a:lnTo>
                <a:lnTo>
                  <a:pt x="6438505" y="144016"/>
                </a:lnTo>
                <a:lnTo>
                  <a:pt x="1855" y="144016"/>
                </a:lnTo>
                <a:close/>
              </a:path>
            </a:pathLst>
          </a:custGeom>
          <a:solidFill>
            <a:srgbClr val="0971CE"/>
          </a:solidFill>
          <a:ln>
            <a:solidFill>
              <a:srgbClr val="156B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1" name="平行四边形 20"/>
          <p:cNvSpPr/>
          <p:nvPr userDrawn="1"/>
        </p:nvSpPr>
        <p:spPr>
          <a:xfrm>
            <a:off x="4865179" y="979632"/>
            <a:ext cx="7326821" cy="674618"/>
          </a:xfrm>
          <a:prstGeom prst="parallelogram">
            <a:avLst>
              <a:gd name="adj" fmla="val 23419"/>
            </a:avLst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" name="矩形 13"/>
          <p:cNvSpPr/>
          <p:nvPr userDrawn="1"/>
        </p:nvSpPr>
        <p:spPr>
          <a:xfrm>
            <a:off x="-24679" y="1752166"/>
            <a:ext cx="12241021" cy="2016222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sz="3600" b="1" kern="1200" spc="0" dirty="0">
              <a:gradFill>
                <a:gsLst>
                  <a:gs pos="0">
                    <a:schemeClr val="bg1"/>
                  </a:gs>
                  <a:gs pos="100000">
                    <a:schemeClr val="bg1"/>
                  </a:gs>
                </a:gsLst>
                <a:lin ang="54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320" y="53625"/>
            <a:ext cx="3027010" cy="795287"/>
          </a:xfrm>
          <a:prstGeom prst="rect">
            <a:avLst/>
          </a:prstGeom>
        </p:spPr>
      </p:pic>
      <p:sp>
        <p:nvSpPr>
          <p:cNvPr id="3" name="文本占位符 2"/>
          <p:cNvSpPr>
            <a:spLocks noGrp="1"/>
          </p:cNvSpPr>
          <p:nvPr>
            <p:ph type="body" sz="quarter" idx="10" hasCustomPrompt="1"/>
          </p:nvPr>
        </p:nvSpPr>
        <p:spPr>
          <a:xfrm>
            <a:off x="-2472" y="1760132"/>
            <a:ext cx="12216681" cy="1978581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50000"/>
              </a:lnSpc>
              <a:spcBef>
                <a:spcPts val="0"/>
              </a:spcBef>
              <a:buFontTx/>
              <a:buNone/>
              <a:defRPr sz="36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项目名称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>
          <a:xfrm>
            <a:off x="5075887" y="995600"/>
            <a:ext cx="6867144" cy="642683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Tx/>
              <a:buNone/>
              <a:defRPr lang="zh-CN" altLang="en-US" sz="1800" b="0" kern="1200" spc="0" dirty="0">
                <a:solidFill>
                  <a:srgbClr val="003F98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endParaRPr lang="zh-CN" altLang="en-US" dirty="0"/>
          </a:p>
        </p:txBody>
      </p:sp>
      <p:pic>
        <p:nvPicPr>
          <p:cNvPr id="2" name="图片 1" descr="徽标&#10;&#10;描述已自动生成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23685" y="818710"/>
            <a:ext cx="1078695" cy="996462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15480" y="947996"/>
            <a:ext cx="3000750" cy="737890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4737227" y="6174305"/>
            <a:ext cx="27172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85E2E6C-F381-460C-ADED-E98908E73335}" type="datetime2">
              <a:rPr lang="zh-CN" altLang="en-US" sz="2400" b="1" smtClean="0">
                <a:solidFill>
                  <a:srgbClr val="0567B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2400" b="1" dirty="0">
              <a:solidFill>
                <a:srgbClr val="0567B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3600" b="1" kern="1200" dirty="0">
                <a:solidFill>
                  <a:srgbClr val="3D58A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平行四边形 9"/>
          <p:cNvSpPr/>
          <p:nvPr userDrawn="1"/>
        </p:nvSpPr>
        <p:spPr>
          <a:xfrm>
            <a:off x="8688288" y="720822"/>
            <a:ext cx="3503712" cy="72008"/>
          </a:xfrm>
          <a:custGeom>
            <a:avLst/>
            <a:gdLst>
              <a:gd name="connsiteX0" fmla="*/ 0 w 2627784"/>
              <a:gd name="connsiteY0" fmla="*/ 144016 h 144016"/>
              <a:gd name="connsiteX1" fmla="*/ 79565 w 2627784"/>
              <a:gd name="connsiteY1" fmla="*/ 0 h 144016"/>
              <a:gd name="connsiteX2" fmla="*/ 2627784 w 2627784"/>
              <a:gd name="connsiteY2" fmla="*/ 0 h 144016"/>
              <a:gd name="connsiteX3" fmla="*/ 2548219 w 2627784"/>
              <a:gd name="connsiteY3" fmla="*/ 144016 h 144016"/>
              <a:gd name="connsiteX4" fmla="*/ 0 w 2627784"/>
              <a:gd name="connsiteY4" fmla="*/ 144016 h 144016"/>
              <a:gd name="connsiteX0-1" fmla="*/ 0 w 2627784"/>
              <a:gd name="connsiteY0-2" fmla="*/ 144016 h 144016"/>
              <a:gd name="connsiteX1-3" fmla="*/ 79565 w 2627784"/>
              <a:gd name="connsiteY1-4" fmla="*/ 0 h 144016"/>
              <a:gd name="connsiteX2-5" fmla="*/ 2627784 w 2627784"/>
              <a:gd name="connsiteY2-6" fmla="*/ 0 h 144016"/>
              <a:gd name="connsiteX3-7" fmla="*/ 2626507 w 2627784"/>
              <a:gd name="connsiteY3-8" fmla="*/ 140885 h 144016"/>
              <a:gd name="connsiteX4-9" fmla="*/ 0 w 2627784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627784" h="144016">
                <a:moveTo>
                  <a:pt x="0" y="144016"/>
                </a:moveTo>
                <a:lnTo>
                  <a:pt x="79565" y="0"/>
                </a:lnTo>
                <a:lnTo>
                  <a:pt x="2627784" y="0"/>
                </a:lnTo>
                <a:cubicBezTo>
                  <a:pt x="2627358" y="46962"/>
                  <a:pt x="2626933" y="93923"/>
                  <a:pt x="2626507" y="140885"/>
                </a:cubicBezTo>
                <a:lnTo>
                  <a:pt x="0" y="144016"/>
                </a:lnTo>
                <a:close/>
              </a:path>
            </a:pathLst>
          </a:cu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4" name="平行四边形 10"/>
          <p:cNvSpPr/>
          <p:nvPr userDrawn="1"/>
        </p:nvSpPr>
        <p:spPr>
          <a:xfrm>
            <a:off x="-2473" y="720822"/>
            <a:ext cx="8690760" cy="72008"/>
          </a:xfrm>
          <a:custGeom>
            <a:avLst/>
            <a:gdLst>
              <a:gd name="connsiteX0" fmla="*/ 0 w 6516215"/>
              <a:gd name="connsiteY0" fmla="*/ 144016 h 144016"/>
              <a:gd name="connsiteX1" fmla="*/ 79565 w 6516215"/>
              <a:gd name="connsiteY1" fmla="*/ 0 h 144016"/>
              <a:gd name="connsiteX2" fmla="*/ 6516215 w 6516215"/>
              <a:gd name="connsiteY2" fmla="*/ 0 h 144016"/>
              <a:gd name="connsiteX3" fmla="*/ 6436650 w 6516215"/>
              <a:gd name="connsiteY3" fmla="*/ 144016 h 144016"/>
              <a:gd name="connsiteX4" fmla="*/ 0 w 6516215"/>
              <a:gd name="connsiteY4" fmla="*/ 144016 h 144016"/>
              <a:gd name="connsiteX0-1" fmla="*/ 1855 w 6518070"/>
              <a:gd name="connsiteY0-2" fmla="*/ 144016 h 144016"/>
              <a:gd name="connsiteX1-3" fmla="*/ 0 w 6518070"/>
              <a:gd name="connsiteY1-4" fmla="*/ 0 h 144016"/>
              <a:gd name="connsiteX2-5" fmla="*/ 6518070 w 6518070"/>
              <a:gd name="connsiteY2-6" fmla="*/ 0 h 144016"/>
              <a:gd name="connsiteX3-7" fmla="*/ 6438505 w 6518070"/>
              <a:gd name="connsiteY3-8" fmla="*/ 144016 h 144016"/>
              <a:gd name="connsiteX4-9" fmla="*/ 1855 w 6518070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518070" h="144016">
                <a:moveTo>
                  <a:pt x="1855" y="144016"/>
                </a:moveTo>
                <a:cubicBezTo>
                  <a:pt x="1237" y="96011"/>
                  <a:pt x="618" y="48005"/>
                  <a:pt x="0" y="0"/>
                </a:cubicBezTo>
                <a:lnTo>
                  <a:pt x="6518070" y="0"/>
                </a:lnTo>
                <a:lnTo>
                  <a:pt x="6438505" y="144016"/>
                </a:lnTo>
                <a:lnTo>
                  <a:pt x="1855" y="144016"/>
                </a:lnTo>
                <a:close/>
              </a:path>
            </a:pathLst>
          </a:custGeom>
          <a:solidFill>
            <a:srgbClr val="0971CE"/>
          </a:solidFill>
          <a:ln>
            <a:solidFill>
              <a:srgbClr val="156B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>
          <a:xfrm flipV="1">
            <a:off x="321907" y="6362541"/>
            <a:ext cx="11532469" cy="45719"/>
          </a:xfrm>
          <a:prstGeom prst="rect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133284"/>
            <a:ext cx="12192000" cy="1534133"/>
          </a:xfrm>
          <a:prstGeom prst="rect">
            <a:avLst/>
          </a:prstGeom>
        </p:spPr>
      </p:pic>
      <p:sp>
        <p:nvSpPr>
          <p:cNvPr id="8" name="椭圆 7"/>
          <p:cNvSpPr/>
          <p:nvPr userDrawn="1"/>
        </p:nvSpPr>
        <p:spPr>
          <a:xfrm>
            <a:off x="5424508" y="1918440"/>
            <a:ext cx="1342985" cy="980997"/>
          </a:xfrm>
          <a:prstGeom prst="ellipse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60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0"/>
                </a:gra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1</a:t>
            </a:r>
            <a:endParaRPr lang="zh-CN" altLang="en-US" sz="6000" b="1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0"/>
              </a:gra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" name="椭圆 8"/>
          <p:cNvSpPr/>
          <p:nvPr userDrawn="1"/>
        </p:nvSpPr>
        <p:spPr>
          <a:xfrm>
            <a:off x="5585452" y="2026026"/>
            <a:ext cx="1021096" cy="765822"/>
          </a:xfrm>
          <a:prstGeom prst="ellipse">
            <a:avLst/>
          </a:prstGeom>
          <a:solidFill>
            <a:srgbClr val="005AAA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0" name="标题 1"/>
          <p:cNvSpPr>
            <a:spLocks noGrp="1"/>
          </p:cNvSpPr>
          <p:nvPr>
            <p:ph type="title" hasCustomPrompt="1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3D58A7"/>
                </a:solidFill>
              </a:defRPr>
            </a:lvl1pPr>
          </a:lstStyle>
          <a:p>
            <a:r>
              <a:rPr lang="zh-CN" altLang="en-US" dirty="0"/>
              <a:t>汇报提纲</a:t>
            </a:r>
            <a:endParaRPr lang="zh-CN" altLang="en-US" dirty="0"/>
          </a:p>
        </p:txBody>
      </p:sp>
      <p:sp>
        <p:nvSpPr>
          <p:cNvPr id="11" name="标题 1"/>
          <p:cNvSpPr txBox="1"/>
          <p:nvPr userDrawn="1"/>
        </p:nvSpPr>
        <p:spPr>
          <a:xfrm>
            <a:off x="5585452" y="2185248"/>
            <a:ext cx="1021096" cy="692978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3600" b="1" kern="1200" dirty="0" smtClean="0">
                <a:solidFill>
                  <a:srgbClr val="3D58A7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ctr"/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标题 1"/>
          <p:cNvSpPr txBox="1"/>
          <p:nvPr userDrawn="1"/>
        </p:nvSpPr>
        <p:spPr>
          <a:xfrm>
            <a:off x="0" y="3553860"/>
            <a:ext cx="12192000" cy="692978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3600" b="1" kern="1200" dirty="0" smtClean="0">
                <a:solidFill>
                  <a:srgbClr val="3D58A7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ctr"/>
            <a:endParaRPr lang="zh-CN" altLang="en-US" sz="4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标题 1"/>
          <p:cNvSpPr txBox="1"/>
          <p:nvPr userDrawn="1"/>
        </p:nvSpPr>
        <p:spPr>
          <a:xfrm>
            <a:off x="5675954" y="2174061"/>
            <a:ext cx="810581" cy="692978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3600" b="1" kern="1200" dirty="0" smtClean="0">
                <a:solidFill>
                  <a:srgbClr val="3D58A7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ctr"/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21" name="文本占位符 20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3554413"/>
            <a:ext cx="12192000" cy="914400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</p:txBody>
      </p:sp>
      <p:sp>
        <p:nvSpPr>
          <p:cNvPr id="23" name="文本占位符 22"/>
          <p:cNvSpPr>
            <a:spLocks noGrp="1"/>
          </p:cNvSpPr>
          <p:nvPr>
            <p:ph type="body" sz="quarter" idx="11" hasCustomPrompt="1"/>
          </p:nvPr>
        </p:nvSpPr>
        <p:spPr>
          <a:xfrm>
            <a:off x="5632140" y="2125081"/>
            <a:ext cx="927717" cy="6642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en-US" altLang="zh-CN" dirty="0"/>
              <a:t>1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ldLvl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>
              <a:defRPr lang="zh-CN" altLang="en-US" sz="3600" b="1" dirty="0">
                <a:solidFill>
                  <a:srgbClr val="3D58A7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0" hasCustomPrompt="1"/>
          </p:nvPr>
        </p:nvSpPr>
        <p:spPr>
          <a:xfrm>
            <a:off x="321906" y="1043736"/>
            <a:ext cx="11669039" cy="495055"/>
          </a:xfrm>
          <a:prstGeom prst="rect">
            <a:avLst/>
          </a:prstGeom>
        </p:spPr>
        <p:txBody>
          <a:bodyPr anchor="ctr"/>
          <a:lstStyle>
            <a:lvl1pPr marL="449580" indent="-449580">
              <a:buFont typeface="Wingdings" panose="05000000000000000000" pitchFamily="2" charset="2"/>
              <a:buChar char="n"/>
              <a:defRPr sz="2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>
              <a:buNone/>
              <a:defRPr/>
            </a:lvl2pPr>
          </a:lstStyle>
          <a:p>
            <a:pPr marL="449580" indent="-449580">
              <a:buFont typeface="Wingdings" panose="05000000000000000000" pitchFamily="2" charset="2"/>
              <a:buChar char="n"/>
            </a:pPr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</a:t>
            </a:r>
            <a:endParaRPr lang="zh-CN" altLang="en-US" sz="2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>
              <a:defRPr lang="zh-CN" altLang="en-US" sz="3600" b="1" dirty="0">
                <a:solidFill>
                  <a:srgbClr val="3D58A7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93"/>
          <a:stretch>
            <a:fillRect/>
          </a:stretch>
        </p:blipFill>
        <p:spPr>
          <a:xfrm>
            <a:off x="-24680" y="2081622"/>
            <a:ext cx="12241021" cy="2018755"/>
          </a:xfrm>
          <a:prstGeom prst="rect">
            <a:avLst/>
          </a:prstGeom>
        </p:spPr>
      </p:pic>
      <p:sp>
        <p:nvSpPr>
          <p:cNvPr id="16" name="平行四边形 9"/>
          <p:cNvSpPr/>
          <p:nvPr userDrawn="1"/>
        </p:nvSpPr>
        <p:spPr>
          <a:xfrm>
            <a:off x="8688288" y="4184457"/>
            <a:ext cx="3503712" cy="144016"/>
          </a:xfrm>
          <a:custGeom>
            <a:avLst/>
            <a:gdLst>
              <a:gd name="connsiteX0" fmla="*/ 0 w 2627784"/>
              <a:gd name="connsiteY0" fmla="*/ 144016 h 144016"/>
              <a:gd name="connsiteX1" fmla="*/ 79565 w 2627784"/>
              <a:gd name="connsiteY1" fmla="*/ 0 h 144016"/>
              <a:gd name="connsiteX2" fmla="*/ 2627784 w 2627784"/>
              <a:gd name="connsiteY2" fmla="*/ 0 h 144016"/>
              <a:gd name="connsiteX3" fmla="*/ 2548219 w 2627784"/>
              <a:gd name="connsiteY3" fmla="*/ 144016 h 144016"/>
              <a:gd name="connsiteX4" fmla="*/ 0 w 2627784"/>
              <a:gd name="connsiteY4" fmla="*/ 144016 h 144016"/>
              <a:gd name="connsiteX0-1" fmla="*/ 0 w 2627784"/>
              <a:gd name="connsiteY0-2" fmla="*/ 144016 h 144016"/>
              <a:gd name="connsiteX1-3" fmla="*/ 79565 w 2627784"/>
              <a:gd name="connsiteY1-4" fmla="*/ 0 h 144016"/>
              <a:gd name="connsiteX2-5" fmla="*/ 2627784 w 2627784"/>
              <a:gd name="connsiteY2-6" fmla="*/ 0 h 144016"/>
              <a:gd name="connsiteX3-7" fmla="*/ 2626507 w 2627784"/>
              <a:gd name="connsiteY3-8" fmla="*/ 140885 h 144016"/>
              <a:gd name="connsiteX4-9" fmla="*/ 0 w 2627784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627784" h="144016">
                <a:moveTo>
                  <a:pt x="0" y="144016"/>
                </a:moveTo>
                <a:lnTo>
                  <a:pt x="79565" y="0"/>
                </a:lnTo>
                <a:lnTo>
                  <a:pt x="2627784" y="0"/>
                </a:lnTo>
                <a:cubicBezTo>
                  <a:pt x="2627358" y="46962"/>
                  <a:pt x="2626933" y="93923"/>
                  <a:pt x="2626507" y="140885"/>
                </a:cubicBezTo>
                <a:lnTo>
                  <a:pt x="0" y="144016"/>
                </a:lnTo>
                <a:close/>
              </a:path>
            </a:pathLst>
          </a:cu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0" name="平行四边形 10"/>
          <p:cNvSpPr/>
          <p:nvPr userDrawn="1"/>
        </p:nvSpPr>
        <p:spPr>
          <a:xfrm>
            <a:off x="-2473" y="4184457"/>
            <a:ext cx="8690760" cy="144016"/>
          </a:xfrm>
          <a:custGeom>
            <a:avLst/>
            <a:gdLst>
              <a:gd name="connsiteX0" fmla="*/ 0 w 6516215"/>
              <a:gd name="connsiteY0" fmla="*/ 144016 h 144016"/>
              <a:gd name="connsiteX1" fmla="*/ 79565 w 6516215"/>
              <a:gd name="connsiteY1" fmla="*/ 0 h 144016"/>
              <a:gd name="connsiteX2" fmla="*/ 6516215 w 6516215"/>
              <a:gd name="connsiteY2" fmla="*/ 0 h 144016"/>
              <a:gd name="connsiteX3" fmla="*/ 6436650 w 6516215"/>
              <a:gd name="connsiteY3" fmla="*/ 144016 h 144016"/>
              <a:gd name="connsiteX4" fmla="*/ 0 w 6516215"/>
              <a:gd name="connsiteY4" fmla="*/ 144016 h 144016"/>
              <a:gd name="connsiteX0-1" fmla="*/ 1855 w 6518070"/>
              <a:gd name="connsiteY0-2" fmla="*/ 144016 h 144016"/>
              <a:gd name="connsiteX1-3" fmla="*/ 0 w 6518070"/>
              <a:gd name="connsiteY1-4" fmla="*/ 0 h 144016"/>
              <a:gd name="connsiteX2-5" fmla="*/ 6518070 w 6518070"/>
              <a:gd name="connsiteY2-6" fmla="*/ 0 h 144016"/>
              <a:gd name="connsiteX3-7" fmla="*/ 6438505 w 6518070"/>
              <a:gd name="connsiteY3-8" fmla="*/ 144016 h 144016"/>
              <a:gd name="connsiteX4-9" fmla="*/ 1855 w 6518070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518070" h="144016">
                <a:moveTo>
                  <a:pt x="1855" y="144016"/>
                </a:moveTo>
                <a:cubicBezTo>
                  <a:pt x="1237" y="96011"/>
                  <a:pt x="618" y="48005"/>
                  <a:pt x="0" y="0"/>
                </a:cubicBezTo>
                <a:lnTo>
                  <a:pt x="6518070" y="0"/>
                </a:lnTo>
                <a:lnTo>
                  <a:pt x="6438505" y="144016"/>
                </a:lnTo>
                <a:lnTo>
                  <a:pt x="1855" y="144016"/>
                </a:lnTo>
                <a:close/>
              </a:path>
            </a:pathLst>
          </a:custGeom>
          <a:solidFill>
            <a:srgbClr val="0971CE"/>
          </a:solidFill>
          <a:ln>
            <a:solidFill>
              <a:srgbClr val="156B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4" name="矩形 13"/>
          <p:cNvSpPr/>
          <p:nvPr userDrawn="1"/>
        </p:nvSpPr>
        <p:spPr>
          <a:xfrm>
            <a:off x="-24679" y="2096226"/>
            <a:ext cx="12241021" cy="2016222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5400" b="1" kern="1200" spc="0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谢谢大家 欢迎指正</a:t>
            </a:r>
            <a:endParaRPr lang="zh-CN" altLang="en-US" sz="5400" b="1" kern="1200" spc="0" dirty="0">
              <a:gradFill>
                <a:gsLst>
                  <a:gs pos="0">
                    <a:schemeClr val="bg1"/>
                  </a:gs>
                  <a:gs pos="100000">
                    <a:schemeClr val="bg1"/>
                  </a:gs>
                </a:gsLst>
                <a:lin ang="54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平行四边形 11"/>
          <p:cNvSpPr/>
          <p:nvPr userDrawn="1"/>
        </p:nvSpPr>
        <p:spPr>
          <a:xfrm>
            <a:off x="4865179" y="1358770"/>
            <a:ext cx="7326821" cy="674618"/>
          </a:xfrm>
          <a:prstGeom prst="parallelogram">
            <a:avLst>
              <a:gd name="adj" fmla="val 23419"/>
            </a:avLst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7" name="文本占位符 4"/>
          <p:cNvSpPr>
            <a:spLocks noGrp="1"/>
          </p:cNvSpPr>
          <p:nvPr>
            <p:ph type="body" sz="quarter" idx="11" hasCustomPrompt="1"/>
          </p:nvPr>
        </p:nvSpPr>
        <p:spPr>
          <a:xfrm>
            <a:off x="5075887" y="1367189"/>
            <a:ext cx="6867144" cy="642683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Tx/>
              <a:buNone/>
              <a:defRPr lang="zh-CN" altLang="en-US" sz="2000" b="0" kern="1200" spc="0" dirty="0">
                <a:solidFill>
                  <a:srgbClr val="003F98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智能信息处理与通信技术省高校重点实验室</a:t>
            </a:r>
            <a:endParaRPr lang="zh-CN" altLang="en-US" sz="1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320" y="53625"/>
            <a:ext cx="3027010" cy="795287"/>
          </a:xfrm>
          <a:prstGeom prst="rect">
            <a:avLst/>
          </a:prstGeom>
        </p:spPr>
      </p:pic>
      <p:pic>
        <p:nvPicPr>
          <p:cNvPr id="3" name="图片 2" descr="徽标&#10;&#10;描述已自动生成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23685" y="1133745"/>
            <a:ext cx="1078695" cy="996462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15480" y="1263031"/>
            <a:ext cx="3000750" cy="73789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46" y="124241"/>
            <a:ext cx="3813608" cy="91949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文本占位符 8"/>
          <p:cNvSpPr>
            <a:spLocks noGrp="1"/>
          </p:cNvSpPr>
          <p:nvPr>
            <p:ph type="body" sz="quarter" idx="10" hasCustomPrompt="1"/>
          </p:nvPr>
        </p:nvSpPr>
        <p:spPr>
          <a:xfrm>
            <a:off x="35328" y="1444685"/>
            <a:ext cx="12156673" cy="91440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lang="zh-CN" altLang="en-US" sz="5400" b="1" kern="12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/>
            <a:r>
              <a:rPr lang="zh-CN" altLang="en-US" dirty="0"/>
              <a:t>热烈欢迎</a:t>
            </a:r>
            <a:endParaRPr lang="zh-CN" altLang="en-US" dirty="0"/>
          </a:p>
        </p:txBody>
      </p:sp>
      <p:sp>
        <p:nvSpPr>
          <p:cNvPr id="10" name="文本占位符 8"/>
          <p:cNvSpPr>
            <a:spLocks noGrp="1"/>
          </p:cNvSpPr>
          <p:nvPr>
            <p:ph type="body" sz="quarter" idx="11" hasCustomPrompt="1"/>
          </p:nvPr>
        </p:nvSpPr>
        <p:spPr>
          <a:xfrm>
            <a:off x="35328" y="2669073"/>
            <a:ext cx="12156673" cy="91440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lang="zh-CN" altLang="en-US" sz="4800" b="1" kern="12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/>
            <a:r>
              <a:rPr lang="zh-CN" altLang="en-US" dirty="0"/>
              <a:t>南京邮电大学</a:t>
            </a:r>
            <a:endParaRPr lang="zh-CN" altLang="en-US" dirty="0"/>
          </a:p>
        </p:txBody>
      </p:sp>
      <p:sp>
        <p:nvSpPr>
          <p:cNvPr id="11" name="文本占位符 8"/>
          <p:cNvSpPr>
            <a:spLocks noGrp="1"/>
          </p:cNvSpPr>
          <p:nvPr>
            <p:ph type="body" sz="quarter" idx="12" hasCustomPrompt="1"/>
          </p:nvPr>
        </p:nvSpPr>
        <p:spPr>
          <a:xfrm>
            <a:off x="35326" y="3846909"/>
            <a:ext cx="12156673" cy="91440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lang="zh-CN" altLang="en-US" sz="4000" b="1" kern="12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/>
            <a:r>
              <a:rPr lang="zh-CN" altLang="en-US" dirty="0"/>
              <a:t>莅临南京邮电大学边缘智能研究院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6150" y="176662"/>
            <a:ext cx="4612734" cy="56790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4992201" y="5787468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6891E28-1E21-4621-B9C7-5A0B3731C0FC}" type="datetime2">
              <a:rPr lang="zh-CN" altLang="en-US" sz="2400" b="1" kern="1200" smtClean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lang="zh-CN" altLang="en-US" sz="2400" b="1" kern="12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42"/>
          <p:cNvGrpSpPr/>
          <p:nvPr userDrawn="1"/>
        </p:nvGrpSpPr>
        <p:grpSpPr bwMode="auto">
          <a:xfrm>
            <a:off x="337752" y="998731"/>
            <a:ext cx="4438101" cy="2161665"/>
            <a:chOff x="3188065" y="1778329"/>
            <a:chExt cx="2489174" cy="2267160"/>
          </a:xfrm>
        </p:grpSpPr>
        <p:sp>
          <p:nvSpPr>
            <p:cNvPr id="3" name="圆角矩形 14"/>
            <p:cNvSpPr>
              <a:spLocks noChangeArrowheads="1"/>
            </p:cNvSpPr>
            <p:nvPr/>
          </p:nvSpPr>
          <p:spPr bwMode="auto">
            <a:xfrm>
              <a:off x="3188065" y="1778329"/>
              <a:ext cx="2489174" cy="2267160"/>
            </a:xfrm>
            <a:prstGeom prst="roundRect">
              <a:avLst>
                <a:gd name="adj" fmla="val 5015"/>
              </a:avLst>
            </a:prstGeom>
            <a:solidFill>
              <a:schemeClr val="bg1"/>
            </a:solidFill>
            <a:ln w="6350">
              <a:solidFill>
                <a:srgbClr val="0971CE"/>
              </a:solidFill>
              <a:prstDash val="dash"/>
              <a:round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ct val="135000"/>
                </a:lnSpc>
                <a:spcBef>
                  <a:spcPts val="1200"/>
                </a:spcBef>
                <a:spcAft>
                  <a:spcPts val="1200"/>
                </a:spcAft>
                <a:buClr>
                  <a:srgbClr val="202A36"/>
                </a:buClr>
                <a:buFontTx/>
                <a:buNone/>
              </a:pPr>
              <a:endParaRPr lang="zh-CN" altLang="en-US" sz="1600"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3188436" y="1850969"/>
              <a:ext cx="2488803" cy="458308"/>
            </a:xfrm>
            <a:prstGeom prst="rect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600" dirty="0">
                <a:ln w="11430"/>
                <a:gradFill>
                  <a:gsLst>
                    <a:gs pos="25000">
                      <a:schemeClr val="bg1"/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/>
                </a:gra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  <p:sp>
        <p:nvSpPr>
          <p:cNvPr id="5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00867" y="3322513"/>
            <a:ext cx="4819411" cy="448095"/>
          </a:xfrm>
          <a:prstGeom prst="rect">
            <a:avLst/>
          </a:prstGeom>
        </p:spPr>
        <p:txBody>
          <a:bodyPr anchor="ctr"/>
          <a:lstStyle>
            <a:lvl1pPr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1" hasCustomPrompt="1"/>
          </p:nvPr>
        </p:nvSpPr>
        <p:spPr>
          <a:xfrm>
            <a:off x="343970" y="1036659"/>
            <a:ext cx="4431884" cy="448095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6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7" name="圆角矩形 6"/>
          <p:cNvSpPr/>
          <p:nvPr userDrawn="1"/>
        </p:nvSpPr>
        <p:spPr>
          <a:xfrm>
            <a:off x="2975653" y="4734146"/>
            <a:ext cx="8628464" cy="978835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6000" rtlCol="0" anchor="ctr"/>
          <a:lstStyle/>
          <a:p>
            <a:pPr>
              <a:lnSpc>
                <a:spcPct val="135000"/>
              </a:lnSpc>
            </a:pPr>
            <a:endParaRPr lang="en-US" altLang="zh-CN" sz="1600" dirty="0">
              <a:ln w="11430"/>
              <a:gradFill>
                <a:gsLst>
                  <a:gs pos="0">
                    <a:schemeClr val="tx1">
                      <a:lumMod val="95000"/>
                      <a:lumOff val="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圆角矩形 7"/>
          <p:cNvSpPr/>
          <p:nvPr userDrawn="1"/>
        </p:nvSpPr>
        <p:spPr>
          <a:xfrm>
            <a:off x="754781" y="4820051"/>
            <a:ext cx="1805651" cy="807022"/>
          </a:xfrm>
          <a:prstGeom prst="round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endParaRPr lang="zh-CN" altLang="zh-CN" sz="18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右箭头 8"/>
          <p:cNvSpPr/>
          <p:nvPr userDrawn="1"/>
        </p:nvSpPr>
        <p:spPr>
          <a:xfrm>
            <a:off x="2629147" y="5102028"/>
            <a:ext cx="277792" cy="243068"/>
          </a:xfrm>
          <a:prstGeom prst="rightArrow">
            <a:avLst/>
          </a:prstGeom>
          <a:solidFill>
            <a:srgbClr val="003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0" name="文本占位符 19"/>
          <p:cNvSpPr>
            <a:spLocks noGrp="1"/>
          </p:cNvSpPr>
          <p:nvPr>
            <p:ph type="body" sz="quarter" idx="12" hasCustomPrompt="1"/>
          </p:nvPr>
        </p:nvSpPr>
        <p:spPr>
          <a:xfrm>
            <a:off x="755407" y="4820855"/>
            <a:ext cx="1791565" cy="806218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lang="zh-CN" altLang="en-US" sz="1800" b="1" kern="12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en-US" altLang="zh-CN" dirty="0"/>
          </a:p>
        </p:txBody>
      </p:sp>
      <p:sp>
        <p:nvSpPr>
          <p:cNvPr id="11" name="文本占位符 21"/>
          <p:cNvSpPr>
            <a:spLocks noGrp="1"/>
          </p:cNvSpPr>
          <p:nvPr>
            <p:ph type="body" sz="quarter" idx="13" hasCustomPrompt="1"/>
          </p:nvPr>
        </p:nvSpPr>
        <p:spPr>
          <a:xfrm>
            <a:off x="3092339" y="4766362"/>
            <a:ext cx="8344255" cy="914400"/>
          </a:xfrm>
          <a:prstGeom prst="rect">
            <a:avLst/>
          </a:prstGeom>
        </p:spPr>
        <p:txBody>
          <a:bodyPr anchor="ctr"/>
          <a:lstStyle>
            <a:lvl1pPr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en-US" altLang="zh-CN" dirty="0"/>
          </a:p>
        </p:txBody>
      </p:sp>
      <p:sp>
        <p:nvSpPr>
          <p:cNvPr id="12" name="矩形 11"/>
          <p:cNvSpPr/>
          <p:nvPr userDrawn="1"/>
        </p:nvSpPr>
        <p:spPr>
          <a:xfrm>
            <a:off x="6270435" y="1529346"/>
            <a:ext cx="5166159" cy="863797"/>
          </a:xfrm>
          <a:prstGeom prst="rect">
            <a:avLst/>
          </a:prstGeom>
          <a:noFill/>
          <a:ln w="6350">
            <a:solidFill>
              <a:srgbClr val="003F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圆角矩形 12"/>
          <p:cNvSpPr/>
          <p:nvPr userDrawn="1"/>
        </p:nvSpPr>
        <p:spPr>
          <a:xfrm>
            <a:off x="6389169" y="1637929"/>
            <a:ext cx="835936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管理部门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34"/>
          <p:cNvSpPr>
            <a:spLocks noChangeArrowheads="1"/>
          </p:cNvSpPr>
          <p:nvPr userDrawn="1"/>
        </p:nvSpPr>
        <p:spPr bwMode="auto">
          <a:xfrm>
            <a:off x="5641670" y="1521639"/>
            <a:ext cx="628765" cy="879454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数据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对象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5" name="圆角矩形 14"/>
          <p:cNvSpPr/>
          <p:nvPr userDrawn="1"/>
        </p:nvSpPr>
        <p:spPr>
          <a:xfrm>
            <a:off x="7301540" y="1637929"/>
            <a:ext cx="861931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医疗机构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6" name="圆角矩形 15"/>
          <p:cNvSpPr/>
          <p:nvPr userDrawn="1"/>
        </p:nvSpPr>
        <p:spPr>
          <a:xfrm>
            <a:off x="7753106" y="2000368"/>
            <a:ext cx="895925" cy="295029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诊疗信息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7" name="圆角矩形 16"/>
          <p:cNvSpPr/>
          <p:nvPr userDrawn="1"/>
        </p:nvSpPr>
        <p:spPr>
          <a:xfrm>
            <a:off x="8731725" y="2008386"/>
            <a:ext cx="900887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随访信息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圆角矩形 17"/>
          <p:cNvSpPr/>
          <p:nvPr userDrawn="1"/>
        </p:nvSpPr>
        <p:spPr>
          <a:xfrm>
            <a:off x="9752824" y="2003199"/>
            <a:ext cx="981685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医保数据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圆角矩形 18"/>
          <p:cNvSpPr/>
          <p:nvPr userDrawn="1"/>
        </p:nvSpPr>
        <p:spPr>
          <a:xfrm>
            <a:off x="10466128" y="1637929"/>
            <a:ext cx="86357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研究机构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0" name="圆角矩形 19"/>
          <p:cNvSpPr/>
          <p:nvPr userDrawn="1"/>
        </p:nvSpPr>
        <p:spPr>
          <a:xfrm>
            <a:off x="6389169" y="2004379"/>
            <a:ext cx="1273152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患者基本信息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1" name="圆角矩形 20"/>
          <p:cNvSpPr/>
          <p:nvPr userDrawn="1"/>
        </p:nvSpPr>
        <p:spPr>
          <a:xfrm>
            <a:off x="8239905" y="1637929"/>
            <a:ext cx="662251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家庭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2" name="圆角矩形 21"/>
          <p:cNvSpPr/>
          <p:nvPr userDrawn="1"/>
        </p:nvSpPr>
        <p:spPr>
          <a:xfrm>
            <a:off x="8978591" y="1637929"/>
            <a:ext cx="69779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患者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圆角矩形 22"/>
          <p:cNvSpPr/>
          <p:nvPr userDrawn="1"/>
        </p:nvSpPr>
        <p:spPr>
          <a:xfrm>
            <a:off x="9752825" y="1637929"/>
            <a:ext cx="636868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企业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文本框 23"/>
          <p:cNvSpPr txBox="1"/>
          <p:nvPr userDrawn="1"/>
        </p:nvSpPr>
        <p:spPr>
          <a:xfrm>
            <a:off x="10734509" y="1981725"/>
            <a:ext cx="828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ṩlîḋé"/>
          <p:cNvSpPr/>
          <p:nvPr userDrawn="1"/>
        </p:nvSpPr>
        <p:spPr>
          <a:xfrm>
            <a:off x="755408" y="1448780"/>
            <a:ext cx="4896921" cy="1225864"/>
          </a:xfrm>
          <a:prstGeom prst="rect">
            <a:avLst/>
          </a:prstGeom>
          <a:solidFill>
            <a:schemeClr val="bg1"/>
          </a:solidFill>
          <a:ln w="76200">
            <a:solidFill>
              <a:srgbClr val="0971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800"/>
          </a:p>
        </p:txBody>
      </p:sp>
      <p:sp>
        <p:nvSpPr>
          <p:cNvPr id="5" name="íslíḓe"/>
          <p:cNvSpPr/>
          <p:nvPr userDrawn="1"/>
        </p:nvSpPr>
        <p:spPr>
          <a:xfrm>
            <a:off x="411323" y="1696259"/>
            <a:ext cx="5527148" cy="768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800"/>
          </a:p>
        </p:txBody>
      </p:sp>
      <p:sp>
        <p:nvSpPr>
          <p:cNvPr id="6" name="矩形 5"/>
          <p:cNvSpPr/>
          <p:nvPr userDrawn="1"/>
        </p:nvSpPr>
        <p:spPr>
          <a:xfrm>
            <a:off x="838534" y="1590583"/>
            <a:ext cx="47478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000" noProof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文字</a:t>
            </a:r>
            <a:endParaRPr lang="en-US" altLang="zh-CN" sz="2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710021" y="1996871"/>
            <a:ext cx="49423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Clr>
                <a:srgbClr val="262672"/>
              </a:buClr>
            </a:pPr>
            <a:r>
              <a:rPr lang="zh-CN" altLang="en-US" sz="14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文字</a:t>
            </a:r>
            <a:endParaRPr lang="en-US" altLang="zh-CN" sz="14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 userDrawn="1"/>
        </p:nvCxnSpPr>
        <p:spPr>
          <a:xfrm>
            <a:off x="838534" y="2032122"/>
            <a:ext cx="4747801" cy="0"/>
          </a:xfrm>
          <a:prstGeom prst="line">
            <a:avLst/>
          </a:prstGeom>
          <a:ln>
            <a:solidFill>
              <a:schemeClr val="bg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ṩlîḋé"/>
          <p:cNvSpPr/>
          <p:nvPr userDrawn="1"/>
        </p:nvSpPr>
        <p:spPr>
          <a:xfrm>
            <a:off x="6487566" y="1448780"/>
            <a:ext cx="4896921" cy="1225864"/>
          </a:xfrm>
          <a:prstGeom prst="rect">
            <a:avLst/>
          </a:prstGeom>
          <a:solidFill>
            <a:schemeClr val="bg1"/>
          </a:solidFill>
          <a:ln w="76200">
            <a:solidFill>
              <a:srgbClr val="D3E4F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800"/>
          </a:p>
        </p:txBody>
      </p:sp>
      <p:sp>
        <p:nvSpPr>
          <p:cNvPr id="10" name="íslíḓe"/>
          <p:cNvSpPr/>
          <p:nvPr userDrawn="1"/>
        </p:nvSpPr>
        <p:spPr>
          <a:xfrm>
            <a:off x="6143482" y="1715218"/>
            <a:ext cx="5527148" cy="768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800"/>
          </a:p>
        </p:txBody>
      </p:sp>
      <p:sp>
        <p:nvSpPr>
          <p:cNvPr id="11" name="矩形 10"/>
          <p:cNvSpPr/>
          <p:nvPr userDrawn="1"/>
        </p:nvSpPr>
        <p:spPr>
          <a:xfrm>
            <a:off x="6570693" y="1609542"/>
            <a:ext cx="47478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000" noProof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文字</a:t>
            </a:r>
            <a:endParaRPr lang="en-US" altLang="zh-CN" sz="2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6044609" y="2015830"/>
            <a:ext cx="582392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Clr>
                <a:srgbClr val="262672"/>
              </a:buClr>
            </a:pPr>
            <a:r>
              <a:rPr lang="zh-CN" altLang="en-US" sz="14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文字</a:t>
            </a:r>
            <a:endParaRPr lang="en-US" altLang="zh-CN" sz="14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cxnSp>
        <p:nvCxnSpPr>
          <p:cNvPr id="13" name="直接连接符 12"/>
          <p:cNvCxnSpPr/>
          <p:nvPr userDrawn="1"/>
        </p:nvCxnSpPr>
        <p:spPr>
          <a:xfrm>
            <a:off x="6570693" y="2051081"/>
            <a:ext cx="4747801" cy="0"/>
          </a:xfrm>
          <a:prstGeom prst="line">
            <a:avLst/>
          </a:prstGeom>
          <a:ln>
            <a:solidFill>
              <a:schemeClr val="bg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/>
          <p:cNvSpPr/>
          <p:nvPr userDrawn="1"/>
        </p:nvSpPr>
        <p:spPr>
          <a:xfrm>
            <a:off x="2204524" y="3248980"/>
            <a:ext cx="1895613" cy="1421710"/>
          </a:xfrm>
          <a:prstGeom prst="ellipse">
            <a:avLst/>
          </a:prstGeom>
          <a:solidFill>
            <a:srgbClr val="0971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zh-CN" altLang="en-US" sz="2600" spc="5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文字</a:t>
            </a:r>
            <a:endParaRPr lang="en-US" altLang="zh-CN" sz="1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椭圆 14"/>
          <p:cNvSpPr/>
          <p:nvPr userDrawn="1"/>
        </p:nvSpPr>
        <p:spPr>
          <a:xfrm>
            <a:off x="4591952" y="3248980"/>
            <a:ext cx="1895613" cy="1421710"/>
          </a:xfrm>
          <a:prstGeom prst="ellipse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2600" spc="50" dirty="0">
                <a:ln w="11430"/>
                <a:solidFill>
                  <a:srgbClr val="003F9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文字</a:t>
            </a:r>
            <a:endParaRPr lang="zh-CN" altLang="en-US" sz="1800" dirty="0">
              <a:solidFill>
                <a:srgbClr val="003F9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椭圆 15"/>
          <p:cNvSpPr/>
          <p:nvPr userDrawn="1"/>
        </p:nvSpPr>
        <p:spPr>
          <a:xfrm>
            <a:off x="6979380" y="3248980"/>
            <a:ext cx="1895613" cy="1421710"/>
          </a:xfrm>
          <a:prstGeom prst="ellipse">
            <a:avLst/>
          </a:prstGeom>
          <a:solidFill>
            <a:srgbClr val="003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2600" spc="5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文字</a:t>
            </a:r>
            <a:endParaRPr lang="en-US" altLang="zh-CN" sz="1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/>
          <p:cNvSpPr/>
          <p:nvPr userDrawn="1"/>
        </p:nvSpPr>
        <p:spPr>
          <a:xfrm>
            <a:off x="9614877" y="527934"/>
            <a:ext cx="2257649" cy="2320782"/>
          </a:xfrm>
          <a:prstGeom prst="roundRect">
            <a:avLst/>
          </a:prstGeom>
          <a:solidFill>
            <a:srgbClr val="003F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矩形 2"/>
          <p:cNvSpPr/>
          <p:nvPr userDrawn="1"/>
        </p:nvSpPr>
        <p:spPr>
          <a:xfrm>
            <a:off x="9632772" y="1363110"/>
            <a:ext cx="2257648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</a:pPr>
            <a:r>
              <a:rPr lang="zh-CN" altLang="en-US" sz="2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</a:t>
            </a:r>
            <a:endParaRPr lang="en-US" altLang="zh-CN" sz="2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695401" y="503676"/>
            <a:ext cx="8344396" cy="2345041"/>
          </a:xfrm>
          <a:prstGeom prst="rect">
            <a:avLst/>
          </a:prstGeom>
          <a:noFill/>
          <a:ln w="6350">
            <a:solidFill>
              <a:srgbClr val="0971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009260" y="713101"/>
            <a:ext cx="5497133" cy="430811"/>
            <a:chOff x="734158" y="1580869"/>
            <a:chExt cx="4122850" cy="430811"/>
          </a:xfrm>
        </p:grpSpPr>
        <p:sp>
          <p:nvSpPr>
            <p:cNvPr id="6" name="圆角矩形 5"/>
            <p:cNvSpPr/>
            <p:nvPr/>
          </p:nvSpPr>
          <p:spPr>
            <a:xfrm>
              <a:off x="734158" y="1580869"/>
              <a:ext cx="4122850" cy="430811"/>
            </a:xfrm>
            <a:prstGeom prst="roundRect">
              <a:avLst/>
            </a:prstGeom>
            <a:solidFill>
              <a:srgbClr val="0971C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7" name="矩形 6"/>
            <p:cNvSpPr/>
            <p:nvPr/>
          </p:nvSpPr>
          <p:spPr>
            <a:xfrm>
              <a:off x="734158" y="1611608"/>
              <a:ext cx="412285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1200"/>
                </a:spcAft>
              </a:pPr>
              <a:r>
                <a:rPr lang="en-US" altLang="zh-CN" sz="1800" spc="5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 </a:t>
              </a:r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/>
          <p:cNvGrpSpPr/>
          <p:nvPr userDrawn="1"/>
        </p:nvGrpSpPr>
        <p:grpSpPr>
          <a:xfrm>
            <a:off x="1009259" y="1472641"/>
            <a:ext cx="5497135" cy="430811"/>
            <a:chOff x="734157" y="2306214"/>
            <a:chExt cx="4122851" cy="430811"/>
          </a:xfrm>
        </p:grpSpPr>
        <p:sp>
          <p:nvSpPr>
            <p:cNvPr id="9" name="圆角矩形 8"/>
            <p:cNvSpPr/>
            <p:nvPr/>
          </p:nvSpPr>
          <p:spPr>
            <a:xfrm>
              <a:off x="734158" y="2306214"/>
              <a:ext cx="4122850" cy="430811"/>
            </a:xfrm>
            <a:prstGeom prst="roundRect">
              <a:avLst/>
            </a:prstGeom>
            <a:solidFill>
              <a:srgbClr val="0971C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0" name="矩形 9"/>
            <p:cNvSpPr/>
            <p:nvPr/>
          </p:nvSpPr>
          <p:spPr>
            <a:xfrm>
              <a:off x="734157" y="2336953"/>
              <a:ext cx="412285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1200"/>
                </a:spcAft>
              </a:pPr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1" name="组合 10"/>
          <p:cNvGrpSpPr/>
          <p:nvPr userDrawn="1"/>
        </p:nvGrpSpPr>
        <p:grpSpPr>
          <a:xfrm>
            <a:off x="1009257" y="2232180"/>
            <a:ext cx="5497136" cy="507831"/>
            <a:chOff x="734156" y="3099948"/>
            <a:chExt cx="4122852" cy="507831"/>
          </a:xfrm>
        </p:grpSpPr>
        <p:sp>
          <p:nvSpPr>
            <p:cNvPr id="12" name="圆角矩形 11"/>
            <p:cNvSpPr/>
            <p:nvPr/>
          </p:nvSpPr>
          <p:spPr>
            <a:xfrm>
              <a:off x="734158" y="3113997"/>
              <a:ext cx="4122850" cy="430811"/>
            </a:xfrm>
            <a:prstGeom prst="roundRect">
              <a:avLst/>
            </a:prstGeom>
            <a:solidFill>
              <a:srgbClr val="0971C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3" name="矩形 12"/>
            <p:cNvSpPr/>
            <p:nvPr/>
          </p:nvSpPr>
          <p:spPr>
            <a:xfrm>
              <a:off x="734156" y="3099948"/>
              <a:ext cx="4110593" cy="5078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spcBef>
                  <a:spcPts val="600"/>
                </a:spcBef>
                <a:spcAft>
                  <a:spcPts val="1200"/>
                </a:spcAft>
              </a:pPr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 userDrawn="1"/>
        </p:nvGrpSpPr>
        <p:grpSpPr>
          <a:xfrm>
            <a:off x="6807491" y="559873"/>
            <a:ext cx="1992605" cy="618118"/>
            <a:chOff x="5439081" y="1380142"/>
            <a:chExt cx="1494454" cy="618118"/>
          </a:xfrm>
        </p:grpSpPr>
        <p:sp>
          <p:nvSpPr>
            <p:cNvPr id="15" name="圆角矩形 14"/>
            <p:cNvSpPr/>
            <p:nvPr/>
          </p:nvSpPr>
          <p:spPr>
            <a:xfrm>
              <a:off x="5439081" y="1518673"/>
              <a:ext cx="1494454" cy="430811"/>
            </a:xfrm>
            <a:prstGeom prst="roundRect">
              <a:avLst/>
            </a:prstGeom>
            <a:solidFill>
              <a:srgbClr val="0971C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6" name="矩形 15"/>
            <p:cNvSpPr/>
            <p:nvPr/>
          </p:nvSpPr>
          <p:spPr>
            <a:xfrm>
              <a:off x="5439081" y="1380142"/>
              <a:ext cx="1494454" cy="61811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ts val="4100"/>
                </a:lnSpc>
                <a:spcBef>
                  <a:spcPts val="600"/>
                </a:spcBef>
                <a:spcAft>
                  <a:spcPts val="1200"/>
                </a:spcAft>
              </a:pPr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7" name="组合 16"/>
          <p:cNvGrpSpPr/>
          <p:nvPr userDrawn="1"/>
        </p:nvGrpSpPr>
        <p:grpSpPr>
          <a:xfrm>
            <a:off x="6807491" y="1339467"/>
            <a:ext cx="1992605" cy="618118"/>
            <a:chOff x="5439081" y="2195402"/>
            <a:chExt cx="1494454" cy="618118"/>
          </a:xfrm>
        </p:grpSpPr>
        <p:sp>
          <p:nvSpPr>
            <p:cNvPr id="18" name="圆角矩形 17"/>
            <p:cNvSpPr/>
            <p:nvPr/>
          </p:nvSpPr>
          <p:spPr>
            <a:xfrm>
              <a:off x="5439081" y="2311668"/>
              <a:ext cx="1494454" cy="430811"/>
            </a:xfrm>
            <a:prstGeom prst="roundRect">
              <a:avLst/>
            </a:prstGeom>
            <a:solidFill>
              <a:srgbClr val="0971C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9" name="矩形 18"/>
            <p:cNvSpPr/>
            <p:nvPr/>
          </p:nvSpPr>
          <p:spPr>
            <a:xfrm>
              <a:off x="5943935" y="2195402"/>
              <a:ext cx="484748" cy="61811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>
                <a:lnSpc>
                  <a:spcPts val="4100"/>
                </a:lnSpc>
                <a:spcBef>
                  <a:spcPts val="600"/>
                </a:spcBef>
                <a:spcAft>
                  <a:spcPts val="1200"/>
                </a:spcAft>
              </a:pPr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0" name="组合 19"/>
          <p:cNvGrpSpPr/>
          <p:nvPr userDrawn="1"/>
        </p:nvGrpSpPr>
        <p:grpSpPr>
          <a:xfrm>
            <a:off x="6807491" y="2096796"/>
            <a:ext cx="1992605" cy="618118"/>
            <a:chOff x="5439081" y="2940815"/>
            <a:chExt cx="1494454" cy="618118"/>
          </a:xfrm>
        </p:grpSpPr>
        <p:sp>
          <p:nvSpPr>
            <p:cNvPr id="21" name="圆角矩形 20"/>
            <p:cNvSpPr/>
            <p:nvPr/>
          </p:nvSpPr>
          <p:spPr>
            <a:xfrm>
              <a:off x="5439081" y="3082942"/>
              <a:ext cx="1494454" cy="430811"/>
            </a:xfrm>
            <a:prstGeom prst="roundRect">
              <a:avLst/>
            </a:prstGeom>
            <a:solidFill>
              <a:srgbClr val="0971C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2" name="矩形 21"/>
            <p:cNvSpPr/>
            <p:nvPr/>
          </p:nvSpPr>
          <p:spPr>
            <a:xfrm>
              <a:off x="5943934" y="2940815"/>
              <a:ext cx="484748" cy="61811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>
                <a:lnSpc>
                  <a:spcPts val="4100"/>
                </a:lnSpc>
                <a:spcBef>
                  <a:spcPts val="600"/>
                </a:spcBef>
                <a:spcAft>
                  <a:spcPts val="1200"/>
                </a:spcAft>
              </a:pPr>
              <a:r>
                <a:rPr lang="zh-CN" altLang="en-US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1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3" name="组合 22"/>
          <p:cNvGrpSpPr/>
          <p:nvPr userDrawn="1"/>
        </p:nvGrpSpPr>
        <p:grpSpPr>
          <a:xfrm>
            <a:off x="449156" y="3969060"/>
            <a:ext cx="11587505" cy="1890210"/>
            <a:chOff x="336866" y="3969060"/>
            <a:chExt cx="8690629" cy="1890210"/>
          </a:xfrm>
        </p:grpSpPr>
        <p:sp>
          <p:nvSpPr>
            <p:cNvPr id="24" name="矩形 23"/>
            <p:cNvSpPr/>
            <p:nvPr/>
          </p:nvSpPr>
          <p:spPr>
            <a:xfrm>
              <a:off x="336866" y="3969060"/>
              <a:ext cx="8690629" cy="189021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5" name="圆角矩形 24"/>
            <p:cNvSpPr/>
            <p:nvPr/>
          </p:nvSpPr>
          <p:spPr>
            <a:xfrm>
              <a:off x="7188370" y="4059070"/>
              <a:ext cx="1693237" cy="1642565"/>
            </a:xfrm>
            <a:prstGeom prst="roundRect">
              <a:avLst/>
            </a:prstGeom>
            <a:solidFill>
              <a:srgbClr val="003F98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6" name="矩形 25"/>
            <p:cNvSpPr/>
            <p:nvPr/>
          </p:nvSpPr>
          <p:spPr>
            <a:xfrm>
              <a:off x="7224579" y="4681528"/>
              <a:ext cx="1693237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Bef>
                  <a:spcPts val="600"/>
                </a:spcBef>
                <a:spcAft>
                  <a:spcPts val="1200"/>
                </a:spcAft>
              </a:pPr>
              <a:r>
                <a:rPr lang="zh-CN" altLang="en-US" sz="2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en-US" altLang="zh-CN" sz="2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>
              <a:off x="498763" y="4092310"/>
              <a:ext cx="6258297" cy="1609325"/>
            </a:xfrm>
            <a:prstGeom prst="rect">
              <a:avLst/>
            </a:prstGeom>
            <a:noFill/>
            <a:ln w="6350">
              <a:solidFill>
                <a:srgbClr val="0971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734158" y="4175025"/>
              <a:ext cx="4122850" cy="507831"/>
              <a:chOff x="734158" y="3827511"/>
              <a:chExt cx="4122850" cy="507831"/>
            </a:xfrm>
          </p:grpSpPr>
          <p:sp>
            <p:nvSpPr>
              <p:cNvPr id="38" name="圆角矩形 37"/>
              <p:cNvSpPr/>
              <p:nvPr/>
            </p:nvSpPr>
            <p:spPr>
              <a:xfrm>
                <a:off x="734158" y="3841560"/>
                <a:ext cx="4122850" cy="430811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756943" y="3827511"/>
                <a:ext cx="4100064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  <a:spcBef>
                    <a:spcPts val="600"/>
                  </a:spcBef>
                  <a:spcAft>
                    <a:spcPts val="1200"/>
                  </a:spcAft>
                </a:pPr>
                <a:r>
                  <a:rPr lang="zh-CN" altLang="en-US" sz="1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文字</a:t>
                </a:r>
                <a:endParaRPr lang="en-US" altLang="zh-CN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9" name="组合 28"/>
            <p:cNvGrpSpPr/>
            <p:nvPr/>
          </p:nvGrpSpPr>
          <p:grpSpPr>
            <a:xfrm>
              <a:off x="734158" y="4951936"/>
              <a:ext cx="4122850" cy="507831"/>
              <a:chOff x="734158" y="4604422"/>
              <a:chExt cx="4122850" cy="507831"/>
            </a:xfrm>
          </p:grpSpPr>
          <p:sp>
            <p:nvSpPr>
              <p:cNvPr id="36" name="圆角矩形 35"/>
              <p:cNvSpPr/>
              <p:nvPr/>
            </p:nvSpPr>
            <p:spPr>
              <a:xfrm>
                <a:off x="734158" y="4618471"/>
                <a:ext cx="4122850" cy="430811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734158" y="4604422"/>
                <a:ext cx="4122849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  <a:spcBef>
                    <a:spcPts val="600"/>
                  </a:spcBef>
                  <a:spcAft>
                    <a:spcPts val="1200"/>
                  </a:spcAft>
                </a:pPr>
                <a:r>
                  <a:rPr lang="zh-CN" altLang="en-US" sz="1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文字</a:t>
                </a:r>
                <a:endParaRPr lang="en-US" altLang="zh-CN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30" name="组合 29"/>
            <p:cNvGrpSpPr/>
            <p:nvPr/>
          </p:nvGrpSpPr>
          <p:grpSpPr>
            <a:xfrm>
              <a:off x="5082831" y="4092310"/>
              <a:ext cx="1494454" cy="618118"/>
              <a:chOff x="5082831" y="3790906"/>
              <a:chExt cx="1494454" cy="618118"/>
            </a:xfrm>
          </p:grpSpPr>
          <p:sp>
            <p:nvSpPr>
              <p:cNvPr id="34" name="圆角矩形 33"/>
              <p:cNvSpPr/>
              <p:nvPr/>
            </p:nvSpPr>
            <p:spPr>
              <a:xfrm>
                <a:off x="5082831" y="3901718"/>
                <a:ext cx="1494454" cy="430811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35" name="矩形 34"/>
              <p:cNvSpPr/>
              <p:nvPr/>
            </p:nvSpPr>
            <p:spPr>
              <a:xfrm>
                <a:off x="5587684" y="3790906"/>
                <a:ext cx="484748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4100"/>
                  </a:lnSpc>
                  <a:spcBef>
                    <a:spcPts val="600"/>
                  </a:spcBef>
                  <a:spcAft>
                    <a:spcPts val="1200"/>
                  </a:spcAft>
                </a:pPr>
                <a:r>
                  <a:rPr lang="zh-CN" altLang="en-US" sz="1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文字</a:t>
                </a:r>
                <a:endParaRPr lang="en-US" altLang="zh-CN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5082831" y="4853376"/>
              <a:ext cx="1494454" cy="618118"/>
              <a:chOff x="5439081" y="4506787"/>
              <a:chExt cx="1494454" cy="618118"/>
            </a:xfrm>
          </p:grpSpPr>
          <p:sp>
            <p:nvSpPr>
              <p:cNvPr id="32" name="圆角矩形 31"/>
              <p:cNvSpPr/>
              <p:nvPr/>
            </p:nvSpPr>
            <p:spPr>
              <a:xfrm>
                <a:off x="5439081" y="4633444"/>
                <a:ext cx="1494454" cy="430811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5943935" y="4506787"/>
                <a:ext cx="484748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lnSpc>
                    <a:spcPts val="4100"/>
                  </a:lnSpc>
                  <a:spcBef>
                    <a:spcPts val="600"/>
                  </a:spcBef>
                  <a:spcAft>
                    <a:spcPts val="1200"/>
                  </a:spcAft>
                </a:pPr>
                <a:r>
                  <a:rPr lang="zh-CN" altLang="en-US" sz="1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文字</a:t>
                </a:r>
                <a:endParaRPr lang="en-US" altLang="zh-CN" sz="1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 bwMode="auto">
          <a:xfrm>
            <a:off x="335361" y="143636"/>
            <a:ext cx="10991849" cy="2115235"/>
          </a:xfrm>
          <a:prstGeom prst="rect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lang="zh-CN" altLang="en-US" sz="16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0" hasCustomPrompt="1"/>
          </p:nvPr>
        </p:nvSpPr>
        <p:spPr>
          <a:xfrm>
            <a:off x="515381" y="278651"/>
            <a:ext cx="10621179" cy="1845205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lang="zh-CN" altLang="en-US" sz="2000" kern="1200" dirty="0">
                <a:gradFill>
                  <a:gsLst>
                    <a:gs pos="0">
                      <a:srgbClr val="202A36"/>
                    </a:gs>
                    <a:gs pos="100000">
                      <a:srgbClr val="202A36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1175453" y="2753926"/>
            <a:ext cx="5397048" cy="3795801"/>
            <a:chOff x="4772658" y="1641912"/>
            <a:chExt cx="4047786" cy="4353310"/>
          </a:xfrm>
        </p:grpSpPr>
        <p:grpSp>
          <p:nvGrpSpPr>
            <p:cNvPr id="7" name="组合 6"/>
            <p:cNvGrpSpPr/>
            <p:nvPr/>
          </p:nvGrpSpPr>
          <p:grpSpPr>
            <a:xfrm>
              <a:off x="4772658" y="1641912"/>
              <a:ext cx="4047786" cy="4353310"/>
              <a:chOff x="4772658" y="1641912"/>
              <a:chExt cx="4047786" cy="4353310"/>
            </a:xfrm>
          </p:grpSpPr>
          <p:grpSp>
            <p:nvGrpSpPr>
              <p:cNvPr id="19" name="组合 18"/>
              <p:cNvGrpSpPr/>
              <p:nvPr/>
            </p:nvGrpSpPr>
            <p:grpSpPr>
              <a:xfrm>
                <a:off x="5653659" y="1641912"/>
                <a:ext cx="2280106" cy="4353310"/>
                <a:chOff x="6030176" y="1984737"/>
                <a:chExt cx="2567744" cy="3620065"/>
              </a:xfrm>
            </p:grpSpPr>
            <p:sp>
              <p:nvSpPr>
                <p:cNvPr id="22" name="圆角矩形 21"/>
                <p:cNvSpPr/>
                <p:nvPr/>
              </p:nvSpPr>
              <p:spPr>
                <a:xfrm>
                  <a:off x="6030176" y="1984737"/>
                  <a:ext cx="2567744" cy="746311"/>
                </a:xfrm>
                <a:prstGeom prst="roundRect">
                  <a:avLst/>
                </a:prstGeom>
                <a:solidFill>
                  <a:srgbClr val="D3E4F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2400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服务</a:t>
                  </a:r>
                  <a:endParaRPr lang="zh-CN" altLang="en-US" sz="2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3" name="圆角矩形 22"/>
                <p:cNvSpPr/>
                <p:nvPr/>
              </p:nvSpPr>
              <p:spPr>
                <a:xfrm>
                  <a:off x="6030176" y="2942655"/>
                  <a:ext cx="2567744" cy="746311"/>
                </a:xfrm>
                <a:prstGeom prst="roundRect">
                  <a:avLst/>
                </a:prstGeom>
                <a:solidFill>
                  <a:srgbClr val="D3E4F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2400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数据</a:t>
                  </a:r>
                  <a:endParaRPr lang="zh-CN" altLang="en-US" sz="2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" name="圆角矩形 23"/>
                <p:cNvSpPr/>
                <p:nvPr/>
              </p:nvSpPr>
              <p:spPr>
                <a:xfrm>
                  <a:off x="6030176" y="3900573"/>
                  <a:ext cx="2567744" cy="746311"/>
                </a:xfrm>
                <a:prstGeom prst="roundRect">
                  <a:avLst/>
                </a:prstGeom>
                <a:solidFill>
                  <a:srgbClr val="D3E4F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2400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网络</a:t>
                  </a:r>
                  <a:endParaRPr lang="zh-CN" altLang="en-US" sz="2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5" name="圆角矩形 24"/>
                <p:cNvSpPr/>
                <p:nvPr/>
              </p:nvSpPr>
              <p:spPr>
                <a:xfrm>
                  <a:off x="6030176" y="4858491"/>
                  <a:ext cx="2567744" cy="746311"/>
                </a:xfrm>
                <a:prstGeom prst="roundRect">
                  <a:avLst/>
                </a:prstGeom>
                <a:solidFill>
                  <a:srgbClr val="D3E4F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2400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接入</a:t>
                  </a:r>
                  <a:endParaRPr lang="zh-CN" altLang="en-US" sz="2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p:sp>
            <p:nvSpPr>
              <p:cNvPr id="20" name="圆角矩形 19"/>
              <p:cNvSpPr/>
              <p:nvPr/>
            </p:nvSpPr>
            <p:spPr>
              <a:xfrm>
                <a:off x="4772658" y="1641912"/>
                <a:ext cx="552378" cy="4353310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关键技术</a:t>
                </a:r>
                <a:endParaRPr lang="zh-CN" altLang="en-US" sz="2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" name="圆角矩形 20"/>
              <p:cNvSpPr/>
              <p:nvPr/>
            </p:nvSpPr>
            <p:spPr>
              <a:xfrm>
                <a:off x="8268066" y="1641912"/>
                <a:ext cx="552378" cy="4353310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标准安全</a:t>
                </a:r>
                <a:endParaRPr lang="en-US" altLang="zh-CN" sz="2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8" name="下箭头 7"/>
            <p:cNvSpPr/>
            <p:nvPr/>
          </p:nvSpPr>
          <p:spPr>
            <a:xfrm flipV="1">
              <a:off x="6681653" y="4868103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9" name="下箭头 8"/>
            <p:cNvSpPr/>
            <p:nvPr/>
          </p:nvSpPr>
          <p:spPr>
            <a:xfrm flipV="1">
              <a:off x="6676939" y="3716158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0" name="下箭头 9"/>
            <p:cNvSpPr/>
            <p:nvPr/>
          </p:nvSpPr>
          <p:spPr>
            <a:xfrm flipV="1">
              <a:off x="6676939" y="2564214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1" name="下箭头 10"/>
            <p:cNvSpPr/>
            <p:nvPr/>
          </p:nvSpPr>
          <p:spPr>
            <a:xfrm rot="5400000" flipV="1">
              <a:off x="5374450" y="1988242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2" name="下箭头 11"/>
            <p:cNvSpPr/>
            <p:nvPr/>
          </p:nvSpPr>
          <p:spPr>
            <a:xfrm rot="5400000" flipV="1">
              <a:off x="5374451" y="3140187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3" name="下箭头 12"/>
            <p:cNvSpPr/>
            <p:nvPr/>
          </p:nvSpPr>
          <p:spPr>
            <a:xfrm rot="5400000" flipV="1">
              <a:off x="5374450" y="4292131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4" name="下箭头 13"/>
            <p:cNvSpPr/>
            <p:nvPr/>
          </p:nvSpPr>
          <p:spPr>
            <a:xfrm rot="5400000" flipV="1">
              <a:off x="5374451" y="5444075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5" name="下箭头 14"/>
            <p:cNvSpPr/>
            <p:nvPr/>
          </p:nvSpPr>
          <p:spPr>
            <a:xfrm rot="16200000" flipH="1" flipV="1">
              <a:off x="7988854" y="5444076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6" name="下箭头 15"/>
            <p:cNvSpPr/>
            <p:nvPr/>
          </p:nvSpPr>
          <p:spPr>
            <a:xfrm rot="16200000" flipH="1" flipV="1">
              <a:off x="7985782" y="4292131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7" name="下箭头 16"/>
            <p:cNvSpPr/>
            <p:nvPr/>
          </p:nvSpPr>
          <p:spPr>
            <a:xfrm rot="16200000" flipH="1" flipV="1">
              <a:off x="7985782" y="3140187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8" name="下箭头 17"/>
            <p:cNvSpPr/>
            <p:nvPr/>
          </p:nvSpPr>
          <p:spPr>
            <a:xfrm rot="16200000" flipH="1" flipV="1">
              <a:off x="7985782" y="1988242"/>
              <a:ext cx="224118" cy="204817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</p:grpSp>
      <p:cxnSp>
        <p:nvCxnSpPr>
          <p:cNvPr id="26" name="直接连接符 25"/>
          <p:cNvCxnSpPr/>
          <p:nvPr userDrawn="1"/>
        </p:nvCxnSpPr>
        <p:spPr>
          <a:xfrm>
            <a:off x="8076220" y="3557941"/>
            <a:ext cx="2875136" cy="0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384000" y="2111563"/>
            <a:ext cx="11353259" cy="0"/>
          </a:xfrm>
          <a:prstGeom prst="line">
            <a:avLst/>
          </a:prstGeom>
          <a:ln>
            <a:solidFill>
              <a:srgbClr val="003F98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 userDrawn="1"/>
        </p:nvCxnSpPr>
        <p:spPr>
          <a:xfrm>
            <a:off x="384000" y="3172805"/>
            <a:ext cx="11353259" cy="0"/>
          </a:xfrm>
          <a:prstGeom prst="line">
            <a:avLst/>
          </a:prstGeom>
          <a:ln>
            <a:solidFill>
              <a:srgbClr val="003F98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 userDrawn="1"/>
        </p:nvCxnSpPr>
        <p:spPr>
          <a:xfrm>
            <a:off x="384000" y="4953373"/>
            <a:ext cx="11353259" cy="0"/>
          </a:xfrm>
          <a:prstGeom prst="line">
            <a:avLst/>
          </a:prstGeom>
          <a:ln>
            <a:solidFill>
              <a:srgbClr val="003F98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384000" y="5648002"/>
            <a:ext cx="11353259" cy="0"/>
          </a:xfrm>
          <a:prstGeom prst="line">
            <a:avLst/>
          </a:prstGeom>
          <a:ln>
            <a:solidFill>
              <a:srgbClr val="003F98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组合 5"/>
          <p:cNvGrpSpPr/>
          <p:nvPr userDrawn="1"/>
        </p:nvGrpSpPr>
        <p:grpSpPr>
          <a:xfrm>
            <a:off x="2531003" y="933634"/>
            <a:ext cx="9295493" cy="5293239"/>
            <a:chOff x="946904" y="992994"/>
            <a:chExt cx="7222207" cy="5293239"/>
          </a:xfrm>
        </p:grpSpPr>
        <p:cxnSp>
          <p:nvCxnSpPr>
            <p:cNvPr id="7" name="直接连接符 6"/>
            <p:cNvCxnSpPr/>
            <p:nvPr/>
          </p:nvCxnSpPr>
          <p:spPr>
            <a:xfrm flipV="1">
              <a:off x="2043953" y="3281083"/>
              <a:ext cx="0" cy="968188"/>
            </a:xfrm>
            <a:prstGeom prst="line">
              <a:avLst/>
            </a:prstGeom>
            <a:noFill/>
            <a:ln w="6350">
              <a:solidFill>
                <a:srgbClr val="0971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8" name="组合 7"/>
            <p:cNvGrpSpPr/>
            <p:nvPr/>
          </p:nvGrpSpPr>
          <p:grpSpPr>
            <a:xfrm>
              <a:off x="1671483" y="992994"/>
              <a:ext cx="5729315" cy="1006776"/>
              <a:chOff x="1671483" y="992994"/>
              <a:chExt cx="5729315" cy="1006776"/>
            </a:xfrm>
          </p:grpSpPr>
          <p:sp>
            <p:nvSpPr>
              <p:cNvPr id="29" name="圆角矩形 28"/>
              <p:cNvSpPr/>
              <p:nvPr/>
            </p:nvSpPr>
            <p:spPr>
              <a:xfrm>
                <a:off x="1671483" y="1207739"/>
                <a:ext cx="5729314" cy="792031"/>
              </a:xfrm>
              <a:prstGeom prst="roundRect">
                <a:avLst>
                  <a:gd name="adj" fmla="val 12638"/>
                </a:avLst>
              </a:prstGeom>
              <a:solidFill>
                <a:srgbClr val="D3E4FC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tlCol="0" anchor="ctr"/>
              <a:lstStyle/>
              <a:p>
                <a:pPr algn="ctr"/>
                <a:endParaRPr lang="zh-CN" altLang="en-US" sz="1400" dirty="0">
                  <a:ln w="11430"/>
                  <a:gradFill>
                    <a:gsLst>
                      <a:gs pos="25000">
                        <a:schemeClr val="bg1"/>
                      </a:gs>
                      <a:gs pos="100000">
                        <a:schemeClr val="bg1">
                          <a:lumMod val="95000"/>
                        </a:schemeClr>
                      </a:gs>
                    </a:gsLst>
                    <a:lin ang="5400000"/>
                  </a:gra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671483" y="1400276"/>
                <a:ext cx="5729315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 sz="1400">
                    <a:ln w="11430"/>
                    <a:gradFill>
                      <a:gsLst>
                        <a:gs pos="25000">
                          <a:schemeClr val="bg1"/>
                        </a:gs>
                        <a:gs pos="100000">
                          <a:schemeClr val="bg1">
                            <a:lumMod val="95000"/>
                          </a:schemeClr>
                        </a:gs>
                      </a:gsLst>
                      <a:lin ang="5400000"/>
                    </a:gra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defRPr>
                </a:lvl1pPr>
              </a:lstStyle>
              <a:p>
                <a:r>
                  <a:rPr lang="zh-CN" altLang="en-US" sz="14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微软雅黑" panose="020B0503020204020204" pitchFamily="34" charset="-122"/>
                    <a:cs typeface="+mn-cs"/>
                  </a:rPr>
                  <a:t>文字</a:t>
                </a:r>
                <a:endPara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31" name="圆角矩形 30"/>
              <p:cNvSpPr/>
              <p:nvPr/>
            </p:nvSpPr>
            <p:spPr>
              <a:xfrm>
                <a:off x="3722778" y="992994"/>
                <a:ext cx="1698442" cy="387445"/>
              </a:xfrm>
              <a:prstGeom prst="round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文字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9" name="圆角矩形 8"/>
            <p:cNvSpPr/>
            <p:nvPr/>
          </p:nvSpPr>
          <p:spPr>
            <a:xfrm>
              <a:off x="3712471" y="2734235"/>
              <a:ext cx="1680283" cy="359284"/>
            </a:xfrm>
            <a:prstGeom prst="roundRect">
              <a:avLst/>
            </a:prstGeom>
            <a:solidFill>
              <a:srgbClr val="D3E4F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4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文字</a:t>
              </a:r>
              <a:endParaRPr lang="zh-CN" altLang="en-US" sz="14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1819745" y="2734235"/>
              <a:ext cx="1680283" cy="359284"/>
            </a:xfrm>
            <a:prstGeom prst="roundRect">
              <a:avLst/>
            </a:prstGeom>
            <a:solidFill>
              <a:srgbClr val="D3E4F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4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文字</a:t>
              </a:r>
              <a:endParaRPr lang="zh-CN" altLang="en-US" sz="14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11" name="圆角矩形 10"/>
            <p:cNvSpPr/>
            <p:nvPr/>
          </p:nvSpPr>
          <p:spPr>
            <a:xfrm>
              <a:off x="5621672" y="2734234"/>
              <a:ext cx="1680283" cy="359284"/>
            </a:xfrm>
            <a:prstGeom prst="roundRect">
              <a:avLst/>
            </a:prstGeom>
            <a:solidFill>
              <a:srgbClr val="D3E4F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4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文字</a:t>
              </a:r>
              <a:endParaRPr lang="zh-CN" altLang="en-US" sz="14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946904" y="3390297"/>
              <a:ext cx="2404861" cy="749760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4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圆角矩形 12"/>
            <p:cNvSpPr/>
            <p:nvPr/>
          </p:nvSpPr>
          <p:spPr>
            <a:xfrm>
              <a:off x="1671483" y="5816044"/>
              <a:ext cx="5729314" cy="470189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4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4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1671483" y="5122555"/>
              <a:ext cx="5729314" cy="470189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4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文字</a:t>
              </a:r>
              <a:endParaRPr lang="zh-CN" altLang="en-US" sz="14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圆角矩形 14"/>
            <p:cNvSpPr/>
            <p:nvPr/>
          </p:nvSpPr>
          <p:spPr>
            <a:xfrm>
              <a:off x="1671483" y="4429066"/>
              <a:ext cx="5729314" cy="470189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4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4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1569525" y="2413043"/>
              <a:ext cx="6004949" cy="754321"/>
            </a:xfrm>
            <a:prstGeom prst="rect">
              <a:avLst/>
            </a:prstGeom>
            <a:noFill/>
            <a:ln w="6350">
              <a:solidFill>
                <a:srgbClr val="0971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7" name="圆角矩形 16"/>
            <p:cNvSpPr/>
            <p:nvPr/>
          </p:nvSpPr>
          <p:spPr>
            <a:xfrm>
              <a:off x="3686917" y="2223070"/>
              <a:ext cx="1698442" cy="387445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cxnSp>
          <p:nvCxnSpPr>
            <p:cNvPr id="18" name="直接连接符 17"/>
            <p:cNvCxnSpPr/>
            <p:nvPr/>
          </p:nvCxnSpPr>
          <p:spPr>
            <a:xfrm flipV="1">
              <a:off x="4518209" y="3281083"/>
              <a:ext cx="0" cy="968188"/>
            </a:xfrm>
            <a:prstGeom prst="line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直接连接符 18"/>
            <p:cNvCxnSpPr/>
            <p:nvPr/>
          </p:nvCxnSpPr>
          <p:spPr>
            <a:xfrm flipV="1">
              <a:off x="7027833" y="3281083"/>
              <a:ext cx="0" cy="968188"/>
            </a:xfrm>
            <a:prstGeom prst="line">
              <a:avLst/>
            </a:prstGeom>
            <a:noFill/>
            <a:ln w="6350">
              <a:solidFill>
                <a:srgbClr val="0971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圆角矩形 19"/>
            <p:cNvSpPr/>
            <p:nvPr/>
          </p:nvSpPr>
          <p:spPr>
            <a:xfrm>
              <a:off x="3524113" y="3362026"/>
              <a:ext cx="2141298" cy="749760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4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5826020" y="3376525"/>
              <a:ext cx="2343091" cy="749760"/>
            </a:xfrm>
            <a:prstGeom prst="roundRect">
              <a:avLst/>
            </a:prstGeom>
            <a:solidFill>
              <a:srgbClr val="0971C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4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>
              <a:off x="2053408" y="3281083"/>
              <a:ext cx="4965460" cy="0"/>
            </a:xfrm>
            <a:prstGeom prst="line">
              <a:avLst/>
            </a:prstGeom>
            <a:noFill/>
            <a:ln w="6350">
              <a:solidFill>
                <a:srgbClr val="0971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2043953" y="4249271"/>
              <a:ext cx="4983880" cy="0"/>
            </a:xfrm>
            <a:prstGeom prst="line">
              <a:avLst/>
            </a:prstGeom>
            <a:noFill/>
            <a:ln w="6350">
              <a:solidFill>
                <a:srgbClr val="0971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" name="下箭头 23"/>
            <p:cNvSpPr/>
            <p:nvPr/>
          </p:nvSpPr>
          <p:spPr>
            <a:xfrm rot="10800000" flipV="1">
              <a:off x="4439399" y="2047440"/>
              <a:ext cx="192987" cy="140597"/>
            </a:xfrm>
            <a:prstGeom prst="downArrow">
              <a:avLst>
                <a:gd name="adj1" fmla="val 50000"/>
                <a:gd name="adj2" fmla="val 66341"/>
              </a:avLst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5" name="下箭头 24"/>
            <p:cNvSpPr/>
            <p:nvPr/>
          </p:nvSpPr>
          <p:spPr>
            <a:xfrm rot="10800000" flipV="1">
              <a:off x="4421715" y="3172735"/>
              <a:ext cx="192987" cy="140597"/>
            </a:xfrm>
            <a:prstGeom prst="downArrow">
              <a:avLst>
                <a:gd name="adj1" fmla="val 50000"/>
                <a:gd name="adj2" fmla="val 66341"/>
              </a:avLst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6" name="下箭头 25"/>
            <p:cNvSpPr/>
            <p:nvPr/>
          </p:nvSpPr>
          <p:spPr>
            <a:xfrm rot="10800000" flipV="1">
              <a:off x="4421714" y="4272527"/>
              <a:ext cx="192987" cy="140597"/>
            </a:xfrm>
            <a:prstGeom prst="downArrow">
              <a:avLst>
                <a:gd name="adj1" fmla="val 50000"/>
                <a:gd name="adj2" fmla="val 66341"/>
              </a:avLst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7" name="下箭头 26"/>
            <p:cNvSpPr/>
            <p:nvPr/>
          </p:nvSpPr>
          <p:spPr>
            <a:xfrm rot="10800000" flipV="1">
              <a:off x="4426265" y="4940606"/>
              <a:ext cx="192987" cy="140597"/>
            </a:xfrm>
            <a:prstGeom prst="downArrow">
              <a:avLst>
                <a:gd name="adj1" fmla="val 50000"/>
                <a:gd name="adj2" fmla="val 66341"/>
              </a:avLst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28" name="下箭头 27"/>
            <p:cNvSpPr/>
            <p:nvPr/>
          </p:nvSpPr>
          <p:spPr>
            <a:xfrm rot="10800000" flipV="1">
              <a:off x="4426265" y="5634095"/>
              <a:ext cx="192987" cy="140597"/>
            </a:xfrm>
            <a:prstGeom prst="downArrow">
              <a:avLst>
                <a:gd name="adj1" fmla="val 50000"/>
                <a:gd name="adj2" fmla="val 66341"/>
              </a:avLst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</p:grpSp>
      <p:grpSp>
        <p:nvGrpSpPr>
          <p:cNvPr id="32" name="组合 31"/>
          <p:cNvGrpSpPr/>
          <p:nvPr userDrawn="1"/>
        </p:nvGrpSpPr>
        <p:grpSpPr>
          <a:xfrm>
            <a:off x="407919" y="1344853"/>
            <a:ext cx="2015047" cy="4953249"/>
            <a:chOff x="305939" y="1344852"/>
            <a:chExt cx="1511285" cy="4953249"/>
          </a:xfrm>
        </p:grpSpPr>
        <p:sp>
          <p:nvSpPr>
            <p:cNvPr id="33" name="矩形 32"/>
            <p:cNvSpPr/>
            <p:nvPr/>
          </p:nvSpPr>
          <p:spPr>
            <a:xfrm>
              <a:off x="305939" y="1344852"/>
              <a:ext cx="1511285" cy="4373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gradFill>
                    <a:gsLst>
                      <a:gs pos="0">
                        <a:srgbClr val="FF0000"/>
                      </a:gs>
                      <a:gs pos="100000">
                        <a:srgbClr val="FF0000"/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305939" y="2445751"/>
              <a:ext cx="1511285" cy="4373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gradFill>
                    <a:gsLst>
                      <a:gs pos="0">
                        <a:srgbClr val="FF0000"/>
                      </a:gs>
                      <a:gs pos="100000">
                        <a:srgbClr val="FF0000"/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305939" y="3817130"/>
              <a:ext cx="1511285" cy="4373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gradFill>
                    <a:gsLst>
                      <a:gs pos="0">
                        <a:srgbClr val="FF0000"/>
                      </a:gs>
                      <a:gs pos="100000">
                        <a:srgbClr val="FF0000"/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文字</a:t>
              </a:r>
              <a:endPara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305939" y="5027456"/>
              <a:ext cx="1511285" cy="43735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gradFill>
                    <a:gsLst>
                      <a:gs pos="0">
                        <a:srgbClr val="FF0000"/>
                      </a:gs>
                      <a:gs pos="100000">
                        <a:srgbClr val="FF0000"/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305939" y="5860747"/>
              <a:ext cx="1511285" cy="4373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gradFill>
                    <a:gsLst>
                      <a:gs pos="0">
                        <a:srgbClr val="FF0000"/>
                      </a:gs>
                      <a:gs pos="100000">
                        <a:srgbClr val="FF0000"/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文字</a:t>
              </a:r>
              <a:endPara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38" name="下箭头 37"/>
            <p:cNvSpPr/>
            <p:nvPr/>
          </p:nvSpPr>
          <p:spPr>
            <a:xfrm>
              <a:off x="899535" y="1926960"/>
              <a:ext cx="324091" cy="351698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rgbClr val="0971CE"/>
                </a:solidFill>
              </a:endParaRPr>
            </a:p>
          </p:txBody>
        </p:sp>
        <p:sp>
          <p:nvSpPr>
            <p:cNvPr id="39" name="下箭头 38"/>
            <p:cNvSpPr/>
            <p:nvPr/>
          </p:nvSpPr>
          <p:spPr>
            <a:xfrm>
              <a:off x="899535" y="3297487"/>
              <a:ext cx="324091" cy="351698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rgbClr val="0971CE"/>
                </a:solidFill>
              </a:endParaRPr>
            </a:p>
          </p:txBody>
        </p:sp>
        <p:sp>
          <p:nvSpPr>
            <p:cNvPr id="40" name="下箭头 39"/>
            <p:cNvSpPr/>
            <p:nvPr/>
          </p:nvSpPr>
          <p:spPr>
            <a:xfrm>
              <a:off x="899534" y="4435517"/>
              <a:ext cx="324091" cy="351698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rgbClr val="0971CE"/>
                </a:solidFill>
              </a:endParaRPr>
            </a:p>
          </p:txBody>
        </p:sp>
        <p:sp>
          <p:nvSpPr>
            <p:cNvPr id="41" name="下箭头 40"/>
            <p:cNvSpPr/>
            <p:nvPr/>
          </p:nvSpPr>
          <p:spPr>
            <a:xfrm>
              <a:off x="896243" y="5497060"/>
              <a:ext cx="324091" cy="351698"/>
            </a:xfrm>
            <a:prstGeom prst="downArrow">
              <a:avLst/>
            </a:prstGeom>
            <a:solidFill>
              <a:srgbClr val="0971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rgbClr val="0971CE"/>
                </a:solidFill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 bwMode="auto">
          <a:xfrm>
            <a:off x="515381" y="413665"/>
            <a:ext cx="10991849" cy="2919226"/>
          </a:xfrm>
          <a:prstGeom prst="rect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lang="zh-CN" altLang="en-US" sz="160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2615614" y="368661"/>
            <a:ext cx="8354647" cy="552339"/>
          </a:xfrm>
          <a:prstGeom prst="rect">
            <a:avLst/>
          </a:prstGeom>
          <a:noFill/>
          <a:ln w="6350">
            <a:solidFill>
              <a:srgbClr val="003F9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2615614" y="2880829"/>
            <a:ext cx="8354647" cy="403200"/>
          </a:xfrm>
          <a:prstGeom prst="rect">
            <a:avLst/>
          </a:prstGeom>
          <a:noFill/>
          <a:ln w="6350">
            <a:solidFill>
              <a:srgbClr val="003F9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 userDrawn="1"/>
        </p:nvSpPr>
        <p:spPr>
          <a:xfrm>
            <a:off x="2615614" y="953725"/>
            <a:ext cx="8354647" cy="587076"/>
          </a:xfrm>
          <a:prstGeom prst="rect">
            <a:avLst/>
          </a:prstGeom>
          <a:noFill/>
          <a:ln w="6350">
            <a:solidFill>
              <a:srgbClr val="003F9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2615614" y="1565917"/>
            <a:ext cx="8354647" cy="273600"/>
          </a:xfrm>
          <a:prstGeom prst="rect">
            <a:avLst/>
          </a:prstGeom>
          <a:noFill/>
          <a:ln w="6350">
            <a:solidFill>
              <a:srgbClr val="003F9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2615614" y="1881126"/>
            <a:ext cx="8354647" cy="943200"/>
          </a:xfrm>
          <a:prstGeom prst="rect">
            <a:avLst/>
          </a:prstGeom>
          <a:noFill/>
          <a:ln w="6350">
            <a:solidFill>
              <a:srgbClr val="003F9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 userDrawn="1"/>
        </p:nvSpPr>
        <p:spPr>
          <a:xfrm rot="16200000">
            <a:off x="955442" y="545586"/>
            <a:ext cx="494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SaaS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 rot="16200000">
            <a:off x="958847" y="1127244"/>
            <a:ext cx="4878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9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AaaS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 userDrawn="1"/>
        </p:nvSpPr>
        <p:spPr>
          <a:xfrm rot="16200000">
            <a:off x="933788" y="1603604"/>
            <a:ext cx="53964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9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DaaS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 userDrawn="1"/>
        </p:nvSpPr>
        <p:spPr>
          <a:xfrm rot="16200000">
            <a:off x="954844" y="2255562"/>
            <a:ext cx="4958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9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PaaS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304503" y="368660"/>
            <a:ext cx="1229893" cy="566140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zh-CN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</a:t>
            </a:r>
            <a:r>
              <a: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</a:t>
            </a:r>
            <a:endParaRPr lang="zh-CN" altLang="en-US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 userDrawn="1"/>
        </p:nvSpPr>
        <p:spPr>
          <a:xfrm>
            <a:off x="1304503" y="960967"/>
            <a:ext cx="1229893" cy="579835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分析层</a:t>
            </a:r>
            <a:endParaRPr lang="zh-CN" altLang="en-US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矩形 13"/>
          <p:cNvSpPr/>
          <p:nvPr userDrawn="1"/>
        </p:nvSpPr>
        <p:spPr>
          <a:xfrm>
            <a:off x="1304503" y="1565917"/>
            <a:ext cx="1229893" cy="272474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zh-CN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数据层</a:t>
            </a:r>
            <a:endParaRPr lang="zh-CN" altLang="zh-CN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 userDrawn="1"/>
        </p:nvSpPr>
        <p:spPr>
          <a:xfrm>
            <a:off x="1304503" y="1881126"/>
            <a:ext cx="1229893" cy="944580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平台层</a:t>
            </a:r>
            <a:endParaRPr lang="zh-CN" altLang="en-US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304503" y="2880829"/>
            <a:ext cx="1229893" cy="403998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基础设施层</a:t>
            </a:r>
            <a:endParaRPr lang="zh-CN" altLang="en-US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7" name="圆角矩形 16"/>
          <p:cNvSpPr/>
          <p:nvPr userDrawn="1"/>
        </p:nvSpPr>
        <p:spPr>
          <a:xfrm>
            <a:off x="6488246" y="413666"/>
            <a:ext cx="648580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7"/>
          <p:cNvSpPr/>
          <p:nvPr userDrawn="1"/>
        </p:nvSpPr>
        <p:spPr>
          <a:xfrm>
            <a:off x="4303071" y="413666"/>
            <a:ext cx="689272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圆角矩形 18"/>
          <p:cNvSpPr/>
          <p:nvPr userDrawn="1"/>
        </p:nvSpPr>
        <p:spPr>
          <a:xfrm>
            <a:off x="5747674" y="413666"/>
            <a:ext cx="691764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圆角矩形 19"/>
          <p:cNvSpPr/>
          <p:nvPr userDrawn="1"/>
        </p:nvSpPr>
        <p:spPr>
          <a:xfrm>
            <a:off x="8657642" y="413666"/>
            <a:ext cx="680137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圆角矩形 20"/>
          <p:cNvSpPr/>
          <p:nvPr userDrawn="1"/>
        </p:nvSpPr>
        <p:spPr>
          <a:xfrm>
            <a:off x="7948627" y="413666"/>
            <a:ext cx="660207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圆角矩形 21"/>
          <p:cNvSpPr/>
          <p:nvPr userDrawn="1"/>
        </p:nvSpPr>
        <p:spPr>
          <a:xfrm>
            <a:off x="7185634" y="413666"/>
            <a:ext cx="714185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圆角矩形 22"/>
          <p:cNvSpPr/>
          <p:nvPr userDrawn="1"/>
        </p:nvSpPr>
        <p:spPr>
          <a:xfrm>
            <a:off x="5041151" y="413665"/>
            <a:ext cx="657715" cy="27981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圆角矩形 23"/>
          <p:cNvSpPr/>
          <p:nvPr userDrawn="1"/>
        </p:nvSpPr>
        <p:spPr>
          <a:xfrm>
            <a:off x="2795375" y="413666"/>
            <a:ext cx="777277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圆角矩形 24"/>
          <p:cNvSpPr/>
          <p:nvPr userDrawn="1"/>
        </p:nvSpPr>
        <p:spPr>
          <a:xfrm>
            <a:off x="3589074" y="413666"/>
            <a:ext cx="665189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矩形 25"/>
          <p:cNvSpPr/>
          <p:nvPr userDrawn="1"/>
        </p:nvSpPr>
        <p:spPr>
          <a:xfrm>
            <a:off x="2795374" y="769832"/>
            <a:ext cx="8000293" cy="138888"/>
          </a:xfrm>
          <a:prstGeom prst="rect">
            <a:avLst/>
          </a:prstGeom>
          <a:solidFill>
            <a:srgbClr val="0971CE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0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医疗分析挖掘服务模型</a:t>
            </a:r>
            <a:endParaRPr lang="zh-CN" altLang="en-US" sz="10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13"/>
          <p:cNvSpPr/>
          <p:nvPr userDrawn="1"/>
        </p:nvSpPr>
        <p:spPr>
          <a:xfrm>
            <a:off x="2795373" y="995263"/>
            <a:ext cx="1126483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Rounded Rectangle 13"/>
          <p:cNvSpPr/>
          <p:nvPr userDrawn="1"/>
        </p:nvSpPr>
        <p:spPr>
          <a:xfrm>
            <a:off x="4943208" y="995263"/>
            <a:ext cx="977027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Rounded Rectangle 13"/>
          <p:cNvSpPr/>
          <p:nvPr userDrawn="1"/>
        </p:nvSpPr>
        <p:spPr>
          <a:xfrm>
            <a:off x="3980456" y="995263"/>
            <a:ext cx="904153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 userDrawn="1"/>
        </p:nvSpPr>
        <p:spPr>
          <a:xfrm>
            <a:off x="2794782" y="1613276"/>
            <a:ext cx="2811879" cy="193834"/>
          </a:xfrm>
          <a:prstGeom prst="rect">
            <a:avLst/>
          </a:prstGeom>
          <a:solidFill>
            <a:srgbClr val="156BE3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zh-CN" sz="10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数据采集集成与建模</a:t>
            </a:r>
            <a:endParaRPr lang="zh-CN" altLang="zh-CN" sz="10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Flowchart: Magnetic Disk 149"/>
          <p:cNvSpPr/>
          <p:nvPr userDrawn="1"/>
        </p:nvSpPr>
        <p:spPr>
          <a:xfrm>
            <a:off x="5700016" y="1620922"/>
            <a:ext cx="5095651" cy="186189"/>
          </a:xfrm>
          <a:prstGeom prst="flowChartMagneticDisk">
            <a:avLst/>
          </a:prstGeom>
          <a:solidFill>
            <a:srgbClr val="156BE3"/>
          </a:solidFill>
          <a:ln w="63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糖尿病综合性大数据资源库</a:t>
            </a:r>
            <a:endParaRPr lang="zh-CN" altLang="en-US" sz="10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Rounded Rectangle 13"/>
          <p:cNvSpPr/>
          <p:nvPr userDrawn="1"/>
        </p:nvSpPr>
        <p:spPr>
          <a:xfrm>
            <a:off x="2794782" y="2960936"/>
            <a:ext cx="1405940" cy="285124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数据采集服务器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3" name="Rounded Rectangle 13"/>
          <p:cNvSpPr/>
          <p:nvPr userDrawn="1"/>
        </p:nvSpPr>
        <p:spPr>
          <a:xfrm>
            <a:off x="4261559" y="2960937"/>
            <a:ext cx="1847708" cy="285125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数据库</a:t>
            </a:r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/Web</a:t>
            </a: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服务器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4" name="Rounded Rectangle 13"/>
          <p:cNvSpPr/>
          <p:nvPr userDrawn="1"/>
        </p:nvSpPr>
        <p:spPr>
          <a:xfrm>
            <a:off x="6170105" y="2960936"/>
            <a:ext cx="1511169" cy="285124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Rounded Rectangle 13"/>
          <p:cNvSpPr/>
          <p:nvPr userDrawn="1"/>
        </p:nvSpPr>
        <p:spPr>
          <a:xfrm>
            <a:off x="7742111" y="2960936"/>
            <a:ext cx="1503029" cy="285124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资源配置管理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Rounded Rectangle 13"/>
          <p:cNvSpPr/>
          <p:nvPr userDrawn="1"/>
        </p:nvSpPr>
        <p:spPr>
          <a:xfrm>
            <a:off x="9305979" y="2960936"/>
            <a:ext cx="1489687" cy="285124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安全管理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7" name="Rounded Rectangle 13"/>
          <p:cNvSpPr/>
          <p:nvPr userDrawn="1"/>
        </p:nvSpPr>
        <p:spPr>
          <a:xfrm>
            <a:off x="2840783" y="1920046"/>
            <a:ext cx="7819501" cy="131307"/>
          </a:xfrm>
          <a:prstGeom prst="round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66FF"/>
                </a:solidFill>
              </a14:hiddenFill>
            </a:ext>
          </a:extLst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zh-CN" altLang="en-US" sz="900" dirty="0">
                <a:ln w="11430"/>
                <a:gradFill>
                  <a:gsLst>
                    <a:gs pos="0">
                      <a:schemeClr val="tx1">
                        <a:lumMod val="95000"/>
                        <a:lumOff val="5000"/>
                      </a:schemeClr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医疗大数据统一存储访问与编程接口</a:t>
            </a:r>
            <a:endParaRPr lang="zh-CN" altLang="en-US" sz="900" dirty="0">
              <a:ln w="11430"/>
              <a:gradFill>
                <a:gsLst>
                  <a:gs pos="0">
                    <a:schemeClr val="tx1">
                      <a:lumMod val="95000"/>
                      <a:lumOff val="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Rounded Rectangle 122"/>
          <p:cNvSpPr/>
          <p:nvPr userDrawn="1"/>
        </p:nvSpPr>
        <p:spPr>
          <a:xfrm>
            <a:off x="3753445" y="2072810"/>
            <a:ext cx="997369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数据库访问接口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Rounded Rectangle 123"/>
          <p:cNvSpPr/>
          <p:nvPr userDrawn="1"/>
        </p:nvSpPr>
        <p:spPr>
          <a:xfrm>
            <a:off x="7179119" y="2072810"/>
            <a:ext cx="1012316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HBase</a:t>
            </a: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ounded Rectangle 124"/>
          <p:cNvSpPr/>
          <p:nvPr userDrawn="1"/>
        </p:nvSpPr>
        <p:spPr>
          <a:xfrm>
            <a:off x="2794782" y="2504733"/>
            <a:ext cx="890567" cy="26813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Web</a:t>
            </a:r>
            <a:endParaRPr lang="en-US" altLang="zh-CN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Rounded Rectangle 127"/>
          <p:cNvSpPr/>
          <p:nvPr userDrawn="1"/>
        </p:nvSpPr>
        <p:spPr>
          <a:xfrm>
            <a:off x="5872824" y="2072810"/>
            <a:ext cx="1253977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HDFS</a:t>
            </a: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访问接口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ounded Rectangle 128"/>
          <p:cNvSpPr/>
          <p:nvPr userDrawn="1"/>
        </p:nvSpPr>
        <p:spPr>
          <a:xfrm>
            <a:off x="8243753" y="2072810"/>
            <a:ext cx="1308807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MapReduce</a:t>
            </a: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编程接口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TextBox 133"/>
          <p:cNvSpPr txBox="1"/>
          <p:nvPr userDrawn="1"/>
        </p:nvSpPr>
        <p:spPr>
          <a:xfrm>
            <a:off x="2794782" y="2327549"/>
            <a:ext cx="8000884" cy="23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003F98"/>
                </a:solidFill>
              </a14:hiddenFill>
            </a:ext>
          </a:extLst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n w="11430"/>
                <a:gradFill>
                  <a:gsLst>
                    <a:gs pos="0">
                      <a:schemeClr val="tx1">
                        <a:lumMod val="95000"/>
                        <a:lumOff val="5000"/>
                      </a:schemeClr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医疗大数据存储和并行计算系统</a:t>
            </a:r>
            <a:endParaRPr lang="zh-CN" altLang="en-US" sz="900" dirty="0">
              <a:ln w="11430"/>
              <a:gradFill>
                <a:gsLst>
                  <a:gs pos="0">
                    <a:schemeClr val="tx1">
                      <a:lumMod val="95000"/>
                      <a:lumOff val="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ounded Rectangle 180"/>
          <p:cNvSpPr/>
          <p:nvPr userDrawn="1"/>
        </p:nvSpPr>
        <p:spPr>
          <a:xfrm>
            <a:off x="4807357" y="2072810"/>
            <a:ext cx="1013147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内存数据库接口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Rounded Rectangle 244"/>
          <p:cNvSpPr/>
          <p:nvPr userDrawn="1"/>
        </p:nvSpPr>
        <p:spPr>
          <a:xfrm>
            <a:off x="2794783" y="2072810"/>
            <a:ext cx="906344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Web</a:t>
            </a: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访问接口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ounded Rectangle 137"/>
          <p:cNvSpPr/>
          <p:nvPr userDrawn="1"/>
        </p:nvSpPr>
        <p:spPr>
          <a:xfrm>
            <a:off x="9630042" y="2072810"/>
            <a:ext cx="1195015" cy="288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Spark</a:t>
            </a: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编程接口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ounded Rectangle 124"/>
          <p:cNvSpPr/>
          <p:nvPr userDrawn="1"/>
        </p:nvSpPr>
        <p:spPr>
          <a:xfrm>
            <a:off x="3763217" y="2504734"/>
            <a:ext cx="969964" cy="26813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关系数据库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48" name="组合 47"/>
          <p:cNvGrpSpPr/>
          <p:nvPr userDrawn="1"/>
        </p:nvGrpSpPr>
        <p:grpSpPr>
          <a:xfrm>
            <a:off x="4840669" y="2496805"/>
            <a:ext cx="5984387" cy="276060"/>
            <a:chOff x="4387759" y="5548036"/>
            <a:chExt cx="3649626" cy="185081"/>
          </a:xfrm>
        </p:grpSpPr>
        <p:sp>
          <p:nvSpPr>
            <p:cNvPr id="49" name="Rounded Rectangle 114"/>
            <p:cNvSpPr/>
            <p:nvPr/>
          </p:nvSpPr>
          <p:spPr>
            <a:xfrm>
              <a:off x="7362612" y="5553351"/>
              <a:ext cx="674773" cy="179766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zh-CN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Spark</a:t>
              </a:r>
              <a:r>
                <a:rPr lang="zh-CN" altLang="en-US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系统</a:t>
              </a: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0" name="Rounded Rectangle 114"/>
            <p:cNvSpPr/>
            <p:nvPr/>
          </p:nvSpPr>
          <p:spPr>
            <a:xfrm>
              <a:off x="4387759" y="5553351"/>
              <a:ext cx="1025380" cy="179766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zh-CN" altLang="en-US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分布式内存数据库</a:t>
              </a: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1" name="Rounded Rectangle 114"/>
            <p:cNvSpPr/>
            <p:nvPr/>
          </p:nvSpPr>
          <p:spPr>
            <a:xfrm>
              <a:off x="5455607" y="5553351"/>
              <a:ext cx="459532" cy="179766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zh-CN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HDFS</a:t>
              </a:r>
              <a:endPara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2" name="Rounded Rectangle 114"/>
            <p:cNvSpPr/>
            <p:nvPr/>
          </p:nvSpPr>
          <p:spPr>
            <a:xfrm>
              <a:off x="5949337" y="5553351"/>
              <a:ext cx="445439" cy="179766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zh-CN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HBase</a:t>
              </a:r>
              <a:endParaRPr lang="en-US" altLang="zh-CN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53" name="Rounded Rectangle 114"/>
            <p:cNvSpPr/>
            <p:nvPr/>
          </p:nvSpPr>
          <p:spPr>
            <a:xfrm>
              <a:off x="6436601" y="5548036"/>
              <a:ext cx="864000" cy="18508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zh-CN" sz="900" dirty="0" err="1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Hadoop</a:t>
              </a:r>
              <a:r>
                <a:rPr lang="zh-CN" altLang="en-US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系统</a:t>
              </a: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</p:grpSp>
      <p:sp>
        <p:nvSpPr>
          <p:cNvPr id="54" name="矩形 4"/>
          <p:cNvSpPr>
            <a:spLocks noChangeArrowheads="1"/>
          </p:cNvSpPr>
          <p:nvPr userDrawn="1"/>
        </p:nvSpPr>
        <p:spPr bwMode="auto">
          <a:xfrm>
            <a:off x="476546" y="368660"/>
            <a:ext cx="564705" cy="2915542"/>
          </a:xfrm>
          <a:prstGeom prst="rect">
            <a:avLst/>
          </a:prstGeom>
          <a:solidFill>
            <a:srgbClr val="0971CE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标准规范体系</a:t>
            </a:r>
            <a:endParaRPr lang="zh-CN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55" name="矩形 5"/>
          <p:cNvSpPr>
            <a:spLocks noChangeArrowheads="1"/>
          </p:cNvSpPr>
          <p:nvPr userDrawn="1"/>
        </p:nvSpPr>
        <p:spPr bwMode="auto">
          <a:xfrm>
            <a:off x="11062367" y="368661"/>
            <a:ext cx="613701" cy="2920231"/>
          </a:xfrm>
          <a:prstGeom prst="rect">
            <a:avLst/>
          </a:prstGeom>
          <a:solidFill>
            <a:srgbClr val="0971CE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安全保障体系</a:t>
            </a:r>
            <a:endParaRPr lang="zh-CN" alt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圆角矩形 55"/>
          <p:cNvSpPr/>
          <p:nvPr userDrawn="1"/>
        </p:nvSpPr>
        <p:spPr>
          <a:xfrm>
            <a:off x="8859218" y="995263"/>
            <a:ext cx="1063177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圆角矩形 56"/>
          <p:cNvSpPr/>
          <p:nvPr userDrawn="1"/>
        </p:nvSpPr>
        <p:spPr>
          <a:xfrm>
            <a:off x="9980998" y="995263"/>
            <a:ext cx="814669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圆角矩形 57"/>
          <p:cNvSpPr/>
          <p:nvPr userDrawn="1"/>
        </p:nvSpPr>
        <p:spPr>
          <a:xfrm>
            <a:off x="5978835" y="995263"/>
            <a:ext cx="908511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圆角矩形 58"/>
          <p:cNvSpPr/>
          <p:nvPr userDrawn="1"/>
        </p:nvSpPr>
        <p:spPr>
          <a:xfrm>
            <a:off x="7924692" y="995263"/>
            <a:ext cx="875925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圆角矩形 59"/>
          <p:cNvSpPr/>
          <p:nvPr userDrawn="1"/>
        </p:nvSpPr>
        <p:spPr>
          <a:xfrm>
            <a:off x="6945945" y="995263"/>
            <a:ext cx="920147" cy="50400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圆角矩形 60"/>
          <p:cNvSpPr/>
          <p:nvPr userDrawn="1"/>
        </p:nvSpPr>
        <p:spPr>
          <a:xfrm>
            <a:off x="9386588" y="413666"/>
            <a:ext cx="680137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圆角矩形 61"/>
          <p:cNvSpPr/>
          <p:nvPr userDrawn="1"/>
        </p:nvSpPr>
        <p:spPr>
          <a:xfrm>
            <a:off x="10115530" y="413666"/>
            <a:ext cx="680137" cy="29137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***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391" y="2402786"/>
            <a:ext cx="4755109" cy="1962426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583841" y="3408619"/>
            <a:ext cx="2875136" cy="0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8509307" y="3362049"/>
            <a:ext cx="2875136" cy="0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10131998" y="1176342"/>
            <a:ext cx="127150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经济效益一</a:t>
            </a:r>
            <a:endParaRPr lang="zh-CN" altLang="zh-CN" sz="1600" dirty="0">
              <a:gradFill>
                <a:gsLst>
                  <a:gs pos="0">
                    <a:srgbClr val="FF0000"/>
                  </a:gs>
                  <a:gs pos="100000">
                    <a:srgbClr val="FF0000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8084508" y="1691056"/>
            <a:ext cx="3297736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lang="en-US" altLang="zh-CN" sz="12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经济效益</a:t>
            </a:r>
            <a:endParaRPr lang="zh-CN" altLang="en-US" sz="12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7817993" y="3543020"/>
            <a:ext cx="380956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 经济效益二</a:t>
            </a:r>
            <a:endParaRPr lang="zh-CN" altLang="en-US" sz="1600" dirty="0">
              <a:gradFill>
                <a:gsLst>
                  <a:gs pos="0">
                    <a:srgbClr val="FF0000"/>
                  </a:gs>
                  <a:gs pos="100000">
                    <a:srgbClr val="FF0000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7718495" y="4166364"/>
            <a:ext cx="3796171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lang="zh-CN" altLang="en-US" sz="12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经济效益</a:t>
            </a:r>
            <a:endParaRPr lang="zh-CN" altLang="en-US" sz="12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551884" y="1699008"/>
            <a:ext cx="4485568" cy="6124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zh-CN" altLang="en-US" sz="12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社会效益</a:t>
            </a:r>
            <a:endParaRPr lang="en-US" altLang="zh-CN" sz="12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zh-CN" sz="12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569147" y="1178146"/>
            <a:ext cx="12105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社会效益一</a:t>
            </a:r>
            <a:endParaRPr lang="zh-CN" altLang="zh-CN" sz="1600" dirty="0">
              <a:gradFill>
                <a:gsLst>
                  <a:gs pos="0">
                    <a:srgbClr val="FF0000"/>
                  </a:gs>
                  <a:gs pos="100000">
                    <a:srgbClr val="FF0000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551884" y="4163285"/>
            <a:ext cx="3614600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zh-CN" altLang="en-US" sz="120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社会效益</a:t>
            </a:r>
            <a:endParaRPr lang="zh-CN" altLang="zh-CN" sz="120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 userDrawn="1"/>
        </p:nvSpPr>
        <p:spPr>
          <a:xfrm>
            <a:off x="533914" y="3586203"/>
            <a:ext cx="12105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rPr>
              <a:t>社会效益二</a:t>
            </a:r>
            <a:endParaRPr lang="zh-CN" altLang="zh-CN" sz="1600" dirty="0">
              <a:gradFill>
                <a:gsLst>
                  <a:gs pos="0">
                    <a:srgbClr val="FF0000"/>
                  </a:gs>
                  <a:gs pos="100000">
                    <a:srgbClr val="FF0000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2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635393" y="1358770"/>
            <a:ext cx="10814755" cy="4871738"/>
            <a:chOff x="491067" y="1029377"/>
            <a:chExt cx="8111066" cy="5281662"/>
          </a:xfrm>
        </p:grpSpPr>
        <p:sp>
          <p:nvSpPr>
            <p:cNvPr id="4" name="圆角矩形 3"/>
            <p:cNvSpPr/>
            <p:nvPr/>
          </p:nvSpPr>
          <p:spPr>
            <a:xfrm>
              <a:off x="694268" y="2896936"/>
              <a:ext cx="7704666" cy="351802"/>
            </a:xfrm>
            <a:prstGeom prst="roundRect">
              <a:avLst/>
            </a:prstGeom>
            <a:solidFill>
              <a:srgbClr val="0971CE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r>
                <a:rPr lang="zh-CN" altLang="en-US" sz="1600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     </a:t>
              </a:r>
              <a:r>
                <a:rPr lang="zh-CN" altLang="en-US" sz="1800" b="1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知识计算</a:t>
              </a:r>
              <a:endParaRPr lang="zh-CN" altLang="en-US" sz="1800" b="1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 flipH="1">
              <a:off x="491067" y="1029377"/>
              <a:ext cx="8111066" cy="761323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6" name="圆角矩形 5"/>
            <p:cNvSpPr/>
            <p:nvPr/>
          </p:nvSpPr>
          <p:spPr>
            <a:xfrm>
              <a:off x="3828493" y="1430194"/>
              <a:ext cx="1440000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个性化推荐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圆角矩形 6"/>
            <p:cNvSpPr/>
            <p:nvPr/>
          </p:nvSpPr>
          <p:spPr>
            <a:xfrm>
              <a:off x="5395606" y="1427558"/>
              <a:ext cx="144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知识问答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694267" y="1438576"/>
              <a:ext cx="1440000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知识推理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2261380" y="1430194"/>
              <a:ext cx="144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语义搜索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694268" y="1075756"/>
              <a:ext cx="7704666" cy="272901"/>
            </a:xfrm>
            <a:prstGeom prst="roundRect">
              <a:avLst/>
            </a:prstGeom>
            <a:solidFill>
              <a:srgbClr val="0971CE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800" b="1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知识服务与应用</a:t>
              </a:r>
              <a:endParaRPr lang="zh-CN" altLang="en-US" sz="1800" b="1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右箭头 10"/>
            <p:cNvSpPr/>
            <p:nvPr/>
          </p:nvSpPr>
          <p:spPr>
            <a:xfrm rot="16200000">
              <a:off x="6176656" y="1730625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6962718" y="1427558"/>
              <a:ext cx="144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en-US" altLang="zh-CN" sz="12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……</a:t>
              </a:r>
              <a:endPara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 flipH="1">
              <a:off x="491067" y="1878169"/>
              <a:ext cx="8111066" cy="887891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679542" y="1933310"/>
              <a:ext cx="3148951" cy="732932"/>
            </a:xfrm>
            <a:prstGeom prst="roundRect">
              <a:avLst/>
            </a:prstGeom>
            <a:solidFill>
              <a:srgbClr val="0971CE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800" b="1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知识存储</a:t>
              </a:r>
              <a:endParaRPr lang="zh-CN" altLang="en-US" sz="1800" b="1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圆角矩形 14"/>
            <p:cNvSpPr/>
            <p:nvPr/>
          </p:nvSpPr>
          <p:spPr>
            <a:xfrm>
              <a:off x="6116600" y="2056521"/>
              <a:ext cx="2282334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显式知识存储：</a:t>
              </a:r>
              <a:r>
                <a:rPr lang="en-US" altLang="zh-CN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GDB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圆角矩形 15"/>
            <p:cNvSpPr/>
            <p:nvPr/>
          </p:nvSpPr>
          <p:spPr>
            <a:xfrm>
              <a:off x="6116600" y="2344974"/>
              <a:ext cx="2282334" cy="321173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隐式知识存储：</a:t>
              </a:r>
              <a:endParaRPr lang="en-US" altLang="zh-CN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关系数据库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" name="直接箭头连接符 16"/>
            <p:cNvCxnSpPr>
              <a:endCxn id="15" idx="1"/>
            </p:cNvCxnSpPr>
            <p:nvPr/>
          </p:nvCxnSpPr>
          <p:spPr>
            <a:xfrm>
              <a:off x="3828493" y="2177717"/>
              <a:ext cx="2288107" cy="0"/>
            </a:xfrm>
            <a:prstGeom prst="straightConnector1">
              <a:avLst/>
            </a:prstGeom>
            <a:noFill/>
            <a:ln w="12700">
              <a:solidFill>
                <a:srgbClr val="003F98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肘形连接符 17"/>
            <p:cNvCxnSpPr>
              <a:stCxn id="16" idx="1"/>
              <a:endCxn id="14" idx="3"/>
            </p:cNvCxnSpPr>
            <p:nvPr/>
          </p:nvCxnSpPr>
          <p:spPr>
            <a:xfrm rot="10800000">
              <a:off x="3828769" y="2300054"/>
              <a:ext cx="2287905" cy="205841"/>
            </a:xfrm>
            <a:prstGeom prst="bentConnector3">
              <a:avLst>
                <a:gd name="adj1" fmla="val 49980"/>
              </a:avLst>
            </a:prstGeom>
            <a:noFill/>
            <a:ln w="12700">
              <a:solidFill>
                <a:srgbClr val="003F98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肘形连接符 18"/>
            <p:cNvCxnSpPr>
              <a:stCxn id="15" idx="0"/>
            </p:cNvCxnSpPr>
            <p:nvPr/>
          </p:nvCxnSpPr>
          <p:spPr>
            <a:xfrm rot="16200000" flipV="1">
              <a:off x="5488244" y="286997"/>
              <a:ext cx="109745" cy="3429303"/>
            </a:xfrm>
            <a:prstGeom prst="bentConnector2">
              <a:avLst/>
            </a:prstGeom>
            <a:noFill/>
            <a:ln w="12700">
              <a:solidFill>
                <a:srgbClr val="003F98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矩形 19"/>
            <p:cNvSpPr/>
            <p:nvPr/>
          </p:nvSpPr>
          <p:spPr>
            <a:xfrm flipH="1">
              <a:off x="491067" y="2850557"/>
              <a:ext cx="8111066" cy="898483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6446468" y="2941456"/>
              <a:ext cx="1800000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实例计算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圆角矩形 21"/>
            <p:cNvSpPr/>
            <p:nvPr/>
          </p:nvSpPr>
          <p:spPr>
            <a:xfrm>
              <a:off x="694269" y="3309698"/>
              <a:ext cx="2829596" cy="386002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隐式知识</a:t>
              </a:r>
              <a:endParaRPr lang="en-US" altLang="zh-CN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显式知识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圆角矩形 22"/>
            <p:cNvSpPr/>
            <p:nvPr/>
          </p:nvSpPr>
          <p:spPr>
            <a:xfrm>
              <a:off x="2623864" y="2949838"/>
              <a:ext cx="1800000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属性计算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圆角矩形 23"/>
            <p:cNvSpPr/>
            <p:nvPr/>
          </p:nvSpPr>
          <p:spPr>
            <a:xfrm>
              <a:off x="4535166" y="2941456"/>
              <a:ext cx="180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关系计算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36932" y="3324099"/>
              <a:ext cx="355193" cy="355193"/>
            </a:xfrm>
            <a:prstGeom prst="rect">
              <a:avLst/>
            </a:prstGeom>
          </p:spPr>
        </p:pic>
        <p:sp>
          <p:nvSpPr>
            <p:cNvPr id="26" name="矩形 25"/>
            <p:cNvSpPr/>
            <p:nvPr/>
          </p:nvSpPr>
          <p:spPr>
            <a:xfrm>
              <a:off x="7241827" y="3361167"/>
              <a:ext cx="449580" cy="3003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0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专家</a:t>
              </a:r>
              <a:endPara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7" name="直接连接符 26"/>
            <p:cNvCxnSpPr>
              <a:endCxn id="22" idx="3"/>
            </p:cNvCxnSpPr>
            <p:nvPr/>
          </p:nvCxnSpPr>
          <p:spPr>
            <a:xfrm>
              <a:off x="797599" y="3502699"/>
              <a:ext cx="2726266" cy="0"/>
            </a:xfrm>
            <a:prstGeom prst="line">
              <a:avLst/>
            </a:prstGeom>
            <a:ln w="12700">
              <a:solidFill>
                <a:srgbClr val="003F98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矩形 27"/>
            <p:cNvSpPr/>
            <p:nvPr/>
          </p:nvSpPr>
          <p:spPr>
            <a:xfrm>
              <a:off x="5162667" y="3257463"/>
              <a:ext cx="1527245" cy="3403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知识验证与确认</a:t>
              </a:r>
              <a:endParaRPr lang="zh-CN" altLang="en-US" sz="1200" dirty="0">
                <a:ln w="11430"/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右箭头 28"/>
            <p:cNvSpPr/>
            <p:nvPr/>
          </p:nvSpPr>
          <p:spPr>
            <a:xfrm rot="16200000">
              <a:off x="6176656" y="2708781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0" name="右箭头 29"/>
            <p:cNvSpPr/>
            <p:nvPr/>
          </p:nvSpPr>
          <p:spPr>
            <a:xfrm rot="5400000" flipV="1">
              <a:off x="4993873" y="3239723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1" name="右箭头 30"/>
            <p:cNvSpPr/>
            <p:nvPr/>
          </p:nvSpPr>
          <p:spPr>
            <a:xfrm rot="16200000">
              <a:off x="4993873" y="3723771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 flipH="1">
              <a:off x="491067" y="3837020"/>
              <a:ext cx="8111066" cy="2380900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33" name="圆角矩形 32"/>
            <p:cNvSpPr/>
            <p:nvPr/>
          </p:nvSpPr>
          <p:spPr>
            <a:xfrm>
              <a:off x="679542" y="3883399"/>
              <a:ext cx="7723176" cy="272901"/>
            </a:xfrm>
            <a:prstGeom prst="roundRect">
              <a:avLst/>
            </a:prstGeom>
            <a:solidFill>
              <a:srgbClr val="0971CE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/>
              <a:r>
                <a:rPr lang="zh-CN" altLang="en-US" sz="1800" b="1" dirty="0">
                  <a:ln w="11430"/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知识库构建</a:t>
              </a:r>
              <a:endParaRPr lang="zh-CN" altLang="en-US" sz="1800" b="1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 flipH="1">
              <a:off x="694265" y="4212341"/>
              <a:ext cx="7704668" cy="793239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 flipH="1">
              <a:off x="694267" y="5076853"/>
              <a:ext cx="7704665" cy="927707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797599" y="4177135"/>
              <a:ext cx="7448869" cy="3403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知识融合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圆角矩形 36"/>
            <p:cNvSpPr/>
            <p:nvPr/>
          </p:nvSpPr>
          <p:spPr>
            <a:xfrm>
              <a:off x="1024805" y="4664199"/>
              <a:ext cx="1510192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实体链接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圆角矩形 37"/>
            <p:cNvSpPr/>
            <p:nvPr/>
          </p:nvSpPr>
          <p:spPr>
            <a:xfrm>
              <a:off x="2685804" y="4655817"/>
              <a:ext cx="1510192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本体扩充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 flipH="1">
              <a:off x="797599" y="4431044"/>
              <a:ext cx="3651018" cy="529379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1432601" y="4394464"/>
              <a:ext cx="2433080" cy="3403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时序融合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圆角矩形 40"/>
            <p:cNvSpPr/>
            <p:nvPr/>
          </p:nvSpPr>
          <p:spPr>
            <a:xfrm>
              <a:off x="4822656" y="4664199"/>
              <a:ext cx="1510192" cy="242391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实例匹配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圆角矩形 41"/>
            <p:cNvSpPr/>
            <p:nvPr/>
          </p:nvSpPr>
          <p:spPr>
            <a:xfrm>
              <a:off x="6483655" y="4655817"/>
              <a:ext cx="1510192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概念对齐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 flipH="1">
              <a:off x="4595450" y="4431044"/>
              <a:ext cx="3651018" cy="529379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5116306" y="4394464"/>
              <a:ext cx="2433080" cy="3403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多源融合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圆角矩形 44"/>
            <p:cNvSpPr/>
            <p:nvPr/>
          </p:nvSpPr>
          <p:spPr>
            <a:xfrm>
              <a:off x="797599" y="5143228"/>
              <a:ext cx="2448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概念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圆角矩形 45"/>
            <p:cNvSpPr/>
            <p:nvPr/>
          </p:nvSpPr>
          <p:spPr>
            <a:xfrm>
              <a:off x="3298034" y="5143228"/>
              <a:ext cx="2448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关系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圆角矩形 46"/>
            <p:cNvSpPr/>
            <p:nvPr/>
          </p:nvSpPr>
          <p:spPr>
            <a:xfrm>
              <a:off x="5798468" y="5143228"/>
              <a:ext cx="2448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右箭头 47"/>
            <p:cNvSpPr/>
            <p:nvPr/>
          </p:nvSpPr>
          <p:spPr>
            <a:xfrm rot="16200000">
              <a:off x="1934130" y="4995684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9" name="右箭头 48"/>
            <p:cNvSpPr/>
            <p:nvPr/>
          </p:nvSpPr>
          <p:spPr>
            <a:xfrm rot="16200000">
              <a:off x="6934999" y="4995684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 flipH="1">
              <a:off x="797598" y="5609749"/>
              <a:ext cx="7448869" cy="333165"/>
            </a:xfrm>
            <a:prstGeom prst="rect">
              <a:avLst/>
            </a:prstGeom>
            <a:noFill/>
            <a:ln w="6350">
              <a:solidFill>
                <a:srgbClr val="003F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solidFill>
                  <a:schemeClr val="tx1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51" name="圆角矩形 50"/>
            <p:cNvSpPr/>
            <p:nvPr/>
          </p:nvSpPr>
          <p:spPr>
            <a:xfrm>
              <a:off x="914932" y="5650944"/>
              <a:ext cx="234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网页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右箭头 51"/>
            <p:cNvSpPr/>
            <p:nvPr/>
          </p:nvSpPr>
          <p:spPr>
            <a:xfrm rot="16200000">
              <a:off x="4452767" y="5454122"/>
              <a:ext cx="174938" cy="120149"/>
            </a:xfrm>
            <a:prstGeom prst="rightArrow">
              <a:avLst/>
            </a:prstGeom>
            <a:solidFill>
              <a:srgbClr val="003F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4472044" y="5361828"/>
              <a:ext cx="1974424" cy="3403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基于实体的爬取和抽取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圆角矩形 53"/>
            <p:cNvSpPr/>
            <p:nvPr/>
          </p:nvSpPr>
          <p:spPr>
            <a:xfrm>
              <a:off x="3353662" y="5650944"/>
              <a:ext cx="234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在线百科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圆角矩形 54"/>
            <p:cNvSpPr/>
            <p:nvPr/>
          </p:nvSpPr>
          <p:spPr>
            <a:xfrm>
              <a:off x="5792393" y="5650944"/>
              <a:ext cx="2340000" cy="250774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核心词汇</a:t>
              </a:r>
              <a:endParaRPr lang="zh-CN" altLang="en-US" sz="12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694269" y="5970692"/>
              <a:ext cx="7704663" cy="3403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ln w="11430"/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知识获取</a:t>
              </a:r>
              <a:endParaRPr lang="zh-CN" altLang="en-US" sz="1200" dirty="0">
                <a:ln w="11430"/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7" name="直接箭头连接符 56"/>
            <p:cNvCxnSpPr/>
            <p:nvPr/>
          </p:nvCxnSpPr>
          <p:spPr>
            <a:xfrm flipH="1">
              <a:off x="3601725" y="3525066"/>
              <a:ext cx="3630642" cy="0"/>
            </a:xfrm>
            <a:prstGeom prst="straightConnector1">
              <a:avLst/>
            </a:prstGeom>
            <a:noFill/>
            <a:ln w="12700">
              <a:solidFill>
                <a:srgbClr val="003F98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426656" y="1457778"/>
            <a:ext cx="4630779" cy="4386835"/>
            <a:chOff x="5490159" y="1753042"/>
            <a:chExt cx="3473084" cy="4386835"/>
          </a:xfrm>
        </p:grpSpPr>
        <p:grpSp>
          <p:nvGrpSpPr>
            <p:cNvPr id="3" name="组合 42"/>
            <p:cNvGrpSpPr/>
            <p:nvPr/>
          </p:nvGrpSpPr>
          <p:grpSpPr bwMode="auto">
            <a:xfrm>
              <a:off x="5490160" y="1753042"/>
              <a:ext cx="3457730" cy="2102460"/>
              <a:chOff x="3188065" y="1778329"/>
              <a:chExt cx="2489174" cy="2267160"/>
            </a:xfrm>
          </p:grpSpPr>
          <p:sp>
            <p:nvSpPr>
              <p:cNvPr id="9" name="圆角矩形 14"/>
              <p:cNvSpPr>
                <a:spLocks noChangeArrowheads="1"/>
              </p:cNvSpPr>
              <p:nvPr/>
            </p:nvSpPr>
            <p:spPr bwMode="auto">
              <a:xfrm>
                <a:off x="3188065" y="1778329"/>
                <a:ext cx="2489174" cy="2267160"/>
              </a:xfrm>
              <a:prstGeom prst="roundRect">
                <a:avLst>
                  <a:gd name="adj" fmla="val 5015"/>
                </a:avLst>
              </a:prstGeom>
              <a:solidFill>
                <a:schemeClr val="bg1"/>
              </a:solidFill>
              <a:ln w="6350">
                <a:solidFill>
                  <a:srgbClr val="0971CE"/>
                </a:solidFill>
                <a:prstDash val="dash"/>
                <a:round/>
              </a:ln>
            </p:spPr>
            <p:txBody>
              <a:bodyPr anchor="ctr"/>
              <a:lstStyle>
                <a:lvl1pPr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lnSpc>
                    <a:spcPct val="135000"/>
                  </a:lnSpc>
                  <a:spcBef>
                    <a:spcPts val="1200"/>
                  </a:spcBef>
                  <a:spcAft>
                    <a:spcPts val="1200"/>
                  </a:spcAft>
                  <a:buClr>
                    <a:srgbClr val="202A36"/>
                  </a:buClr>
                  <a:buFontTx/>
                  <a:buNone/>
                </a:pPr>
                <a:endParaRPr lang="zh-CN" altLang="en-US" sz="1600">
                  <a:latin typeface="Arial" panose="020B0604020202020204" pitchFamily="34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3188436" y="1850969"/>
                <a:ext cx="2488803" cy="458308"/>
              </a:xfrm>
              <a:prstGeom prst="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r>
                  <a:rPr lang="zh-CN" altLang="en-US" sz="1600" dirty="0">
                    <a:ln w="11430"/>
                    <a:gradFill>
                      <a:gsLst>
                        <a:gs pos="25000">
                          <a:schemeClr val="bg1"/>
                        </a:gs>
                        <a:gs pos="100000">
                          <a:schemeClr val="bg1">
                            <a:lumMod val="95000"/>
                          </a:schemeClr>
                        </a:gs>
                      </a:gsLst>
                      <a:lin ang="5400000"/>
                    </a:gra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研究内容</a:t>
                </a:r>
                <a:endParaRPr lang="zh-CN" altLang="en-US" sz="1600" dirty="0">
                  <a:ln w="11430"/>
                  <a:gradFill>
                    <a:gsLst>
                      <a:gs pos="25000">
                        <a:schemeClr val="bg1"/>
                      </a:gs>
                      <a:gs pos="100000">
                        <a:schemeClr val="bg1">
                          <a:lumMod val="95000"/>
                        </a:schemeClr>
                      </a:gs>
                    </a:gsLst>
                    <a:lin ang="5400000"/>
                  </a:gra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" name="矩形 3"/>
            <p:cNvSpPr/>
            <p:nvPr/>
          </p:nvSpPr>
          <p:spPr>
            <a:xfrm>
              <a:off x="5490160" y="2248551"/>
              <a:ext cx="3473083" cy="13619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ts val="2500"/>
                </a:lnSpc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l"/>
              </a:pPr>
              <a:r>
                <a:rPr lang="zh-CN" altLang="en-US" sz="1100" b="1" dirty="0"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85000"/>
                          <a:lumOff val="1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***</a:t>
              </a:r>
              <a:endParaRPr lang="en-US" altLang="zh-CN" sz="11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ts val="2500"/>
                </a:lnSpc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l"/>
              </a:pPr>
              <a:r>
                <a:rPr lang="zh-CN" altLang="en-US" sz="1100" b="1" dirty="0"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85000"/>
                          <a:lumOff val="1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***</a:t>
              </a:r>
              <a:endParaRPr lang="en-US" altLang="zh-CN" sz="11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ts val="2500"/>
                </a:lnSpc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l"/>
              </a:pPr>
              <a:r>
                <a:rPr lang="zh-CN" altLang="en-US" sz="1100" b="1" dirty="0"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85000"/>
                          <a:lumOff val="1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***</a:t>
              </a:r>
              <a:endParaRPr lang="zh-CN" altLang="en-US" sz="11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" name="组合 42"/>
            <p:cNvGrpSpPr/>
            <p:nvPr/>
          </p:nvGrpSpPr>
          <p:grpSpPr bwMode="auto">
            <a:xfrm>
              <a:off x="5490159" y="4037417"/>
              <a:ext cx="3457730" cy="2102460"/>
              <a:chOff x="3188065" y="1778329"/>
              <a:chExt cx="2489174" cy="2267160"/>
            </a:xfrm>
          </p:grpSpPr>
          <p:sp>
            <p:nvSpPr>
              <p:cNvPr id="7" name="圆角矩形 14"/>
              <p:cNvSpPr>
                <a:spLocks noChangeArrowheads="1"/>
              </p:cNvSpPr>
              <p:nvPr/>
            </p:nvSpPr>
            <p:spPr bwMode="auto">
              <a:xfrm>
                <a:off x="3188065" y="1778329"/>
                <a:ext cx="2489174" cy="2267160"/>
              </a:xfrm>
              <a:prstGeom prst="roundRect">
                <a:avLst>
                  <a:gd name="adj" fmla="val 5015"/>
                </a:avLst>
              </a:prstGeom>
              <a:solidFill>
                <a:schemeClr val="bg1"/>
              </a:solidFill>
              <a:ln w="6350">
                <a:solidFill>
                  <a:srgbClr val="0971CE"/>
                </a:solidFill>
                <a:prstDash val="dash"/>
                <a:round/>
              </a:ln>
            </p:spPr>
            <p:txBody>
              <a:bodyPr anchor="ctr"/>
              <a:lstStyle>
                <a:lvl1pPr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200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lnSpc>
                    <a:spcPct val="135000"/>
                  </a:lnSpc>
                  <a:spcBef>
                    <a:spcPts val="1200"/>
                  </a:spcBef>
                  <a:spcAft>
                    <a:spcPts val="1200"/>
                  </a:spcAft>
                  <a:buClr>
                    <a:srgbClr val="202A36"/>
                  </a:buClr>
                  <a:buFontTx/>
                  <a:buNone/>
                </a:pPr>
                <a:endParaRPr lang="zh-CN" altLang="en-US" sz="1600">
                  <a:ln>
                    <a:solidFill>
                      <a:sysClr val="windowText" lastClr="000000"/>
                    </a:solidFill>
                  </a:ln>
                  <a:solidFill>
                    <a:srgbClr val="003F98"/>
                  </a:solidFill>
                  <a:latin typeface="Arial" panose="020B0604020202020204" pitchFamily="34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3188436" y="1850969"/>
                <a:ext cx="2488803" cy="458308"/>
              </a:xfrm>
              <a:prstGeom prst="rect">
                <a:avLst/>
              </a:prstGeom>
              <a:solidFill>
                <a:srgbClr val="0971C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r>
                  <a:rPr lang="zh-CN" altLang="zh-CN" sz="1600" dirty="0">
                    <a:ln w="11430"/>
                    <a:gradFill>
                      <a:gsLst>
                        <a:gs pos="25000">
                          <a:schemeClr val="bg1"/>
                        </a:gs>
                        <a:gs pos="100000">
                          <a:schemeClr val="bg1">
                            <a:lumMod val="95000"/>
                          </a:schemeClr>
                        </a:gs>
                      </a:gsLst>
                      <a:lin ang="5400000"/>
                    </a:gra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关键技术</a:t>
                </a:r>
                <a:endParaRPr lang="zh-CN" altLang="en-US" sz="1600" dirty="0">
                  <a:ln w="11430"/>
                  <a:gradFill>
                    <a:gsLst>
                      <a:gs pos="25000">
                        <a:schemeClr val="bg1"/>
                      </a:gs>
                      <a:gs pos="100000">
                        <a:schemeClr val="bg1">
                          <a:lumMod val="95000"/>
                        </a:schemeClr>
                      </a:gs>
                    </a:gsLst>
                    <a:lin ang="5400000"/>
                  </a:gra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" name="矩形 5"/>
            <p:cNvSpPr/>
            <p:nvPr/>
          </p:nvSpPr>
          <p:spPr>
            <a:xfrm>
              <a:off x="5490160" y="4641889"/>
              <a:ext cx="3320466" cy="10602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30000"/>
                </a:lnSpc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l"/>
              </a:pPr>
              <a:r>
                <a:rPr lang="zh-CN" altLang="en-US" sz="1100" b="1" dirty="0"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85000"/>
                          <a:lumOff val="1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***</a:t>
              </a:r>
              <a:endParaRPr lang="en-US" altLang="zh-CN" sz="11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l"/>
              </a:pPr>
              <a:r>
                <a:rPr lang="zh-CN" altLang="en-US" sz="1100" b="1" dirty="0"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85000"/>
                          <a:lumOff val="1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***</a:t>
              </a:r>
              <a:endParaRPr lang="en-US" altLang="zh-CN" sz="11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l"/>
              </a:pPr>
              <a:r>
                <a:rPr lang="zh-CN" altLang="en-US" sz="1100" b="1" dirty="0"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85000"/>
                          <a:lumOff val="1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***</a:t>
              </a:r>
              <a:endParaRPr lang="zh-CN" altLang="zh-CN" sz="1100" b="1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流程图: 磁盘 10"/>
          <p:cNvSpPr/>
          <p:nvPr userDrawn="1"/>
        </p:nvSpPr>
        <p:spPr>
          <a:xfrm>
            <a:off x="5435928" y="1313766"/>
            <a:ext cx="3541457" cy="540841"/>
          </a:xfrm>
          <a:prstGeom prst="flowChartMagneticDisk">
            <a:avLst/>
          </a:prstGeom>
          <a:solidFill>
            <a:srgbClr val="0971CE"/>
          </a:solidFill>
          <a:ln w="63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 w="11430"/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*****</a:t>
            </a:r>
            <a:endParaRPr kumimoji="0" lang="zh-CN" altLang="en-US" sz="1400" b="0" i="0" u="none" strike="noStrike" kern="1200" cap="none" spc="0" normalizeH="0" baseline="0" noProof="0" dirty="0">
              <a:ln w="11430"/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6065654" y="1930095"/>
            <a:ext cx="5166159" cy="863797"/>
          </a:xfrm>
          <a:prstGeom prst="rect">
            <a:avLst/>
          </a:prstGeom>
          <a:noFill/>
          <a:ln w="6350">
            <a:solidFill>
              <a:srgbClr val="003F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圆角矩形 12"/>
          <p:cNvSpPr/>
          <p:nvPr userDrawn="1"/>
        </p:nvSpPr>
        <p:spPr>
          <a:xfrm>
            <a:off x="6184388" y="2038679"/>
            <a:ext cx="835936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管理部门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34"/>
          <p:cNvSpPr>
            <a:spLocks noChangeArrowheads="1"/>
          </p:cNvSpPr>
          <p:nvPr userDrawn="1"/>
        </p:nvSpPr>
        <p:spPr bwMode="auto">
          <a:xfrm>
            <a:off x="5436888" y="1922388"/>
            <a:ext cx="628765" cy="879454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数据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对象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5" name="圆角矩形 14"/>
          <p:cNvSpPr/>
          <p:nvPr userDrawn="1"/>
        </p:nvSpPr>
        <p:spPr>
          <a:xfrm>
            <a:off x="7096759" y="2038679"/>
            <a:ext cx="861931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医疗机构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6" name="圆角矩形 15"/>
          <p:cNvSpPr/>
          <p:nvPr userDrawn="1"/>
        </p:nvSpPr>
        <p:spPr>
          <a:xfrm>
            <a:off x="7548324" y="2401117"/>
            <a:ext cx="895925" cy="295029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诊疗信息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7" name="圆角矩形 16"/>
          <p:cNvSpPr/>
          <p:nvPr userDrawn="1"/>
        </p:nvSpPr>
        <p:spPr>
          <a:xfrm>
            <a:off x="8526943" y="2409135"/>
            <a:ext cx="900887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随访信息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圆角矩形 17"/>
          <p:cNvSpPr/>
          <p:nvPr userDrawn="1"/>
        </p:nvSpPr>
        <p:spPr>
          <a:xfrm>
            <a:off x="9548043" y="2403948"/>
            <a:ext cx="981685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医保数据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圆角矩形 18"/>
          <p:cNvSpPr/>
          <p:nvPr userDrawn="1"/>
        </p:nvSpPr>
        <p:spPr>
          <a:xfrm>
            <a:off x="10261347" y="2038679"/>
            <a:ext cx="86357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研究机构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0" name="圆角矩形 19"/>
          <p:cNvSpPr/>
          <p:nvPr userDrawn="1"/>
        </p:nvSpPr>
        <p:spPr>
          <a:xfrm>
            <a:off x="6184388" y="2405128"/>
            <a:ext cx="1273152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患者基本信息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1" name="圆角矩形 20"/>
          <p:cNvSpPr/>
          <p:nvPr userDrawn="1"/>
        </p:nvSpPr>
        <p:spPr>
          <a:xfrm>
            <a:off x="8035124" y="2038679"/>
            <a:ext cx="662251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家庭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2" name="圆角矩形 21"/>
          <p:cNvSpPr/>
          <p:nvPr userDrawn="1"/>
        </p:nvSpPr>
        <p:spPr>
          <a:xfrm>
            <a:off x="8773810" y="2038679"/>
            <a:ext cx="69779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患者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圆角矩形 22"/>
          <p:cNvSpPr/>
          <p:nvPr userDrawn="1"/>
        </p:nvSpPr>
        <p:spPr>
          <a:xfrm>
            <a:off x="9548043" y="2038679"/>
            <a:ext cx="636868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企业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圆角矩形 23"/>
          <p:cNvSpPr/>
          <p:nvPr userDrawn="1"/>
        </p:nvSpPr>
        <p:spPr>
          <a:xfrm>
            <a:off x="7940091" y="3057753"/>
            <a:ext cx="1003524" cy="316320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分布式</a:t>
            </a:r>
            <a:endParaRPr lang="en-US" altLang="zh-CN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/>
          <p:cNvSpPr>
            <a:spLocks noChangeArrowheads="1"/>
          </p:cNvSpPr>
          <p:nvPr userDrawn="1"/>
        </p:nvSpPr>
        <p:spPr bwMode="auto">
          <a:xfrm>
            <a:off x="5438331" y="2996451"/>
            <a:ext cx="628765" cy="880914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数据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存储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6" name="矩形 25"/>
          <p:cNvSpPr/>
          <p:nvPr userDrawn="1"/>
        </p:nvSpPr>
        <p:spPr>
          <a:xfrm>
            <a:off x="6067095" y="2993527"/>
            <a:ext cx="5166159" cy="863797"/>
          </a:xfrm>
          <a:prstGeom prst="rect">
            <a:avLst/>
          </a:prstGeom>
          <a:noFill/>
          <a:ln w="6350">
            <a:solidFill>
              <a:srgbClr val="003F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prstClr val="white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27" name="圆角矩形 26"/>
          <p:cNvSpPr/>
          <p:nvPr userDrawn="1"/>
        </p:nvSpPr>
        <p:spPr>
          <a:xfrm>
            <a:off x="7940091" y="3460896"/>
            <a:ext cx="1003524" cy="34341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分布式文件系统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圆角矩形 27"/>
          <p:cNvSpPr/>
          <p:nvPr userDrawn="1"/>
        </p:nvSpPr>
        <p:spPr>
          <a:xfrm>
            <a:off x="9048494" y="3460896"/>
            <a:ext cx="2064964" cy="343417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数据资源目录与管理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34"/>
          <p:cNvSpPr>
            <a:spLocks noChangeArrowheads="1"/>
          </p:cNvSpPr>
          <p:nvPr userDrawn="1"/>
        </p:nvSpPr>
        <p:spPr bwMode="auto">
          <a:xfrm>
            <a:off x="5438331" y="4065426"/>
            <a:ext cx="628765" cy="452052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预</a:t>
            </a:r>
            <a:endParaRPr lang="en-US" altLang="zh-CN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处理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0" name="矩形 29"/>
          <p:cNvSpPr/>
          <p:nvPr userDrawn="1"/>
        </p:nvSpPr>
        <p:spPr>
          <a:xfrm>
            <a:off x="6067095" y="4057204"/>
            <a:ext cx="5166159" cy="451562"/>
          </a:xfrm>
          <a:prstGeom prst="rect">
            <a:avLst/>
          </a:prstGeom>
          <a:noFill/>
          <a:ln w="6350">
            <a:solidFill>
              <a:srgbClr val="003F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prstClr val="white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31" name="圆角矩形 30"/>
          <p:cNvSpPr/>
          <p:nvPr userDrawn="1"/>
        </p:nvSpPr>
        <p:spPr>
          <a:xfrm>
            <a:off x="6184388" y="4139358"/>
            <a:ext cx="75470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清洗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圆角矩形 31"/>
          <p:cNvSpPr/>
          <p:nvPr userDrawn="1"/>
        </p:nvSpPr>
        <p:spPr>
          <a:xfrm>
            <a:off x="7080426" y="4139358"/>
            <a:ext cx="75422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转换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3" name="圆角矩形 32"/>
          <p:cNvSpPr/>
          <p:nvPr userDrawn="1"/>
        </p:nvSpPr>
        <p:spPr>
          <a:xfrm>
            <a:off x="7975967" y="4139358"/>
            <a:ext cx="75422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解释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4" name="圆角矩形 33"/>
          <p:cNvSpPr/>
          <p:nvPr userDrawn="1"/>
        </p:nvSpPr>
        <p:spPr>
          <a:xfrm>
            <a:off x="8852074" y="4139358"/>
            <a:ext cx="754229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融合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5" name="圆角矩形 34"/>
          <p:cNvSpPr/>
          <p:nvPr userDrawn="1"/>
        </p:nvSpPr>
        <p:spPr>
          <a:xfrm>
            <a:off x="9716869" y="4139358"/>
            <a:ext cx="1391404" cy="287011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加工更新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角矩形 35"/>
          <p:cNvSpPr/>
          <p:nvPr userDrawn="1"/>
        </p:nvSpPr>
        <p:spPr>
          <a:xfrm>
            <a:off x="8732382" y="4799095"/>
            <a:ext cx="1147116" cy="313555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技术标准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圆角矩形 36"/>
          <p:cNvSpPr/>
          <p:nvPr userDrawn="1"/>
        </p:nvSpPr>
        <p:spPr>
          <a:xfrm>
            <a:off x="9989107" y="4799095"/>
            <a:ext cx="1155216" cy="313555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基础标准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圆角矩形 37"/>
          <p:cNvSpPr/>
          <p:nvPr userDrawn="1"/>
        </p:nvSpPr>
        <p:spPr>
          <a:xfrm>
            <a:off x="7409618" y="4799095"/>
            <a:ext cx="1213156" cy="313555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数据标准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圆角矩形 38"/>
          <p:cNvSpPr/>
          <p:nvPr userDrawn="1"/>
        </p:nvSpPr>
        <p:spPr>
          <a:xfrm>
            <a:off x="6184388" y="4799095"/>
            <a:ext cx="1115621" cy="313555"/>
          </a:xfrm>
          <a:prstGeom prst="roundRect">
            <a:avLst/>
          </a:prstGeom>
          <a:solidFill>
            <a:srgbClr val="D3E4FC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采集模型</a:t>
            </a:r>
            <a:endParaRPr lang="zh-CN" altLang="en-US" sz="10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流程图: 磁盘 39"/>
          <p:cNvSpPr/>
          <p:nvPr userDrawn="1"/>
        </p:nvSpPr>
        <p:spPr>
          <a:xfrm>
            <a:off x="6184388" y="5191732"/>
            <a:ext cx="996024" cy="763703"/>
          </a:xfrm>
          <a:prstGeom prst="flowChartMagneticDisk">
            <a:avLst/>
          </a:prstGeom>
          <a:solidFill>
            <a:srgbClr val="D3E4FC"/>
          </a:solidFill>
          <a:ln w="63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endParaRPr lang="zh-CN" altLang="en-US" sz="800">
              <a:ln w="11430"/>
              <a:gradFill>
                <a:gsLst>
                  <a:gs pos="0">
                    <a:schemeClr val="tx1">
                      <a:lumMod val="95000"/>
                      <a:lumOff val="5000"/>
                    </a:schemeClr>
                  </a:gs>
                  <a:gs pos="100000">
                    <a:schemeClr val="tx1">
                      <a:lumMod val="95000"/>
                      <a:lumOff val="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6064692" y="5475977"/>
            <a:ext cx="1235317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各级卫生部门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0" algn="ctr">
              <a:lnSpc>
                <a:spcPct val="120000"/>
              </a:lnSpc>
              <a:defRPr/>
            </a:pPr>
            <a:r>
              <a: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电子健康档案</a:t>
            </a:r>
            <a:endParaRPr lang="zh-CN" altLang="en-US" sz="900" dirty="0">
              <a:ln w="11430"/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2" name="组合 41"/>
          <p:cNvGrpSpPr/>
          <p:nvPr userDrawn="1"/>
        </p:nvGrpSpPr>
        <p:grpSpPr>
          <a:xfrm>
            <a:off x="7050805" y="5191730"/>
            <a:ext cx="1424655" cy="763703"/>
            <a:chOff x="4188" y="8911"/>
            <a:chExt cx="2497" cy="1381"/>
          </a:xfrm>
        </p:grpSpPr>
        <p:sp>
          <p:nvSpPr>
            <p:cNvPr id="43" name="流程图: 磁盘 42"/>
            <p:cNvSpPr/>
            <p:nvPr/>
          </p:nvSpPr>
          <p:spPr>
            <a:xfrm>
              <a:off x="4514" y="8911"/>
              <a:ext cx="1845" cy="1381"/>
            </a:xfrm>
            <a:prstGeom prst="flowChartMagneticDisk">
              <a:avLst/>
            </a:prstGeom>
            <a:solidFill>
              <a:srgbClr val="D3E4FC"/>
            </a:solidFill>
            <a:ln w="63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800">
                <a:ln w="11430"/>
                <a:gradFill>
                  <a:gsLst>
                    <a:gs pos="0">
                      <a:schemeClr val="tx1">
                        <a:lumMod val="95000"/>
                        <a:lumOff val="5000"/>
                      </a:schemeClr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4188" y="9425"/>
              <a:ext cx="2497" cy="768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lvl="0" algn="ctr">
                <a:lnSpc>
                  <a:spcPct val="120000"/>
                </a:lnSpc>
                <a:defRPr sz="800">
                  <a:ln w="11430"/>
                  <a:gradFill>
                    <a:gsLst>
                      <a:gs pos="0">
                        <a:schemeClr val="tx1">
                          <a:lumMod val="95000"/>
                          <a:lumOff val="5000"/>
                        </a:schemeClr>
                      </a:gs>
                      <a:gs pos="100000">
                        <a:schemeClr val="tx1">
                          <a:lumMod val="95000"/>
                          <a:lumOff val="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9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各类医疗机构</a:t>
              </a:r>
              <a:endParaRPr lang="zh-CN" altLang="en-US" sz="9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r>
                <a:rPr lang="zh-CN" altLang="en-US" sz="9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电子病历数据</a:t>
              </a:r>
              <a:endParaRPr lang="zh-CN" altLang="en-US" sz="9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grpSp>
        <p:nvGrpSpPr>
          <p:cNvPr id="45" name="组合 44"/>
          <p:cNvGrpSpPr/>
          <p:nvPr userDrawn="1"/>
        </p:nvGrpSpPr>
        <p:grpSpPr>
          <a:xfrm>
            <a:off x="8188285" y="5191730"/>
            <a:ext cx="1436664" cy="763703"/>
            <a:chOff x="6368" y="8911"/>
            <a:chExt cx="2470" cy="1381"/>
          </a:xfrm>
        </p:grpSpPr>
        <p:sp>
          <p:nvSpPr>
            <p:cNvPr id="46" name="流程图: 磁盘 45"/>
            <p:cNvSpPr/>
            <p:nvPr/>
          </p:nvSpPr>
          <p:spPr>
            <a:xfrm>
              <a:off x="6630" y="8911"/>
              <a:ext cx="1845" cy="1381"/>
            </a:xfrm>
            <a:prstGeom prst="flowChartMagneticDisk">
              <a:avLst/>
            </a:prstGeom>
            <a:solidFill>
              <a:srgbClr val="D3E4FC"/>
            </a:solidFill>
            <a:ln w="63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800">
                <a:ln w="11430"/>
                <a:gradFill>
                  <a:gsLst>
                    <a:gs pos="0">
                      <a:schemeClr val="tx1">
                        <a:lumMod val="95000"/>
                        <a:lumOff val="5000"/>
                      </a:schemeClr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6368" y="9430"/>
              <a:ext cx="2470" cy="76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疾病控制中心</a:t>
              </a: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20000"/>
                </a:lnSpc>
              </a:pPr>
              <a:r>
                <a:rPr lang="zh-CN" altLang="en-US" sz="9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公共卫生数据</a:t>
              </a: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 userDrawn="1"/>
        </p:nvGrpSpPr>
        <p:grpSpPr>
          <a:xfrm>
            <a:off x="9375179" y="5191730"/>
            <a:ext cx="1098416" cy="763703"/>
            <a:chOff x="8561" y="8911"/>
            <a:chExt cx="2285" cy="1381"/>
          </a:xfrm>
        </p:grpSpPr>
        <p:sp>
          <p:nvSpPr>
            <p:cNvPr id="49" name="流程图: 磁盘 48"/>
            <p:cNvSpPr/>
            <p:nvPr/>
          </p:nvSpPr>
          <p:spPr>
            <a:xfrm>
              <a:off x="8746" y="8911"/>
              <a:ext cx="1845" cy="1381"/>
            </a:xfrm>
            <a:prstGeom prst="flowChartMagneticDisk">
              <a:avLst/>
            </a:prstGeom>
            <a:solidFill>
              <a:srgbClr val="D3E4FC"/>
            </a:solidFill>
            <a:ln w="63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800">
                <a:ln w="11430"/>
                <a:gradFill>
                  <a:gsLst>
                    <a:gs pos="0">
                      <a:schemeClr val="tx1">
                        <a:lumMod val="95000"/>
                        <a:lumOff val="5000"/>
                      </a:schemeClr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8561" y="9425"/>
              <a:ext cx="2285" cy="768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lvl="0" algn="ctr">
                <a:lnSpc>
                  <a:spcPct val="120000"/>
                </a:lnSpc>
                <a:defRPr sz="800">
                  <a:ln w="11430"/>
                  <a:gradFill>
                    <a:gsLst>
                      <a:gs pos="0">
                        <a:schemeClr val="tx1">
                          <a:lumMod val="95000"/>
                          <a:lumOff val="5000"/>
                        </a:schemeClr>
                      </a:gs>
                      <a:gs pos="100000">
                        <a:schemeClr val="tx1">
                          <a:lumMod val="95000"/>
                          <a:lumOff val="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  <a:lvl2pPr>
                <a:defRPr>
                  <a:solidFill>
                    <a:schemeClr val="tx1"/>
                  </a:solidFill>
                </a:defRPr>
              </a:lvl2pPr>
              <a:lvl3pPr>
                <a:defRPr>
                  <a:solidFill>
                    <a:schemeClr val="tx1"/>
                  </a:solidFill>
                </a:defRPr>
              </a:lvl3pPr>
              <a:lvl4pPr>
                <a:defRPr>
                  <a:solidFill>
                    <a:schemeClr val="tx1"/>
                  </a:solidFill>
                </a:defRPr>
              </a:lvl4pPr>
              <a:lvl5pPr>
                <a:defRPr>
                  <a:solidFill>
                    <a:schemeClr val="tx1"/>
                  </a:solidFill>
                </a:defRPr>
              </a:lvl5pPr>
              <a:lvl6pPr>
                <a:defRPr>
                  <a:solidFill>
                    <a:schemeClr val="tx1"/>
                  </a:solidFill>
                </a:defRPr>
              </a:lvl6pPr>
              <a:lvl7pPr>
                <a:defRPr>
                  <a:solidFill>
                    <a:schemeClr val="tx1"/>
                  </a:solidFill>
                </a:defRPr>
              </a:lvl7pPr>
              <a:lvl8pPr>
                <a:defRPr>
                  <a:solidFill>
                    <a:schemeClr val="tx1"/>
                  </a:solidFill>
                </a:defRPr>
              </a:lvl8pPr>
              <a:lvl9pPr>
                <a:defRPr>
                  <a:solidFill>
                    <a:schemeClr val="tx1"/>
                  </a:solidFill>
                </a:defRPr>
              </a:lvl9pPr>
            </a:lstStyle>
            <a:p>
              <a:r>
                <a:rPr lang="zh-CN" altLang="en-US" sz="9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基于循证</a:t>
              </a:r>
              <a:endParaRPr lang="zh-CN" altLang="en-US" sz="9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r>
                <a:rPr lang="zh-CN" altLang="en-US" sz="9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的网络数据</a:t>
              </a:r>
              <a:endParaRPr lang="zh-CN" altLang="en-US" sz="9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grpSp>
        <p:nvGrpSpPr>
          <p:cNvPr id="51" name="组合 50"/>
          <p:cNvGrpSpPr/>
          <p:nvPr userDrawn="1"/>
        </p:nvGrpSpPr>
        <p:grpSpPr>
          <a:xfrm>
            <a:off x="10301389" y="5191730"/>
            <a:ext cx="911340" cy="763703"/>
            <a:chOff x="10683" y="8911"/>
            <a:chExt cx="2158" cy="1381"/>
          </a:xfrm>
        </p:grpSpPr>
        <p:sp>
          <p:nvSpPr>
            <p:cNvPr id="52" name="流程图: 磁盘 51"/>
            <p:cNvSpPr/>
            <p:nvPr/>
          </p:nvSpPr>
          <p:spPr>
            <a:xfrm>
              <a:off x="10862" y="8911"/>
              <a:ext cx="1845" cy="1381"/>
            </a:xfrm>
            <a:prstGeom prst="flowChartMagneticDisk">
              <a:avLst/>
            </a:prstGeom>
            <a:solidFill>
              <a:srgbClr val="D3E4FC"/>
            </a:solidFill>
            <a:ln w="63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800">
                <a:ln w="11430"/>
                <a:gradFill>
                  <a:gsLst>
                    <a:gs pos="0">
                      <a:schemeClr val="tx1">
                        <a:lumMod val="95000"/>
                        <a:lumOff val="5000"/>
                      </a:schemeClr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0683" y="9425"/>
              <a:ext cx="2158" cy="768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lvl="0" algn="ctr">
                <a:lnSpc>
                  <a:spcPct val="120000"/>
                </a:lnSpc>
                <a:defRPr sz="800">
                  <a:ln w="11430"/>
                  <a:gradFill>
                    <a:gsLst>
                      <a:gs pos="0">
                        <a:schemeClr val="tx1">
                          <a:lumMod val="95000"/>
                          <a:lumOff val="5000"/>
                        </a:schemeClr>
                      </a:gs>
                      <a:gs pos="100000">
                        <a:schemeClr val="tx1">
                          <a:lumMod val="95000"/>
                          <a:lumOff val="5000"/>
                        </a:schemeClr>
                      </a:gs>
                    </a:gsLst>
                    <a:lin ang="54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9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日常生活</a:t>
              </a:r>
              <a:endParaRPr lang="en-US" altLang="zh-CN" sz="9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  <a:p>
              <a:r>
                <a:rPr lang="zh-CN" altLang="en-US" sz="9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数据</a:t>
              </a:r>
              <a:endParaRPr lang="zh-CN" altLang="en-US" sz="9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54" name="矩形 53"/>
          <p:cNvSpPr/>
          <p:nvPr userDrawn="1"/>
        </p:nvSpPr>
        <p:spPr>
          <a:xfrm>
            <a:off x="6065654" y="4707848"/>
            <a:ext cx="5166159" cy="1333300"/>
          </a:xfrm>
          <a:prstGeom prst="rect">
            <a:avLst/>
          </a:prstGeom>
          <a:noFill/>
          <a:ln w="6350">
            <a:solidFill>
              <a:srgbClr val="003F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prstClr val="white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55" name="矩形 34"/>
          <p:cNvSpPr>
            <a:spLocks noChangeArrowheads="1"/>
          </p:cNvSpPr>
          <p:nvPr userDrawn="1"/>
        </p:nvSpPr>
        <p:spPr bwMode="auto">
          <a:xfrm>
            <a:off x="5436408" y="4708402"/>
            <a:ext cx="629245" cy="1332747"/>
          </a:xfrm>
          <a:prstGeom prst="rect">
            <a:avLst/>
          </a:prstGeom>
          <a:solidFill>
            <a:srgbClr val="003F98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数据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  <a:p>
            <a:pPr algn="ctr"/>
            <a:r>
              <a:rPr lang="zh-CN" altLang="en-US" sz="11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Arial" panose="020B0604020202020204" pitchFamily="34" charset="0"/>
              </a:rPr>
              <a:t>采集</a:t>
            </a:r>
            <a:endParaRPr lang="zh-CN" altLang="en-US" sz="11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56" name="下箭头 55"/>
          <p:cNvSpPr/>
          <p:nvPr userDrawn="1"/>
        </p:nvSpPr>
        <p:spPr>
          <a:xfrm flipV="1">
            <a:off x="8394970" y="2805749"/>
            <a:ext cx="182668" cy="188022"/>
          </a:xfrm>
          <a:prstGeom prst="downArrow">
            <a:avLst/>
          </a:prstGeom>
          <a:solidFill>
            <a:srgbClr val="003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57" name="下箭头 56"/>
          <p:cNvSpPr/>
          <p:nvPr userDrawn="1"/>
        </p:nvSpPr>
        <p:spPr>
          <a:xfrm flipV="1">
            <a:off x="8394970" y="3869182"/>
            <a:ext cx="182668" cy="188022"/>
          </a:xfrm>
          <a:prstGeom prst="downArrow">
            <a:avLst/>
          </a:prstGeom>
          <a:solidFill>
            <a:srgbClr val="003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58" name="下箭头 57"/>
          <p:cNvSpPr/>
          <p:nvPr userDrawn="1"/>
        </p:nvSpPr>
        <p:spPr>
          <a:xfrm flipV="1">
            <a:off x="8394970" y="4509011"/>
            <a:ext cx="182668" cy="188022"/>
          </a:xfrm>
          <a:prstGeom prst="downArrow">
            <a:avLst/>
          </a:prstGeom>
          <a:solidFill>
            <a:srgbClr val="003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59" name="下箭头 58"/>
          <p:cNvSpPr/>
          <p:nvPr userDrawn="1"/>
        </p:nvSpPr>
        <p:spPr>
          <a:xfrm flipV="1">
            <a:off x="8394970" y="1837729"/>
            <a:ext cx="182668" cy="188022"/>
          </a:xfrm>
          <a:prstGeom prst="downArrow">
            <a:avLst/>
          </a:prstGeom>
          <a:solidFill>
            <a:srgbClr val="003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60" name="矩形 5"/>
          <p:cNvSpPr>
            <a:spLocks noChangeArrowheads="1"/>
          </p:cNvSpPr>
          <p:nvPr userDrawn="1"/>
        </p:nvSpPr>
        <p:spPr bwMode="auto">
          <a:xfrm>
            <a:off x="11420249" y="1930094"/>
            <a:ext cx="381681" cy="4111054"/>
          </a:xfrm>
          <a:prstGeom prst="rect">
            <a:avLst/>
          </a:prstGeom>
          <a:solidFill>
            <a:srgbClr val="0971CE"/>
          </a:solidFill>
          <a:ln w="63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安全保障体系</a:t>
            </a:r>
            <a:endParaRPr lang="zh-CN" altLang="en-US" sz="12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/>
          <p:cNvSpPr txBox="1"/>
          <p:nvPr userDrawn="1"/>
        </p:nvSpPr>
        <p:spPr>
          <a:xfrm>
            <a:off x="10529728" y="2382474"/>
            <a:ext cx="828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……</a:t>
            </a:r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2" name="圆角矩形 61"/>
          <p:cNvSpPr/>
          <p:nvPr userDrawn="1"/>
        </p:nvSpPr>
        <p:spPr>
          <a:xfrm>
            <a:off x="9464110" y="1440680"/>
            <a:ext cx="2337820" cy="287011"/>
          </a:xfrm>
          <a:prstGeom prst="roundRect">
            <a:avLst/>
          </a:prstGeom>
          <a:solidFill>
            <a:srgbClr val="0971C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200" dirty="0">
                <a:solidFill>
                  <a:prstClr val="white"/>
                </a:solidFill>
                <a:latin typeface="等线" panose="02010600030101010101" charset="-122"/>
                <a:ea typeface="等线" panose="02010600030101010101" charset="-122"/>
                <a:sym typeface="+mn-ea"/>
              </a:rPr>
              <a:t>****</a:t>
            </a:r>
            <a:endParaRPr lang="zh-CN" altLang="en-US" sz="1200" dirty="0">
              <a:solidFill>
                <a:prstClr val="white"/>
              </a:solidFill>
              <a:latin typeface="等线" panose="02010600030101010101" charset="-122"/>
              <a:ea typeface="等线" panose="02010600030101010101" charset="-122"/>
              <a:sym typeface="+mn-ea"/>
            </a:endParaRPr>
          </a:p>
        </p:txBody>
      </p:sp>
      <p:sp>
        <p:nvSpPr>
          <p:cNvPr id="63" name="左右箭头 62"/>
          <p:cNvSpPr/>
          <p:nvPr userDrawn="1"/>
        </p:nvSpPr>
        <p:spPr>
          <a:xfrm>
            <a:off x="8997572" y="1515610"/>
            <a:ext cx="416241" cy="212081"/>
          </a:xfrm>
          <a:prstGeom prst="leftRightArrow">
            <a:avLst/>
          </a:prstGeom>
          <a:solidFill>
            <a:srgbClr val="0971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64" name="左右箭头 63"/>
          <p:cNvSpPr/>
          <p:nvPr userDrawn="1"/>
        </p:nvSpPr>
        <p:spPr>
          <a:xfrm rot="5400000">
            <a:off x="10546717" y="1246246"/>
            <a:ext cx="223835" cy="196849"/>
          </a:xfrm>
          <a:prstGeom prst="leftRightArrow">
            <a:avLst/>
          </a:prstGeom>
          <a:solidFill>
            <a:srgbClr val="0971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grpSp>
        <p:nvGrpSpPr>
          <p:cNvPr id="65" name="组合 64"/>
          <p:cNvGrpSpPr/>
          <p:nvPr userDrawn="1"/>
        </p:nvGrpSpPr>
        <p:grpSpPr>
          <a:xfrm>
            <a:off x="6156877" y="3057753"/>
            <a:ext cx="1768340" cy="746560"/>
            <a:chOff x="977237" y="3204675"/>
            <a:chExt cx="1326255" cy="746560"/>
          </a:xfrm>
        </p:grpSpPr>
        <p:sp>
          <p:nvSpPr>
            <p:cNvPr id="66" name="圆角矩形 65"/>
            <p:cNvSpPr/>
            <p:nvPr/>
          </p:nvSpPr>
          <p:spPr>
            <a:xfrm>
              <a:off x="997870" y="3204675"/>
              <a:ext cx="1253904" cy="746560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977237" y="3553010"/>
              <a:ext cx="1326255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0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  <a:endPara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8" name="组合 67"/>
          <p:cNvGrpSpPr/>
          <p:nvPr userDrawn="1"/>
        </p:nvGrpSpPr>
        <p:grpSpPr>
          <a:xfrm>
            <a:off x="9047622" y="3057754"/>
            <a:ext cx="952801" cy="313555"/>
            <a:chOff x="3145296" y="3204675"/>
            <a:chExt cx="714601" cy="313555"/>
          </a:xfrm>
        </p:grpSpPr>
        <p:sp>
          <p:nvSpPr>
            <p:cNvPr id="69" name="圆角矩形 68"/>
            <p:cNvSpPr/>
            <p:nvPr/>
          </p:nvSpPr>
          <p:spPr>
            <a:xfrm>
              <a:off x="3145296" y="3204675"/>
              <a:ext cx="714601" cy="313555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3240986" y="3222953"/>
              <a:ext cx="52322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0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数据仓库</a:t>
              </a:r>
              <a:endPara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1" name="组合 70"/>
          <p:cNvGrpSpPr/>
          <p:nvPr userDrawn="1"/>
        </p:nvGrpSpPr>
        <p:grpSpPr>
          <a:xfrm>
            <a:off x="10064486" y="3054988"/>
            <a:ext cx="1060440" cy="316320"/>
            <a:chOff x="3907944" y="3201910"/>
            <a:chExt cx="795330" cy="316320"/>
          </a:xfrm>
        </p:grpSpPr>
        <p:sp>
          <p:nvSpPr>
            <p:cNvPr id="72" name="圆角矩形 71"/>
            <p:cNvSpPr/>
            <p:nvPr/>
          </p:nvSpPr>
          <p:spPr>
            <a:xfrm>
              <a:off x="3907944" y="3201910"/>
              <a:ext cx="795330" cy="316320"/>
            </a:xfrm>
            <a:prstGeom prst="roundRect">
              <a:avLst/>
            </a:prstGeom>
            <a:solidFill>
              <a:srgbClr val="D3E4FC"/>
            </a:soli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9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3995909" y="3221571"/>
              <a:ext cx="619400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000" dirty="0">
                  <a:ln w="11430"/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语义数据库</a:t>
              </a:r>
              <a:endParaRPr lang="zh-CN" altLang="en-US" sz="1000" dirty="0">
                <a:ln w="11430"/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 userDrawn="1"/>
        </p:nvGraphicFramePr>
        <p:xfrm>
          <a:off x="469805" y="1437251"/>
          <a:ext cx="11252386" cy="472300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79617"/>
                <a:gridCol w="8472769"/>
              </a:tblGrid>
              <a:tr h="4760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gradFill>
                            <a:gsLst>
                              <a:gs pos="0">
                                <a:schemeClr val="bg1"/>
                              </a:gs>
                              <a:gs pos="100000">
                                <a:schemeClr val="bg1"/>
                              </a:gs>
                            </a:gsLst>
                            <a:lin ang="5400000" scaled="1"/>
                          </a:gra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gradFill>
                          <a:gsLst>
                            <a:gs pos="0">
                              <a:schemeClr val="bg1"/>
                            </a:gs>
                            <a:gs pos="100000">
                              <a:schemeClr val="bg1"/>
                            </a:gs>
                          </a:gsLst>
                          <a:lin ang="5400000" scaled="1"/>
                        </a:gra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71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gradFill>
                            <a:gsLst>
                              <a:gs pos="0">
                                <a:schemeClr val="bg1"/>
                              </a:gs>
                              <a:gs pos="100000">
                                <a:schemeClr val="bg1"/>
                              </a:gs>
                            </a:gsLst>
                            <a:lin ang="5400000" scaled="1"/>
                          </a:gra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gradFill>
                          <a:gsLst>
                            <a:gs pos="0">
                              <a:schemeClr val="bg1"/>
                            </a:gs>
                            <a:gs pos="100000">
                              <a:schemeClr val="bg1"/>
                            </a:gs>
                          </a:gsLst>
                          <a:lin ang="5400000" scaled="1"/>
                        </a:gra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71CE"/>
                    </a:solidFill>
                  </a:tcPr>
                </a:tc>
              </a:tr>
              <a:tr h="75683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3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alt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2000" marR="96000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</a:tr>
              <a:tr h="75683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3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alt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2000" marR="96000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5683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3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alt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2000" marR="96000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</a:tr>
              <a:tr h="738115"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3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alt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2000" marR="96000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707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altLang="en-US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2000" marR="96000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</a:tr>
              <a:tr h="43732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lang="zh-CN" altLang="en-US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文字</a:t>
                      </a:r>
                      <a:endParaRPr lang="zh-CN" altLang="en-US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92000" marR="96000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4000"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……</a:t>
                      </a:r>
                      <a:endParaRPr lang="zh-CN" altLang="en-US" sz="1400" b="0" kern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81121" marR="81121" marT="0" marB="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849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4FC"/>
                    </a:solidFill>
                  </a:tcPr>
                </a:tc>
                <a:tc hMerge="1">
                  <a:tcPr marL="60841" marR="60841" marT="0" marB="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849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3D58A7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0" hasCustomPrompt="1"/>
          </p:nvPr>
        </p:nvSpPr>
        <p:spPr>
          <a:xfrm>
            <a:off x="321906" y="1043736"/>
            <a:ext cx="11669039" cy="495055"/>
          </a:xfrm>
          <a:prstGeom prst="rect">
            <a:avLst/>
          </a:prstGeom>
        </p:spPr>
        <p:txBody>
          <a:bodyPr anchor="ctr"/>
          <a:lstStyle>
            <a:lvl1pPr marL="449580" indent="-449580">
              <a:buFont typeface="Wingdings" panose="05000000000000000000" pitchFamily="2" charset="2"/>
              <a:buChar char="n"/>
              <a:defRPr sz="2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>
              <a:buNone/>
              <a:defRPr/>
            </a:lvl2pPr>
          </a:lstStyle>
          <a:p>
            <a:pPr marL="449580" indent="-449580">
              <a:buFont typeface="Wingdings" panose="05000000000000000000" pitchFamily="2" charset="2"/>
              <a:buChar char="n"/>
            </a:pPr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</a:t>
            </a:r>
            <a:endParaRPr lang="zh-CN" altLang="en-US" sz="2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圆角矩形 3"/>
          <p:cNvSpPr/>
          <p:nvPr userDrawn="1"/>
        </p:nvSpPr>
        <p:spPr>
          <a:xfrm>
            <a:off x="624419" y="1786686"/>
            <a:ext cx="5137151" cy="584660"/>
          </a:xfrm>
          <a:prstGeom prst="roundRect">
            <a:avLst/>
          </a:prstGeom>
          <a:solidFill>
            <a:srgbClr val="0971CE"/>
          </a:solidFill>
          <a:ln>
            <a:noFill/>
          </a:ln>
          <a:effectLst>
            <a:outerShdw blurRad="50800" dist="38100" dir="2700000" algn="tl" rotWithShape="0">
              <a:srgbClr val="0971C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endParaRPr lang="zh-CN" altLang="en-US" sz="24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圆角矩形 5"/>
          <p:cNvSpPr/>
          <p:nvPr userDrawn="1"/>
        </p:nvSpPr>
        <p:spPr>
          <a:xfrm>
            <a:off x="6362703" y="1786686"/>
            <a:ext cx="5143500" cy="584661"/>
          </a:xfrm>
          <a:prstGeom prst="roundRect">
            <a:avLst/>
          </a:prstGeom>
          <a:solidFill>
            <a:srgbClr val="0971CE"/>
          </a:solidFill>
          <a:ln>
            <a:noFill/>
          </a:ln>
          <a:effectLst>
            <a:outerShdw blurRad="50800" dist="38100" dir="2700000" algn="tl" rotWithShape="0">
              <a:srgbClr val="0971C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>
              <a:lnSpc>
                <a:spcPct val="120000"/>
              </a:lnSpc>
            </a:pPr>
            <a:endParaRPr lang="zh-CN" altLang="en-US" sz="24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圆角矩形 6"/>
          <p:cNvSpPr/>
          <p:nvPr userDrawn="1"/>
        </p:nvSpPr>
        <p:spPr bwMode="auto">
          <a:xfrm>
            <a:off x="639237" y="2621184"/>
            <a:ext cx="4844857" cy="720725"/>
          </a:xfrm>
          <a:prstGeom prst="roundRect">
            <a:avLst>
              <a:gd name="adj" fmla="val 15574"/>
            </a:avLst>
          </a:prstGeom>
          <a:solidFill>
            <a:srgbClr val="B7D5FF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8" name="圆角矩形 7"/>
          <p:cNvSpPr/>
          <p:nvPr userDrawn="1"/>
        </p:nvSpPr>
        <p:spPr bwMode="auto">
          <a:xfrm>
            <a:off x="624419" y="3553513"/>
            <a:ext cx="4858872" cy="720725"/>
          </a:xfrm>
          <a:prstGeom prst="roundRect">
            <a:avLst>
              <a:gd name="adj" fmla="val 15574"/>
            </a:avLst>
          </a:prstGeom>
          <a:solidFill>
            <a:srgbClr val="D3E4FC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" name="圆角矩形 8"/>
          <p:cNvSpPr/>
          <p:nvPr userDrawn="1"/>
        </p:nvSpPr>
        <p:spPr bwMode="auto">
          <a:xfrm>
            <a:off x="639237" y="4485842"/>
            <a:ext cx="4858872" cy="720725"/>
          </a:xfrm>
          <a:prstGeom prst="roundRect">
            <a:avLst>
              <a:gd name="adj" fmla="val 15574"/>
            </a:avLst>
          </a:prstGeom>
          <a:solidFill>
            <a:srgbClr val="B7D5FF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0" name="圆角矩形 9"/>
          <p:cNvSpPr/>
          <p:nvPr userDrawn="1"/>
        </p:nvSpPr>
        <p:spPr bwMode="auto">
          <a:xfrm>
            <a:off x="624417" y="5418171"/>
            <a:ext cx="4858872" cy="720725"/>
          </a:xfrm>
          <a:prstGeom prst="roundRect">
            <a:avLst>
              <a:gd name="adj" fmla="val 15574"/>
            </a:avLst>
          </a:prstGeom>
          <a:solidFill>
            <a:srgbClr val="D3E4FC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1" name="圆角矩形 10"/>
          <p:cNvSpPr/>
          <p:nvPr userDrawn="1"/>
        </p:nvSpPr>
        <p:spPr bwMode="auto">
          <a:xfrm>
            <a:off x="6591141" y="2621184"/>
            <a:ext cx="4893895" cy="720725"/>
          </a:xfrm>
          <a:prstGeom prst="roundRect">
            <a:avLst>
              <a:gd name="adj" fmla="val 15574"/>
            </a:avLst>
          </a:prstGeom>
          <a:solidFill>
            <a:srgbClr val="B7D5FF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pPr algn="ctr"/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2" name="圆角矩形 11"/>
          <p:cNvSpPr/>
          <p:nvPr userDrawn="1"/>
        </p:nvSpPr>
        <p:spPr bwMode="auto">
          <a:xfrm>
            <a:off x="6576983" y="3553512"/>
            <a:ext cx="4908051" cy="720725"/>
          </a:xfrm>
          <a:prstGeom prst="roundRect">
            <a:avLst>
              <a:gd name="adj" fmla="val 15574"/>
            </a:avLst>
          </a:prstGeom>
          <a:solidFill>
            <a:srgbClr val="D3E4FC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pPr algn="ctr"/>
            <a:endParaRPr lang="en-US" altLang="zh-CN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3" name="圆角矩形 12"/>
          <p:cNvSpPr/>
          <p:nvPr userDrawn="1"/>
        </p:nvSpPr>
        <p:spPr bwMode="auto">
          <a:xfrm>
            <a:off x="6591803" y="4485842"/>
            <a:ext cx="4908051" cy="720725"/>
          </a:xfrm>
          <a:prstGeom prst="roundRect">
            <a:avLst>
              <a:gd name="adj" fmla="val 15574"/>
            </a:avLst>
          </a:prstGeom>
          <a:solidFill>
            <a:srgbClr val="B7D5FF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pPr algn="ctr"/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  <a:sym typeface="+mn-ea"/>
            </a:endParaRPr>
          </a:p>
        </p:txBody>
      </p:sp>
      <p:sp>
        <p:nvSpPr>
          <p:cNvPr id="14" name="圆角矩形 13"/>
          <p:cNvSpPr/>
          <p:nvPr userDrawn="1"/>
        </p:nvSpPr>
        <p:spPr bwMode="auto">
          <a:xfrm>
            <a:off x="6576983" y="5418171"/>
            <a:ext cx="4908051" cy="720725"/>
          </a:xfrm>
          <a:prstGeom prst="roundRect">
            <a:avLst>
              <a:gd name="adj" fmla="val 15574"/>
            </a:avLst>
          </a:prstGeom>
          <a:solidFill>
            <a:srgbClr val="D3E4FC">
              <a:alpha val="90000"/>
            </a:srgbClr>
          </a:solidFill>
          <a:ln w="38100" algn="ctr">
            <a:noFill/>
            <a:round/>
          </a:ln>
          <a:effectLst/>
        </p:spPr>
        <p:txBody>
          <a:bodyPr lIns="144000" rIns="108000" anchor="ctr"/>
          <a:lstStyle/>
          <a:p>
            <a:pPr algn="ctr"/>
            <a:endParaRPr lang="zh-CN" altLang="en-US"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右箭头 14"/>
          <p:cNvSpPr/>
          <p:nvPr userDrawn="1"/>
        </p:nvSpPr>
        <p:spPr>
          <a:xfrm>
            <a:off x="5761570" y="2802951"/>
            <a:ext cx="573617" cy="357188"/>
          </a:xfrm>
          <a:prstGeom prst="rightArrow">
            <a:avLst>
              <a:gd name="adj1" fmla="val 50001"/>
              <a:gd name="adj2" fmla="val 531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" name="右箭头 15"/>
          <p:cNvSpPr/>
          <p:nvPr userDrawn="1"/>
        </p:nvSpPr>
        <p:spPr>
          <a:xfrm>
            <a:off x="5761570" y="3736733"/>
            <a:ext cx="573617" cy="357188"/>
          </a:xfrm>
          <a:prstGeom prst="rightArrow">
            <a:avLst>
              <a:gd name="adj1" fmla="val 50001"/>
              <a:gd name="adj2" fmla="val 531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7" name="右箭头 16"/>
          <p:cNvSpPr/>
          <p:nvPr userDrawn="1"/>
        </p:nvSpPr>
        <p:spPr>
          <a:xfrm>
            <a:off x="5758148" y="4667609"/>
            <a:ext cx="573617" cy="357188"/>
          </a:xfrm>
          <a:prstGeom prst="rightArrow">
            <a:avLst>
              <a:gd name="adj1" fmla="val 50001"/>
              <a:gd name="adj2" fmla="val 531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8" name="右箭头 17"/>
          <p:cNvSpPr/>
          <p:nvPr userDrawn="1"/>
        </p:nvSpPr>
        <p:spPr>
          <a:xfrm>
            <a:off x="5758148" y="5598095"/>
            <a:ext cx="573617" cy="357188"/>
          </a:xfrm>
          <a:prstGeom prst="rightArrow">
            <a:avLst>
              <a:gd name="adj1" fmla="val 50001"/>
              <a:gd name="adj2" fmla="val 5319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1" hasCustomPrompt="1"/>
          </p:nvPr>
        </p:nvSpPr>
        <p:spPr>
          <a:xfrm>
            <a:off x="662163" y="1807046"/>
            <a:ext cx="5098483" cy="54393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lang="zh-CN" altLang="en-US" sz="2400" b="1" kern="1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0" name="文本占位符 18"/>
          <p:cNvSpPr>
            <a:spLocks noGrp="1"/>
          </p:cNvSpPr>
          <p:nvPr>
            <p:ph type="body" sz="quarter" idx="12" hasCustomPrompt="1"/>
          </p:nvPr>
        </p:nvSpPr>
        <p:spPr>
          <a:xfrm>
            <a:off x="6401371" y="1804942"/>
            <a:ext cx="5098483" cy="54393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lang="zh-CN" altLang="en-US" sz="2400" b="1" kern="1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2" name="文本占位符 21"/>
          <p:cNvSpPr>
            <a:spLocks noGrp="1"/>
          </p:cNvSpPr>
          <p:nvPr>
            <p:ph type="body" sz="quarter" idx="13" hasCustomPrompt="1"/>
          </p:nvPr>
        </p:nvSpPr>
        <p:spPr>
          <a:xfrm>
            <a:off x="767402" y="2615560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3" name="文本占位符 21"/>
          <p:cNvSpPr>
            <a:spLocks noGrp="1"/>
          </p:cNvSpPr>
          <p:nvPr>
            <p:ph type="body" sz="quarter" idx="14" hasCustomPrompt="1"/>
          </p:nvPr>
        </p:nvSpPr>
        <p:spPr>
          <a:xfrm>
            <a:off x="767401" y="3552540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4" name="文本占位符 21"/>
          <p:cNvSpPr>
            <a:spLocks noGrp="1"/>
          </p:cNvSpPr>
          <p:nvPr>
            <p:ph type="body" sz="quarter" idx="15" hasCustomPrompt="1"/>
          </p:nvPr>
        </p:nvSpPr>
        <p:spPr>
          <a:xfrm>
            <a:off x="794418" y="4482159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5" name="文本占位符 21"/>
          <p:cNvSpPr>
            <a:spLocks noGrp="1"/>
          </p:cNvSpPr>
          <p:nvPr>
            <p:ph type="body" sz="quarter" idx="16" hasCustomPrompt="1"/>
          </p:nvPr>
        </p:nvSpPr>
        <p:spPr>
          <a:xfrm>
            <a:off x="801618" y="5411778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6" name="文本占位符 21"/>
          <p:cNvSpPr>
            <a:spLocks noGrp="1"/>
          </p:cNvSpPr>
          <p:nvPr>
            <p:ph type="body" sz="quarter" idx="17" hasCustomPrompt="1"/>
          </p:nvPr>
        </p:nvSpPr>
        <p:spPr>
          <a:xfrm>
            <a:off x="6744362" y="2618910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7" name="文本占位符 21"/>
          <p:cNvSpPr>
            <a:spLocks noGrp="1"/>
          </p:cNvSpPr>
          <p:nvPr>
            <p:ph type="body" sz="quarter" idx="18" hasCustomPrompt="1"/>
          </p:nvPr>
        </p:nvSpPr>
        <p:spPr>
          <a:xfrm>
            <a:off x="6744361" y="3555890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8" name="文本占位符 21"/>
          <p:cNvSpPr>
            <a:spLocks noGrp="1"/>
          </p:cNvSpPr>
          <p:nvPr>
            <p:ph type="body" sz="quarter" idx="19" hasCustomPrompt="1"/>
          </p:nvPr>
        </p:nvSpPr>
        <p:spPr>
          <a:xfrm>
            <a:off x="6771378" y="4485509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  <p:sp>
        <p:nvSpPr>
          <p:cNvPr id="29" name="文本占位符 21"/>
          <p:cNvSpPr>
            <a:spLocks noGrp="1"/>
          </p:cNvSpPr>
          <p:nvPr>
            <p:ph type="body" sz="quarter" idx="20" hasCustomPrompt="1"/>
          </p:nvPr>
        </p:nvSpPr>
        <p:spPr>
          <a:xfrm>
            <a:off x="6778578" y="5415128"/>
            <a:ext cx="4548511" cy="7226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zh-CN" altLang="en-US" sz="18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lang="zh-CN" altLang="en-US" dirty="0"/>
              <a:t>文字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1516050" y="1137512"/>
            <a:ext cx="9176631" cy="5064505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3056656" y="3676923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 userDrawn="1"/>
        </p:nvSpPr>
        <p:spPr>
          <a:xfrm>
            <a:off x="3056656" y="4801582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3056656" y="1583795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3056656" y="2618910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315813" y="1674911"/>
            <a:ext cx="400473" cy="3989705"/>
          </a:xfrm>
          <a:prstGeom prst="rect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直接连接符 9"/>
          <p:cNvCxnSpPr/>
          <p:nvPr userDrawn="1"/>
        </p:nvCxnSpPr>
        <p:spPr bwMode="auto">
          <a:xfrm>
            <a:off x="3183875" y="2367834"/>
            <a:ext cx="6366077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椭圆 11"/>
          <p:cNvSpPr/>
          <p:nvPr userDrawn="1"/>
        </p:nvSpPr>
        <p:spPr>
          <a:xfrm>
            <a:off x="2546107" y="1602012"/>
            <a:ext cx="1021096" cy="765822"/>
          </a:xfrm>
          <a:prstGeom prst="ellipse">
            <a:avLst/>
          </a:prstGeom>
          <a:solidFill>
            <a:srgbClr val="0971CE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1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13" name="直接连接符 12"/>
          <p:cNvCxnSpPr/>
          <p:nvPr userDrawn="1"/>
        </p:nvCxnSpPr>
        <p:spPr bwMode="auto">
          <a:xfrm>
            <a:off x="3183875" y="3394007"/>
            <a:ext cx="6366077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/>
        </p:nvCxnSpPr>
        <p:spPr bwMode="auto">
          <a:xfrm>
            <a:off x="3183875" y="4463996"/>
            <a:ext cx="6366077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/>
          <p:cNvSpPr/>
          <p:nvPr userDrawn="1"/>
        </p:nvSpPr>
        <p:spPr>
          <a:xfrm>
            <a:off x="2546107" y="2628185"/>
            <a:ext cx="1021096" cy="765822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2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椭圆 21"/>
          <p:cNvSpPr/>
          <p:nvPr userDrawn="1"/>
        </p:nvSpPr>
        <p:spPr>
          <a:xfrm>
            <a:off x="2546107" y="3698174"/>
            <a:ext cx="1021096" cy="765822"/>
          </a:xfrm>
          <a:prstGeom prst="ellipse">
            <a:avLst/>
          </a:prstGeom>
          <a:solidFill>
            <a:srgbClr val="0971CE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3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椭圆 22"/>
          <p:cNvSpPr/>
          <p:nvPr userDrawn="1"/>
        </p:nvSpPr>
        <p:spPr>
          <a:xfrm>
            <a:off x="2546107" y="4823418"/>
            <a:ext cx="1021096" cy="765822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4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5" name="标题 1"/>
          <p:cNvSpPr>
            <a:spLocks noGrp="1"/>
          </p:cNvSpPr>
          <p:nvPr>
            <p:ph type="title" hasCustomPrompt="1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3D58A7"/>
                </a:solidFill>
              </a:defRPr>
            </a:lvl1pPr>
          </a:lstStyle>
          <a:p>
            <a:r>
              <a:rPr lang="zh-CN" altLang="en-US" dirty="0"/>
              <a:t>汇报提纲</a:t>
            </a:r>
            <a:endParaRPr lang="zh-CN" altLang="en-US" dirty="0"/>
          </a:p>
        </p:txBody>
      </p:sp>
      <p:sp>
        <p:nvSpPr>
          <p:cNvPr id="27" name="文本占位符 26"/>
          <p:cNvSpPr>
            <a:spLocks noGrp="1"/>
          </p:cNvSpPr>
          <p:nvPr>
            <p:ph type="body" sz="quarter" idx="10" hasCustomPrompt="1"/>
          </p:nvPr>
        </p:nvSpPr>
        <p:spPr>
          <a:xfrm>
            <a:off x="4235794" y="1602012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研究背景与意义</a:t>
            </a:r>
            <a:endParaRPr lang="zh-CN" altLang="en-US" dirty="0"/>
          </a:p>
        </p:txBody>
      </p:sp>
      <p:sp>
        <p:nvSpPr>
          <p:cNvPr id="28" name="文本占位符 26"/>
          <p:cNvSpPr>
            <a:spLocks noGrp="1"/>
          </p:cNvSpPr>
          <p:nvPr>
            <p:ph type="body" sz="quarter" idx="11" hasCustomPrompt="1"/>
          </p:nvPr>
        </p:nvSpPr>
        <p:spPr>
          <a:xfrm>
            <a:off x="4235794" y="2629828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研究目标与内容</a:t>
            </a:r>
            <a:endParaRPr lang="zh-CN" altLang="en-US" dirty="0"/>
          </a:p>
        </p:txBody>
      </p:sp>
      <p:sp>
        <p:nvSpPr>
          <p:cNvPr id="29" name="文本占位符 26"/>
          <p:cNvSpPr>
            <a:spLocks noGrp="1"/>
          </p:cNvSpPr>
          <p:nvPr>
            <p:ph type="body" sz="quarter" idx="12" hasCustomPrompt="1"/>
          </p:nvPr>
        </p:nvSpPr>
        <p:spPr>
          <a:xfrm>
            <a:off x="4235794" y="3697054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任务分解与进度</a:t>
            </a:r>
            <a:endParaRPr lang="zh-CN" altLang="en-US" dirty="0"/>
          </a:p>
        </p:txBody>
      </p:sp>
      <p:sp>
        <p:nvSpPr>
          <p:cNvPr id="30" name="文本占位符 26"/>
          <p:cNvSpPr>
            <a:spLocks noGrp="1"/>
          </p:cNvSpPr>
          <p:nvPr>
            <p:ph type="body" sz="quarter" idx="13" hasCustomPrompt="1"/>
          </p:nvPr>
        </p:nvSpPr>
        <p:spPr>
          <a:xfrm>
            <a:off x="4235793" y="4787901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预期成果与创新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1516050" y="1137512"/>
            <a:ext cx="9176631" cy="5064505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3056656" y="4442127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3056656" y="1871259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3056656" y="3158970"/>
            <a:ext cx="6493297" cy="7750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315813" y="1674911"/>
            <a:ext cx="400473" cy="3989705"/>
          </a:xfrm>
          <a:prstGeom prst="rect">
            <a:avLst/>
          </a:pr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直接连接符 9"/>
          <p:cNvCxnSpPr/>
          <p:nvPr userDrawn="1"/>
        </p:nvCxnSpPr>
        <p:spPr bwMode="auto">
          <a:xfrm>
            <a:off x="3183875" y="2655298"/>
            <a:ext cx="6366077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椭圆 11"/>
          <p:cNvSpPr/>
          <p:nvPr userDrawn="1"/>
        </p:nvSpPr>
        <p:spPr>
          <a:xfrm>
            <a:off x="2546107" y="1889476"/>
            <a:ext cx="1021096" cy="765822"/>
          </a:xfrm>
          <a:prstGeom prst="ellipse">
            <a:avLst/>
          </a:prstGeom>
          <a:solidFill>
            <a:srgbClr val="0971CE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1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13" name="直接连接符 12"/>
          <p:cNvCxnSpPr/>
          <p:nvPr userDrawn="1"/>
        </p:nvCxnSpPr>
        <p:spPr bwMode="auto">
          <a:xfrm>
            <a:off x="3183875" y="3934067"/>
            <a:ext cx="6366077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/>
        </p:nvCxnSpPr>
        <p:spPr bwMode="auto">
          <a:xfrm>
            <a:off x="3183875" y="5229200"/>
            <a:ext cx="6366077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/>
          <p:cNvSpPr/>
          <p:nvPr userDrawn="1"/>
        </p:nvSpPr>
        <p:spPr>
          <a:xfrm>
            <a:off x="2546107" y="3168245"/>
            <a:ext cx="1021096" cy="765822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2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椭圆 21"/>
          <p:cNvSpPr/>
          <p:nvPr userDrawn="1"/>
        </p:nvSpPr>
        <p:spPr>
          <a:xfrm>
            <a:off x="2546107" y="4463378"/>
            <a:ext cx="1021096" cy="765822"/>
          </a:xfrm>
          <a:prstGeom prst="ellipse">
            <a:avLst/>
          </a:prstGeom>
          <a:solidFill>
            <a:srgbClr val="0971CE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3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5" name="标题 1"/>
          <p:cNvSpPr>
            <a:spLocks noGrp="1"/>
          </p:cNvSpPr>
          <p:nvPr>
            <p:ph type="title" hasCustomPrompt="1"/>
          </p:nvPr>
        </p:nvSpPr>
        <p:spPr>
          <a:xfrm>
            <a:off x="321907" y="143635"/>
            <a:ext cx="8414387" cy="692978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rgbClr val="3D58A7"/>
                </a:solidFill>
              </a:defRPr>
            </a:lvl1pPr>
          </a:lstStyle>
          <a:p>
            <a:r>
              <a:rPr lang="zh-CN" altLang="en-US" dirty="0"/>
              <a:t>汇报提纲</a:t>
            </a:r>
            <a:endParaRPr lang="zh-CN" altLang="en-US" dirty="0"/>
          </a:p>
        </p:txBody>
      </p:sp>
      <p:sp>
        <p:nvSpPr>
          <p:cNvPr id="27" name="文本占位符 26"/>
          <p:cNvSpPr>
            <a:spLocks noGrp="1"/>
          </p:cNvSpPr>
          <p:nvPr>
            <p:ph type="body" sz="quarter" idx="10" hasCustomPrompt="1"/>
          </p:nvPr>
        </p:nvSpPr>
        <p:spPr>
          <a:xfrm>
            <a:off x="4235794" y="1889476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研究背景与意义</a:t>
            </a:r>
            <a:endParaRPr lang="zh-CN" altLang="en-US" dirty="0"/>
          </a:p>
        </p:txBody>
      </p:sp>
      <p:sp>
        <p:nvSpPr>
          <p:cNvPr id="28" name="文本占位符 26"/>
          <p:cNvSpPr>
            <a:spLocks noGrp="1"/>
          </p:cNvSpPr>
          <p:nvPr>
            <p:ph type="body" sz="quarter" idx="11" hasCustomPrompt="1"/>
          </p:nvPr>
        </p:nvSpPr>
        <p:spPr>
          <a:xfrm>
            <a:off x="4235794" y="3169888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研究目标与内容</a:t>
            </a:r>
            <a:endParaRPr lang="zh-CN" altLang="en-US" dirty="0"/>
          </a:p>
        </p:txBody>
      </p:sp>
      <p:sp>
        <p:nvSpPr>
          <p:cNvPr id="29" name="文本占位符 26"/>
          <p:cNvSpPr>
            <a:spLocks noGrp="1"/>
          </p:cNvSpPr>
          <p:nvPr>
            <p:ph type="body" sz="quarter" idx="12" hasCustomPrompt="1"/>
          </p:nvPr>
        </p:nvSpPr>
        <p:spPr>
          <a:xfrm>
            <a:off x="4235794" y="4462258"/>
            <a:ext cx="5248111" cy="753262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任务分解与进度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/>
        </p:nvSpPr>
        <p:spPr>
          <a:xfrm>
            <a:off x="-1" y="444500"/>
            <a:ext cx="53975" cy="254408"/>
          </a:xfrm>
          <a:prstGeom prst="rect">
            <a:avLst/>
          </a:prstGeom>
          <a:solidFill>
            <a:srgbClr val="00B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幻灯片编号占位符 5"/>
          <p:cNvSpPr txBox="1"/>
          <p:nvPr userDrawn="1"/>
        </p:nvSpPr>
        <p:spPr>
          <a:xfrm>
            <a:off x="321528" y="6409168"/>
            <a:ext cx="615614" cy="234618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96F2763-E266-0E48-B43D-46A209AB6A60}" type="slidenum">
              <a:rPr kumimoji="1" lang="zh-CN" altLang="en-US" sz="600" b="0" i="0" spc="100" baseline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fld>
            <a:endParaRPr kumimoji="1" lang="zh-CN" altLang="en-US" sz="600" b="0" i="0" spc="100" baseline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72250" y="383095"/>
            <a:ext cx="11047498" cy="767788"/>
          </a:xfrm>
        </p:spPr>
        <p:txBody>
          <a:bodyPr>
            <a:normAutofit/>
          </a:bodyPr>
          <a:lstStyle>
            <a:lvl1pPr marL="0" indent="0" algn="l">
              <a:lnSpc>
                <a:spcPct val="90000"/>
              </a:lnSpc>
              <a:buNone/>
              <a:defRPr sz="2200" b="1" i="0" spc="25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请单击此处添加页面标题</a:t>
            </a:r>
            <a:endParaRPr kumimoji="1" lang="en-US" altLang="zh-CN" dirty="0"/>
          </a:p>
        </p:txBody>
      </p:sp>
      <p:sp>
        <p:nvSpPr>
          <p:cNvPr id="16" name="Content Placeholder 2"/>
          <p:cNvSpPr>
            <a:spLocks noGrp="1"/>
          </p:cNvSpPr>
          <p:nvPr>
            <p:ph idx="10" hasCustomPrompt="1"/>
          </p:nvPr>
        </p:nvSpPr>
        <p:spPr>
          <a:xfrm>
            <a:off x="572250" y="1237070"/>
            <a:ext cx="11047498" cy="507734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400" spc="25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请单击此处添加文本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6" Type="http://schemas.openxmlformats.org/officeDocument/2006/relationships/theme" Target="../theme/theme1.xml"/><Relationship Id="rId25" Type="http://schemas.openxmlformats.org/officeDocument/2006/relationships/image" Target="../media/image3.png"/><Relationship Id="rId24" Type="http://schemas.openxmlformats.org/officeDocument/2006/relationships/image" Target="../media/image11.png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6"/>
          <p:cNvSpPr>
            <a:spLocks noChangeArrowheads="1"/>
          </p:cNvSpPr>
          <p:nvPr userDrawn="1"/>
        </p:nvSpPr>
        <p:spPr bwMode="auto">
          <a:xfrm>
            <a:off x="11462908" y="6467089"/>
            <a:ext cx="394659" cy="276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anchor="ctr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fld id="{C3362BD3-500A-47BE-B11A-83B038B63C47}" type="slidenum">
              <a:rPr lang="en-US" altLang="zh-CN" sz="1200" b="1" kern="10" smtClean="0">
                <a:ln w="9525">
                  <a:noFill/>
                  <a:round/>
                </a:ln>
                <a:gradFill rotWithShape="1"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</a:fld>
            <a:endParaRPr lang="en-US" altLang="zh-CN" sz="1050" b="1" kern="10" dirty="0">
              <a:ln w="9525">
                <a:noFill/>
                <a:round/>
              </a:ln>
              <a:gradFill rotWithShape="1">
                <a:gsLst>
                  <a:gs pos="0">
                    <a:schemeClr val="tx1">
                      <a:lumMod val="75000"/>
                      <a:lumOff val="25000"/>
                    </a:schemeClr>
                  </a:gs>
                  <a:gs pos="100000">
                    <a:schemeClr val="tx1">
                      <a:lumMod val="75000"/>
                      <a:lumOff val="25000"/>
                    </a:schemeClr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8" name="Line 11"/>
          <p:cNvSpPr>
            <a:spLocks noChangeShapeType="1"/>
          </p:cNvSpPr>
          <p:nvPr userDrawn="1"/>
        </p:nvSpPr>
        <p:spPr bwMode="auto">
          <a:xfrm flipH="1">
            <a:off x="334434" y="6381750"/>
            <a:ext cx="11523133" cy="0"/>
          </a:xfrm>
          <a:prstGeom prst="line">
            <a:avLst/>
          </a:prstGeom>
          <a:noFill/>
          <a:ln w="19050">
            <a:solidFill>
              <a:srgbClr val="8497B0"/>
            </a:solidFill>
            <a:rou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800">
              <a:latin typeface="+mn-lt"/>
              <a:ea typeface="+mn-ea"/>
            </a:endParaRPr>
          </a:p>
        </p:txBody>
      </p:sp>
      <p:sp>
        <p:nvSpPr>
          <p:cNvPr id="10" name="平行四边形 9"/>
          <p:cNvSpPr/>
          <p:nvPr userDrawn="1"/>
        </p:nvSpPr>
        <p:spPr>
          <a:xfrm>
            <a:off x="8688288" y="720822"/>
            <a:ext cx="3503712" cy="72008"/>
          </a:xfrm>
          <a:custGeom>
            <a:avLst/>
            <a:gdLst>
              <a:gd name="connsiteX0" fmla="*/ 0 w 2627784"/>
              <a:gd name="connsiteY0" fmla="*/ 144016 h 144016"/>
              <a:gd name="connsiteX1" fmla="*/ 79565 w 2627784"/>
              <a:gd name="connsiteY1" fmla="*/ 0 h 144016"/>
              <a:gd name="connsiteX2" fmla="*/ 2627784 w 2627784"/>
              <a:gd name="connsiteY2" fmla="*/ 0 h 144016"/>
              <a:gd name="connsiteX3" fmla="*/ 2548219 w 2627784"/>
              <a:gd name="connsiteY3" fmla="*/ 144016 h 144016"/>
              <a:gd name="connsiteX4" fmla="*/ 0 w 2627784"/>
              <a:gd name="connsiteY4" fmla="*/ 144016 h 144016"/>
              <a:gd name="connsiteX0-1" fmla="*/ 0 w 2627784"/>
              <a:gd name="connsiteY0-2" fmla="*/ 144016 h 144016"/>
              <a:gd name="connsiteX1-3" fmla="*/ 79565 w 2627784"/>
              <a:gd name="connsiteY1-4" fmla="*/ 0 h 144016"/>
              <a:gd name="connsiteX2-5" fmla="*/ 2627784 w 2627784"/>
              <a:gd name="connsiteY2-6" fmla="*/ 0 h 144016"/>
              <a:gd name="connsiteX3-7" fmla="*/ 2626507 w 2627784"/>
              <a:gd name="connsiteY3-8" fmla="*/ 140885 h 144016"/>
              <a:gd name="connsiteX4-9" fmla="*/ 0 w 2627784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627784" h="144016">
                <a:moveTo>
                  <a:pt x="0" y="144016"/>
                </a:moveTo>
                <a:lnTo>
                  <a:pt x="79565" y="0"/>
                </a:lnTo>
                <a:lnTo>
                  <a:pt x="2627784" y="0"/>
                </a:lnTo>
                <a:cubicBezTo>
                  <a:pt x="2627358" y="46962"/>
                  <a:pt x="2626933" y="93923"/>
                  <a:pt x="2626507" y="140885"/>
                </a:cubicBezTo>
                <a:lnTo>
                  <a:pt x="0" y="144016"/>
                </a:lnTo>
                <a:close/>
              </a:path>
            </a:pathLst>
          </a:custGeom>
          <a:solidFill>
            <a:srgbClr val="D3E4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1" name="平行四边形 10"/>
          <p:cNvSpPr/>
          <p:nvPr userDrawn="1"/>
        </p:nvSpPr>
        <p:spPr>
          <a:xfrm>
            <a:off x="-2473" y="720822"/>
            <a:ext cx="8690760" cy="72008"/>
          </a:xfrm>
          <a:custGeom>
            <a:avLst/>
            <a:gdLst>
              <a:gd name="connsiteX0" fmla="*/ 0 w 6516215"/>
              <a:gd name="connsiteY0" fmla="*/ 144016 h 144016"/>
              <a:gd name="connsiteX1" fmla="*/ 79565 w 6516215"/>
              <a:gd name="connsiteY1" fmla="*/ 0 h 144016"/>
              <a:gd name="connsiteX2" fmla="*/ 6516215 w 6516215"/>
              <a:gd name="connsiteY2" fmla="*/ 0 h 144016"/>
              <a:gd name="connsiteX3" fmla="*/ 6436650 w 6516215"/>
              <a:gd name="connsiteY3" fmla="*/ 144016 h 144016"/>
              <a:gd name="connsiteX4" fmla="*/ 0 w 6516215"/>
              <a:gd name="connsiteY4" fmla="*/ 144016 h 144016"/>
              <a:gd name="connsiteX0-1" fmla="*/ 1855 w 6518070"/>
              <a:gd name="connsiteY0-2" fmla="*/ 144016 h 144016"/>
              <a:gd name="connsiteX1-3" fmla="*/ 0 w 6518070"/>
              <a:gd name="connsiteY1-4" fmla="*/ 0 h 144016"/>
              <a:gd name="connsiteX2-5" fmla="*/ 6518070 w 6518070"/>
              <a:gd name="connsiteY2-6" fmla="*/ 0 h 144016"/>
              <a:gd name="connsiteX3-7" fmla="*/ 6438505 w 6518070"/>
              <a:gd name="connsiteY3-8" fmla="*/ 144016 h 144016"/>
              <a:gd name="connsiteX4-9" fmla="*/ 1855 w 6518070"/>
              <a:gd name="connsiteY4-10" fmla="*/ 144016 h 14401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518070" h="144016">
                <a:moveTo>
                  <a:pt x="1855" y="144016"/>
                </a:moveTo>
                <a:cubicBezTo>
                  <a:pt x="1237" y="96011"/>
                  <a:pt x="618" y="48005"/>
                  <a:pt x="0" y="0"/>
                </a:cubicBezTo>
                <a:lnTo>
                  <a:pt x="6518070" y="0"/>
                </a:lnTo>
                <a:lnTo>
                  <a:pt x="6438505" y="144016"/>
                </a:lnTo>
                <a:lnTo>
                  <a:pt x="1855" y="144016"/>
                </a:lnTo>
                <a:close/>
              </a:path>
            </a:pathLst>
          </a:custGeom>
          <a:solidFill>
            <a:srgbClr val="0971CE"/>
          </a:solidFill>
          <a:ln>
            <a:solidFill>
              <a:srgbClr val="156B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4"/>
          <a:srcRect l="23097"/>
          <a:stretch>
            <a:fillRect/>
          </a:stretch>
        </p:blipFill>
        <p:spPr>
          <a:xfrm>
            <a:off x="9908776" y="125963"/>
            <a:ext cx="1950630" cy="479243"/>
          </a:xfrm>
          <a:prstGeom prst="rect">
            <a:avLst/>
          </a:prstGeom>
        </p:spPr>
      </p:pic>
      <p:pic>
        <p:nvPicPr>
          <p:cNvPr id="3" name="图片 2" descr="徽标&#10;&#10;描述已自动生成"/>
          <p:cNvPicPr>
            <a:picLocks noChangeAspect="1"/>
          </p:cNvPicPr>
          <p:nvPr userDrawn="1"/>
        </p:nvPicPr>
        <p:blipFill rotWithShape="1">
          <a:blip r:embed="rId25"/>
          <a:srcRect l="11692" t="9040" r="14818" b="9596"/>
          <a:stretch>
            <a:fillRect/>
          </a:stretch>
        </p:blipFill>
        <p:spPr>
          <a:xfrm>
            <a:off x="9111335" y="20375"/>
            <a:ext cx="675075" cy="690418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200346" y="6420922"/>
            <a:ext cx="4860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11338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智能信息处理与通信技术省高校重点实验室（南京邮电大学）</a:t>
            </a:r>
            <a:endParaRPr lang="zh-CN" altLang="en-US" sz="1400" dirty="0">
              <a:solidFill>
                <a:srgbClr val="11338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sz="4000" dirty="0"/>
              <a:t>“</a:t>
            </a:r>
            <a:r>
              <a:rPr lang="zh-CN" altLang="en-US" sz="4000" dirty="0"/>
              <a:t>电子杯</a:t>
            </a:r>
            <a:r>
              <a:rPr lang="en-US" altLang="zh-CN" sz="4000" dirty="0"/>
              <a:t>”</a:t>
            </a:r>
            <a:r>
              <a:rPr lang="zh-CN" altLang="en-US" sz="4000" dirty="0"/>
              <a:t>赛题八</a:t>
            </a:r>
            <a:endParaRPr lang="zh-CN" altLang="en-US" sz="40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sz="24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智能信息处理与通信技术省高校重点实验室</a:t>
            </a:r>
            <a:endParaRPr lang="zh-CN" altLang="en-US" sz="24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赛题原则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p>
            <a:r>
              <a:rPr lang="zh-CN" altLang="en-US" dirty="0">
                <a:solidFill>
                  <a:srgbClr val="C00000"/>
                </a:solidFill>
                <a:sym typeface="+mn-ea"/>
              </a:rPr>
              <a:t>多模态数据</a:t>
            </a:r>
            <a:r>
              <a:rPr lang="zh-CN" altLang="en-US" dirty="0">
                <a:solidFill>
                  <a:srgbClr val="103380"/>
                </a:solidFill>
                <a:sym typeface="+mn-ea"/>
              </a:rPr>
              <a:t>驱动的</a:t>
            </a:r>
            <a:r>
              <a:rPr lang="zh-CN" altLang="en-US" dirty="0">
                <a:solidFill>
                  <a:srgbClr val="103380"/>
                </a:solidFill>
                <a:highlight>
                  <a:srgbClr val="FFFF00"/>
                </a:highlight>
                <a:sym typeface="+mn-ea"/>
              </a:rPr>
              <a:t>可解释</a:t>
            </a:r>
            <a:r>
              <a:rPr lang="zh-CN" altLang="en-US" dirty="0">
                <a:solidFill>
                  <a:srgbClr val="103380"/>
                </a:solidFill>
                <a:sym typeface="+mn-ea"/>
              </a:rPr>
              <a:t>精准</a:t>
            </a:r>
            <a:r>
              <a:rPr lang="zh-CN" altLang="en-US" dirty="0">
                <a:solidFill>
                  <a:srgbClr val="103380"/>
                </a:solidFill>
                <a:highlight>
                  <a:srgbClr val="FFFF00"/>
                </a:highlight>
                <a:sym typeface="+mn-ea"/>
              </a:rPr>
              <a:t>问数/问答</a:t>
            </a:r>
            <a:r>
              <a:rPr lang="zh-CN" altLang="en-US" dirty="0">
                <a:solidFill>
                  <a:srgbClr val="103380"/>
                </a:solidFill>
                <a:sym typeface="+mn-ea"/>
              </a:rPr>
              <a:t>智能体</a:t>
            </a:r>
            <a:endParaRPr lang="zh-CN" altLang="en-US" dirty="0">
              <a:solidFill>
                <a:srgbClr val="103380"/>
              </a:solidFill>
              <a:sym typeface="+mn-ea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514985" y="1584325"/>
            <a:ext cx="10251440" cy="42405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  <a:buNone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让企业业务人员用自然语言提问，系统能够</a:t>
            </a:r>
            <a:r>
              <a:rPr lang="zh-CN" altLang="en-US" sz="2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判断问题含义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，必要时</a:t>
            </a:r>
            <a:r>
              <a:rPr lang="zh-CN" altLang="en-US" sz="2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主动澄清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，然后查询数据库、检索文档或同时</a:t>
            </a:r>
            <a:r>
              <a:rPr lang="zh-CN" altLang="en-US" sz="2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调用两类数据源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，最后给出</a:t>
            </a:r>
            <a:r>
              <a:rPr lang="zh-CN" altLang="en-US" sz="2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准确答案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sz="2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查询依据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20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可审计证据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判断问题含义：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意图识别、改写问题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主动澄清：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核心是保</a:t>
            </a:r>
            <a:r>
              <a:rPr lang="zh-CN" altLang="en-US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证可靠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，对于有歧义的、不明确的问题，继续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追问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两类数据源：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结构化数据库和非结构化文本、图片，区分调用哪一类或者结合着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看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最终呈现形式：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准确答案、查询依据和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可审计证据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除答案外还需</a:t>
            </a: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答案链路解释，对应的原文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出处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推理链路，工具调用，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数据来源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7060" y="4775200"/>
            <a:ext cx="109734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流程：</a:t>
            </a:r>
            <a:endParaRPr lang="zh-CN" altLang="en-US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自然语言提问 → 意图识别 → 要素抽取 → 缺失条件澄清 → 表或文档定位 → SQL 查询或知识检索 → 结果校验 → 答案生成 → 来源与执行过程展示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场景定义</a:t>
            </a:r>
            <a:endParaRPr lang="en-US" altLang="zh-CN"/>
          </a:p>
        </p:txBody>
      </p:sp>
      <p:sp>
        <p:nvSpPr>
          <p:cNvPr id="4" name="Text Box 3"/>
          <p:cNvSpPr txBox="1"/>
          <p:nvPr/>
        </p:nvSpPr>
        <p:spPr>
          <a:xfrm>
            <a:off x="514985" y="1012825"/>
            <a:ext cx="10843895" cy="5290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  <a:buNone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聚焦场景：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面向企业经营分析的多模态智能问数与知识问答助手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让数据库表、业务术语、文档内容、演示问题和评测集围绕同一套业务逻辑组织起来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好搭数据集、好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讲故事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选数据库：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Chinook</a:t>
            </a:r>
            <a:endParaRPr lang="en-US" altLang="zh-CN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Chinook 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数据库＋自建数字音乐商店业务文档＋独立评测集（结构化问数</a:t>
            </a: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+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业务文档问答）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后续加入模糊、旋转、低清、遮挡等异常图片（对照赛题文档处理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数据），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考虑引入</a:t>
            </a: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CAD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类的工业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数据测试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后续可以引入：</a:t>
            </a: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通用文档压力集——OHR-Bench 抽样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产品定位：面向数字音乐商店运营团队的可解释经营分析与知识问答智能体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面向数字音乐商店运营团队，通过自然语言查询销售、客户、音乐内容等业务数据，并结合运营制度、商品资料、营销复盘和客服知识文档，输出：经营指标； 统计口径；自动生成并执行的 </a:t>
            </a:r>
            <a:r>
              <a:rPr lang="en-US" altLang="zh-CN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SQL；</a:t>
            </a:r>
            <a:r>
              <a:rPr lang="zh-CN" altLang="en-US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相关业务文档片段；数据来源和执行过程；缺少条件时的澄清问题；无依据时的明确提示。</a:t>
            </a:r>
            <a:endParaRPr lang="zh-CN" altLang="en-US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altLang="zh-CN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7825" y="1807845"/>
            <a:ext cx="4984115" cy="10490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>
                <a:solidFill>
                  <a:srgbClr val="103380"/>
                </a:solidFill>
                <a:sym typeface="+mn-ea"/>
              </a:rPr>
              <a:t>核心用户与场景：</a:t>
            </a:r>
            <a:endParaRPr lang="en-US" altLang="zh-CN"/>
          </a:p>
        </p:txBody>
      </p:sp>
      <p:graphicFrame>
        <p:nvGraphicFramePr>
          <p:cNvPr id="3" name="表格 2"/>
          <p:cNvGraphicFramePr/>
          <p:nvPr/>
        </p:nvGraphicFramePr>
        <p:xfrm>
          <a:off x="466090" y="982345"/>
          <a:ext cx="11077575" cy="5262245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997835"/>
                <a:gridCol w="3064510"/>
                <a:gridCol w="2595245"/>
                <a:gridCol w="2419985"/>
              </a:tblGrid>
              <a:tr h="554355">
                <a:tc>
                  <a:txBody>
                    <a:bodyPr/>
                    <a:p>
                      <a:pPr algn="ctr"/>
                      <a:r>
                        <a:rPr lang="zh-CN" altLang="en-US" sz="1600" b="1">
                          <a:solidFill>
                            <a:srgbClr val="10337F"/>
                          </a:solidFill>
                          <a:highlight>
                            <a:srgbClr val="FFFF00"/>
                          </a:highlight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主：运营人员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highlight>
                            <a:srgbClr val="FFFF00"/>
                          </a:highlight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日常经营查数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600" b="1">
                          <a:solidFill>
                            <a:srgbClr val="10337F"/>
                          </a:solidFill>
                          <a:highlight>
                            <a:srgbClr val="FFFF00"/>
                          </a:highlight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主：经营负责人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highlight>
                            <a:srgbClr val="FFFF00"/>
                          </a:highlight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跨源经营分析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  <a:sym typeface="+mn-ea"/>
                        </a:rPr>
                        <a:t>辅：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客服人员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业务知识问答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辅：数据管理员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口径核验与系统审计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</a:tr>
              <a:tr h="4707890">
                <a:tc>
                  <a:txBody>
                    <a:bodyPr/>
                    <a:p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典型问题：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・指定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时间内销售额、销量是多少？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・哪些国家、音乐类型或艺术家表现最好？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・不同指标的统计口径是什么？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主要数据：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Chinook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销售、客户与音乐内容数据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重点能力：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单表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多表 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NL2SQL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、要素提取、主动澄清、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SQL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与结果展示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典型问题：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・哪类音乐销售表现最好？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・高销售额与高销量的对象是否一致？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・数据库结果对应哪些营销策略或业务规则？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・某项经营结论是否有文档依据？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主要数据：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Chinook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 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+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业务规则、营销复盘与经营分析文档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重点能力：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任务规划、跨源查询、多表关联、文档检索、结果融合与证据解释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典型问题：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・某张专辑包含哪些曲目？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・某类音乐或艺术家有哪些业务信息？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・客户咨询应依据哪条业务规则回答？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主要数据：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音乐目录、商品说明、客服 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FAQ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、业务规则文档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重点能力：</a:t>
                      </a:r>
                      <a:b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</a:b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RAG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检索、文档解析、引用片段展示、多轮问答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  <a:sym typeface="+mn-ea"/>
                        </a:rPr>
                        <a:t>典型问题：</a:t>
                      </a:r>
                      <a:endParaRPr lang="zh-CN" altLang="en-US" sz="1600" b="1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sym typeface="+mn-ea"/>
                      </a:endParaRPr>
                    </a:p>
                    <a:p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・这个指标使用了哪些表和字段？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・SQL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是否存在重复计数或口径错误？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・回答引用了哪些文档和执行记录？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endParaRPr lang="en-US" altLang="zh-CN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主要数据：</a:t>
                      </a:r>
                      <a:endParaRPr lang="zh-CN" altLang="en-US" sz="1600" b="1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 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Schema、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指标词典、查询日志、文档质量报告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endParaRPr lang="en-US" altLang="zh-CN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r>
                        <a:rPr lang="zh-CN" altLang="en-US" sz="1600" b="1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重点能力：</a:t>
                      </a:r>
                      <a:endParaRPr lang="zh-CN" altLang="en-US" sz="1600" b="1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Schema Linking、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指标校验、</a:t>
                      </a:r>
                      <a:r>
                        <a:rPr lang="en-US" altLang="zh-CN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SQL </a:t>
                      </a:r>
                      <a:r>
                        <a:rPr lang="zh-CN" altLang="en-US" sz="1600">
                          <a:solidFill>
                            <a:srgbClr val="10337F"/>
                          </a:solidFill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安全检查、来源追踪与审计</a:t>
                      </a:r>
                      <a:endParaRPr lang="zh-CN" altLang="en-US" sz="1600">
                        <a:solidFill>
                          <a:srgbClr val="10337F"/>
                        </a:solidFill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数据集</a:t>
            </a:r>
            <a:r>
              <a:rPr lang="en-US" altLang="zh-CN"/>
              <a:t>+</a:t>
            </a:r>
            <a:r>
              <a:t>测评</a:t>
            </a:r>
            <a:r>
              <a:t>集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285" y="1538605"/>
            <a:ext cx="10201275" cy="3746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做的</a:t>
            </a:r>
            <a:r>
              <a:t>是什么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853440" y="1231265"/>
          <a:ext cx="10485120" cy="4535805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621280"/>
                <a:gridCol w="2621280"/>
                <a:gridCol w="2621280"/>
                <a:gridCol w="2621280"/>
              </a:tblGrid>
              <a:tr h="453390">
                <a:tc>
                  <a:txBody>
                    <a:bodyPr/>
                    <a:p>
                      <a:pPr algn="ctr"/>
                      <a:r>
                        <a:rPr lang="zh-CN" altLang="en-US" sz="1200" b="1">
                          <a:solidFill>
                            <a:srgbClr val="10337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部分</a:t>
                      </a:r>
                      <a:endParaRPr lang="zh-CN" altLang="en-US" sz="1200" b="1">
                        <a:solidFill>
                          <a:srgbClr val="10337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 b="1">
                          <a:solidFill>
                            <a:srgbClr val="10337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它是什么</a:t>
                      </a:r>
                      <a:endParaRPr lang="zh-CN" altLang="en-US" sz="1200" b="1">
                        <a:solidFill>
                          <a:srgbClr val="10337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 b="1">
                          <a:solidFill>
                            <a:srgbClr val="10337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负责什么</a:t>
                      </a:r>
                      <a:endParaRPr lang="zh-CN" altLang="en-US" sz="1200" b="1">
                        <a:solidFill>
                          <a:srgbClr val="10337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200" b="1">
                          <a:solidFill>
                            <a:srgbClr val="10337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是不是核心</a:t>
                      </a:r>
                      <a:endParaRPr lang="zh-CN" altLang="en-US" sz="1200" b="1">
                        <a:solidFill>
                          <a:srgbClr val="10337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anchorCtr="0"/>
                </a:tc>
              </a:tr>
              <a:tr h="453390"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网页端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用户操作界面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输入问题、展示结果、展示 </a:t>
                      </a:r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SQL </a:t>
                      </a:r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和证据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必须有，但只是表现层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454025"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大模型 </a:t>
                      </a:r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API</a:t>
                      </a:r>
                      <a:endParaRPr lang="en-US" altLang="zh-CN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语言理解和推理引擎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理解用户问题、拆分任务、生成回答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是底座，但不是我们的全部产品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453390">
                <a:tc>
                  <a:txBody>
                    <a:bodyPr/>
                    <a:p>
                      <a:pPr algn="ctr"/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Chinook </a:t>
                      </a:r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数据库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数字和事实来源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提供客户、订单、商品、销售数据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是事实来源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454025">
                <a:tc>
                  <a:txBody>
                    <a:bodyPr/>
                    <a:p>
                      <a:pPr algn="ctr"/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NL2SQL</a:t>
                      </a:r>
                      <a:endParaRPr lang="en-US" altLang="zh-CN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数据库查询工具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把自然语言转换成 </a:t>
                      </a:r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SQL</a:t>
                      </a:r>
                      <a:endParaRPr lang="en-US" altLang="zh-CN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是核心能力之一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453390">
                <a:tc>
                  <a:txBody>
                    <a:bodyPr/>
                    <a:p>
                      <a:pPr algn="ctr"/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RAG</a:t>
                      </a:r>
                      <a:endParaRPr lang="en-US" altLang="zh-CN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文档检索工具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从规则、目标、报告中找依据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是核心能力之一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453390">
                <a:tc>
                  <a:txBody>
                    <a:bodyPr/>
                    <a:p>
                      <a:pPr algn="ctr"/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OCR</a:t>
                      </a:r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／文档解析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非结构化数据处理工具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读取扫描 </a:t>
                      </a:r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PDF</a:t>
                      </a:r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、图片、表格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是多模态能力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907415">
                <a:tc>
                  <a:txBody>
                    <a:bodyPr/>
                    <a:p>
                      <a:pPr algn="ctr"/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Agent </a:t>
                      </a:r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编排层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任务调度和决策中枢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决定查什么、先查什么、是否澄清、如何合并结果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这是产品真正的核心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  <a:tr h="453390"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可解释输出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结果展示机制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展示 </a:t>
                      </a:r>
                      <a:r>
                        <a:rPr lang="en-US" altLang="zh-CN" sz="1100">
                          <a:solidFill>
                            <a:srgbClr val="10337F"/>
                          </a:solidFill>
                        </a:rPr>
                        <a:t>SQL</a:t>
                      </a:r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、文档来源、计算过程和口径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/>
                      <a:r>
                        <a:rPr lang="zh-CN" altLang="en-US" sz="1100">
                          <a:solidFill>
                            <a:srgbClr val="10337F"/>
                          </a:solidFill>
                        </a:rPr>
                        <a:t>是比赛得分重点</a:t>
                      </a:r>
                      <a:endParaRPr lang="zh-CN" altLang="en-US" sz="1100">
                        <a:solidFill>
                          <a:srgbClr val="10337F"/>
                        </a:solidFill>
                      </a:endParaRPr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现阶段</a:t>
            </a:r>
            <a:r>
              <a:t>分工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82905" y="1001395"/>
            <a:ext cx="10938510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10337F"/>
                </a:solidFill>
                <a:sym typeface="+mn-ea"/>
              </a:rPr>
              <a:t>A：</a:t>
            </a:r>
            <a:r>
              <a:rPr lang="zh-CN" altLang="en-US" b="1">
                <a:solidFill>
                  <a:srgbClr val="10337F"/>
                </a:solidFill>
                <a:sym typeface="+mn-ea"/>
              </a:rPr>
              <a:t>业务文档、字段口径、数据集、评测题目。</a:t>
            </a:r>
            <a:endParaRPr lang="zh-CN" altLang="en-US" b="1">
              <a:solidFill>
                <a:srgbClr val="10337F"/>
              </a:solidFill>
            </a:endParaRPr>
          </a:p>
          <a:p>
            <a:r>
              <a:rPr lang="en-US" altLang="zh-CN" b="1">
                <a:solidFill>
                  <a:srgbClr val="10337F"/>
                </a:solidFill>
                <a:sym typeface="+mn-ea"/>
              </a:rPr>
              <a:t>B：</a:t>
            </a:r>
            <a:r>
              <a:rPr lang="zh-CN" altLang="en-US" b="1">
                <a:solidFill>
                  <a:srgbClr val="10337F"/>
                </a:solidFill>
                <a:sym typeface="+mn-ea"/>
              </a:rPr>
              <a:t>网页展示、</a:t>
            </a:r>
            <a:r>
              <a:rPr lang="en-US" altLang="zh-CN" b="1">
                <a:solidFill>
                  <a:srgbClr val="10337F"/>
                </a:solidFill>
                <a:sym typeface="+mn-ea"/>
              </a:rPr>
              <a:t>API </a:t>
            </a:r>
            <a:r>
              <a:rPr lang="zh-CN" altLang="en-US" b="1">
                <a:solidFill>
                  <a:srgbClr val="10337F"/>
                </a:solidFill>
                <a:sym typeface="+mn-ea"/>
              </a:rPr>
              <a:t>接口、后续 </a:t>
            </a:r>
            <a:r>
              <a:rPr lang="en-US" altLang="zh-CN" b="1">
                <a:solidFill>
                  <a:srgbClr val="10337F"/>
                </a:solidFill>
                <a:sym typeface="+mn-ea"/>
              </a:rPr>
              <a:t>Agent </a:t>
            </a:r>
            <a:r>
              <a:rPr lang="zh-CN" altLang="en-US" b="1">
                <a:solidFill>
                  <a:srgbClr val="10337F"/>
                </a:solidFill>
                <a:sym typeface="+mn-ea"/>
              </a:rPr>
              <a:t>流程串联。</a:t>
            </a:r>
            <a:endParaRPr lang="zh-CN" altLang="en-US" b="1">
              <a:solidFill>
                <a:srgbClr val="10337F"/>
              </a:solidFill>
            </a:endParaRPr>
          </a:p>
          <a:p>
            <a:r>
              <a:rPr lang="en-US" altLang="zh-CN" b="1">
                <a:solidFill>
                  <a:srgbClr val="10337F"/>
                </a:solidFill>
                <a:sym typeface="+mn-ea"/>
              </a:rPr>
              <a:t>C：Chinook </a:t>
            </a:r>
            <a:r>
              <a:rPr lang="zh-CN" altLang="en-US" b="1">
                <a:solidFill>
                  <a:srgbClr val="10337F"/>
                </a:solidFill>
                <a:sym typeface="+mn-ea"/>
              </a:rPr>
              <a:t>数据库接入、</a:t>
            </a:r>
            <a:r>
              <a:rPr lang="en-US" altLang="zh-CN" b="1">
                <a:solidFill>
                  <a:srgbClr val="10337F"/>
                </a:solidFill>
                <a:sym typeface="+mn-ea"/>
              </a:rPr>
              <a:t>Schema、SQL </a:t>
            </a:r>
            <a:r>
              <a:rPr lang="zh-CN" altLang="en-US" b="1">
                <a:solidFill>
                  <a:srgbClr val="10337F"/>
                </a:solidFill>
                <a:sym typeface="+mn-ea"/>
              </a:rPr>
              <a:t>查询和 </a:t>
            </a:r>
            <a:r>
              <a:rPr lang="en-US" altLang="zh-CN" b="1">
                <a:solidFill>
                  <a:srgbClr val="10337F"/>
                </a:solidFill>
                <a:sym typeface="+mn-ea"/>
              </a:rPr>
              <a:t>NL2SQL。</a:t>
            </a:r>
            <a:endParaRPr lang="zh-CN" altLang="en-US" b="1">
              <a:solidFill>
                <a:srgbClr val="10337F"/>
              </a:solidFill>
            </a:endParaRPr>
          </a:p>
          <a:p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前提：确定一个</a:t>
            </a:r>
            <a:r>
              <a:rPr lang="zh-CN" altLang="en-US" b="1">
                <a:solidFill>
                  <a:srgbClr val="C00000"/>
                </a:solidFill>
              </a:rPr>
              <a:t>统一的接口格式</a:t>
            </a:r>
            <a:r>
              <a:rPr lang="zh-CN" altLang="en-US">
                <a:solidFill>
                  <a:srgbClr val="10337F"/>
                </a:solidFill>
              </a:rPr>
              <a:t>（字段口径、3 个核心问题和接口返回格式）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A </a:t>
            </a:r>
            <a:r>
              <a:rPr lang="zh-CN" altLang="en-US">
                <a:solidFill>
                  <a:srgbClr val="10337F"/>
                </a:solidFill>
              </a:rPr>
              <a:t>先拿到 </a:t>
            </a:r>
            <a:r>
              <a:rPr lang="en-US" altLang="zh-CN">
                <a:solidFill>
                  <a:srgbClr val="10337F"/>
                </a:solidFill>
              </a:rPr>
              <a:t>Chinook </a:t>
            </a:r>
            <a:r>
              <a:rPr lang="zh-CN" altLang="en-US">
                <a:solidFill>
                  <a:srgbClr val="10337F"/>
                </a:solidFill>
              </a:rPr>
              <a:t>的表结构后，整理第一版字段口径，并写 10 道典型问题。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  <a:sym typeface="+mn-ea"/>
              </a:rPr>
              <a:t>B </a:t>
            </a:r>
            <a:r>
              <a:rPr lang="zh-CN" altLang="en-US">
                <a:solidFill>
                  <a:srgbClr val="10337F"/>
                </a:solidFill>
                <a:sym typeface="+mn-ea"/>
              </a:rPr>
              <a:t>先做一个简单页面，能输入问题，并展示答案、</a:t>
            </a:r>
            <a:r>
              <a:rPr lang="en-US" altLang="zh-CN">
                <a:solidFill>
                  <a:srgbClr val="10337F"/>
                </a:solidFill>
                <a:sym typeface="+mn-ea"/>
              </a:rPr>
              <a:t>SQL、</a:t>
            </a:r>
            <a:r>
              <a:rPr lang="zh-CN" altLang="en-US">
                <a:solidFill>
                  <a:srgbClr val="10337F"/>
                </a:solidFill>
                <a:sym typeface="+mn-ea"/>
              </a:rPr>
              <a:t>查询结果和文档来源。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C </a:t>
            </a:r>
            <a:r>
              <a:rPr lang="zh-CN" altLang="en-US">
                <a:solidFill>
                  <a:srgbClr val="10337F"/>
                </a:solidFill>
              </a:rPr>
              <a:t>先完成：读取表结构、执行只读 </a:t>
            </a:r>
            <a:r>
              <a:rPr lang="en-US" altLang="zh-CN">
                <a:solidFill>
                  <a:srgbClr val="10337F"/>
                </a:solidFill>
              </a:rPr>
              <a:t>SQL、</a:t>
            </a:r>
            <a:r>
              <a:rPr lang="zh-CN" altLang="en-US">
                <a:solidFill>
                  <a:srgbClr val="10337F"/>
                </a:solidFill>
              </a:rPr>
              <a:t>返回标准格式的查询结果。</a:t>
            </a:r>
            <a:endParaRPr lang="zh-CN" altLang="en-US">
              <a:solidFill>
                <a:srgbClr val="10337F"/>
              </a:solidFill>
            </a:endParaRPr>
          </a:p>
          <a:p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链路：</a:t>
            </a:r>
            <a:r>
              <a:rPr lang="zh-CN" altLang="en-US">
                <a:solidFill>
                  <a:srgbClr val="10337F"/>
                </a:solidFill>
              </a:rPr>
              <a:t>网页</a:t>
            </a:r>
            <a:r>
              <a:rPr lang="en-US" altLang="zh-CN">
                <a:solidFill>
                  <a:srgbClr val="10337F"/>
                </a:solidFill>
              </a:rPr>
              <a:t>→ API→ Agent </a:t>
            </a:r>
            <a:r>
              <a:rPr lang="zh-CN" altLang="en-US">
                <a:solidFill>
                  <a:srgbClr val="10337F"/>
                </a:solidFill>
              </a:rPr>
              <a:t>判断</a:t>
            </a:r>
            <a:r>
              <a:rPr lang="en-US" altLang="zh-CN">
                <a:solidFill>
                  <a:srgbClr val="10337F"/>
                </a:solidFill>
              </a:rPr>
              <a:t>→ SQL </a:t>
            </a:r>
            <a:r>
              <a:rPr lang="zh-CN" altLang="en-US">
                <a:solidFill>
                  <a:srgbClr val="10337F"/>
                </a:solidFill>
              </a:rPr>
              <a:t>或 </a:t>
            </a:r>
            <a:r>
              <a:rPr lang="en-US" altLang="zh-CN">
                <a:solidFill>
                  <a:srgbClr val="10337F"/>
                </a:solidFill>
              </a:rPr>
              <a:t>RAG </a:t>
            </a:r>
            <a:r>
              <a:rPr lang="zh-CN" altLang="en-US">
                <a:solidFill>
                  <a:srgbClr val="10337F"/>
                </a:solidFill>
              </a:rPr>
              <a:t>工具→ 返回答案和证据</a:t>
            </a:r>
            <a:endParaRPr lang="zh-CN" altLang="en-US">
              <a:solidFill>
                <a:srgbClr val="10337F"/>
              </a:solidFill>
            </a:endParaRPr>
          </a:p>
          <a:p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三个核心问题可以定成：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1. “2025 年 </a:t>
            </a:r>
            <a:r>
              <a:rPr lang="en-US" altLang="zh-CN">
                <a:solidFill>
                  <a:srgbClr val="10337F"/>
                </a:solidFill>
              </a:rPr>
              <a:t>Rock </a:t>
            </a:r>
            <a:r>
              <a:rPr lang="zh-CN" altLang="en-US">
                <a:solidFill>
                  <a:srgbClr val="10337F"/>
                </a:solidFill>
              </a:rPr>
              <a:t>音乐销售额是多少？”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2. “Rock </a:t>
            </a:r>
            <a:r>
              <a:rPr lang="zh-CN" altLang="en-US">
                <a:solidFill>
                  <a:srgbClr val="10337F"/>
                </a:solidFill>
              </a:rPr>
              <a:t>达到第三季度经营目标了吗？”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3. “销售增长率是多少？”——测试系统是否主动澄清时间范围。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对应数据库查询、跨源查询和主动澄清。</a:t>
            </a:r>
            <a:endParaRPr lang="zh-CN" altLang="en-US">
              <a:solidFill>
                <a:srgbClr val="10337F"/>
              </a:solidFill>
            </a:endParaRPr>
          </a:p>
          <a:p>
            <a:endParaRPr lang="zh-CN" altLang="en-US">
              <a:solidFill>
                <a:srgbClr val="10337F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1175" y="3968750"/>
            <a:ext cx="5083810" cy="2266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中级任务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05155" y="1000125"/>
            <a:ext cx="10928350" cy="5262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10337F"/>
                </a:solidFill>
              </a:rPr>
              <a:t>结构化方向</a:t>
            </a:r>
            <a:endParaRPr lang="zh-CN" altLang="en-US" sz="2400" b="1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● 中级任务 1、2：要素识别、问题改写与可扩展提取</a:t>
            </a:r>
            <a:endParaRPr lang="zh-CN" altLang="en-US" b="1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围绕业务实体、指标、时间和范围，建立配置化的要素识别与标准化机制，支持别名、简称、错别字和口语化表达的识别，并能够低成本扩展新的业务实体类型。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● 中级任务 3：智能语义校验与澄清</a:t>
            </a:r>
            <a:endParaRPr lang="zh-CN" altLang="en-US" b="1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识别用户问题是否缺少时间、指标、范围等关键条件。条件不完整时主动追问，不直接生成错误 </a:t>
            </a:r>
            <a:r>
              <a:rPr lang="en-US" altLang="zh-CN">
                <a:solidFill>
                  <a:srgbClr val="10337F"/>
                </a:solidFill>
              </a:rPr>
              <a:t>SQL。</a:t>
            </a:r>
            <a:endParaRPr lang="en-US" altLang="zh-CN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● 中级任务 4：精准表定位（</a:t>
            </a:r>
            <a:r>
              <a:rPr lang="en-US" altLang="zh-CN" b="1">
                <a:solidFill>
                  <a:srgbClr val="10337F"/>
                </a:solidFill>
              </a:rPr>
              <a:t>Schema Linking）</a:t>
            </a:r>
            <a:endParaRPr lang="en-US" altLang="zh-CN" b="1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根据标准化后的问题，准确定位相关数据表和字段。例如将“</a:t>
            </a:r>
            <a:r>
              <a:rPr lang="en-US" altLang="zh-CN">
                <a:solidFill>
                  <a:srgbClr val="10337F"/>
                </a:solidFill>
              </a:rPr>
              <a:t>Rock </a:t>
            </a:r>
            <a:r>
              <a:rPr lang="zh-CN" altLang="en-US">
                <a:solidFill>
                  <a:srgbClr val="10337F"/>
                </a:solidFill>
              </a:rPr>
              <a:t>销售额”定位到 </a:t>
            </a:r>
            <a:r>
              <a:rPr lang="en-US" altLang="zh-CN">
                <a:solidFill>
                  <a:srgbClr val="10337F"/>
                </a:solidFill>
              </a:rPr>
              <a:t>Genre、Track、InvoiceLine </a:t>
            </a:r>
            <a:r>
              <a:rPr lang="zh-CN" altLang="en-US">
                <a:solidFill>
                  <a:srgbClr val="10337F"/>
                </a:solidFill>
              </a:rPr>
              <a:t>等关联表。</a:t>
            </a:r>
            <a:endParaRPr lang="zh-CN" altLang="en-US">
              <a:solidFill>
                <a:srgbClr val="10337F"/>
              </a:solidFill>
            </a:endParaRPr>
          </a:p>
          <a:p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● 中级任务 5：高质量多表关联 </a:t>
            </a:r>
            <a:r>
              <a:rPr lang="en-US" altLang="zh-CN" b="1">
                <a:solidFill>
                  <a:srgbClr val="10337F"/>
                </a:solidFill>
              </a:rPr>
              <a:t>NL2SQL</a:t>
            </a:r>
            <a:endParaRPr lang="en-US" altLang="zh-CN" b="1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支持多表 </a:t>
            </a:r>
            <a:r>
              <a:rPr lang="en-US" altLang="zh-CN">
                <a:solidFill>
                  <a:srgbClr val="10337F"/>
                </a:solidFill>
              </a:rPr>
              <a:t>JOIN、</a:t>
            </a:r>
            <a:r>
              <a:rPr lang="zh-CN" altLang="en-US">
                <a:solidFill>
                  <a:srgbClr val="10337F"/>
                </a:solidFill>
              </a:rPr>
              <a:t>时间筛选、聚合、排名和嵌套查询，解决数字音乐商店中的销售、客户和商品分析问题。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sz="2400" b="1">
                <a:solidFill>
                  <a:srgbClr val="10337F"/>
                </a:solidFill>
                <a:highlight>
                  <a:srgbClr val="00FFFF"/>
                </a:highlight>
              </a:rPr>
              <a:t>非结构化方向</a:t>
            </a:r>
            <a:endParaRPr lang="zh-CN" altLang="en-US" sz="2400" b="1">
              <a:solidFill>
                <a:srgbClr val="10337F"/>
              </a:solidFill>
              <a:highlight>
                <a:srgbClr val="00FFFF"/>
              </a:highlight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● 中级任务 6：文档公式识别与计算</a:t>
            </a:r>
            <a:endParaRPr lang="zh-CN" altLang="en-US" b="1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重点识别经营目标、达成率、增长率等业务公式，并将数据库查询结果代入文档公式进行计算。聚焦经营文档中的公式，不做通用数学公式识别。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● 中级任务 9：文档质量综合评估</a:t>
            </a:r>
            <a:endParaRPr lang="zh-CN" altLang="en-US" b="1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重点检测扫描 </a:t>
            </a:r>
            <a:r>
              <a:rPr lang="en-US" altLang="zh-CN">
                <a:solidFill>
                  <a:srgbClr val="10337F"/>
                </a:solidFill>
              </a:rPr>
              <a:t>PDF </a:t>
            </a:r>
            <a:r>
              <a:rPr lang="zh-CN" altLang="en-US">
                <a:solidFill>
                  <a:srgbClr val="10337F"/>
                </a:solidFill>
              </a:rPr>
              <a:t>和图片中的旋转、模糊、</a:t>
            </a:r>
            <a:r>
              <a:rPr lang="en-US" altLang="zh-CN">
                <a:solidFill>
                  <a:srgbClr val="10337F"/>
                </a:solidFill>
              </a:rPr>
              <a:t>OCR </a:t>
            </a:r>
            <a:r>
              <a:rPr lang="zh-CN" altLang="en-US">
                <a:solidFill>
                  <a:srgbClr val="10337F"/>
                </a:solidFill>
              </a:rPr>
              <a:t>置信度低、错别字等问题，并在文档检索前给出质量提示。</a:t>
            </a:r>
            <a:endParaRPr lang="zh-CN" altLang="en-US">
              <a:solidFill>
                <a:srgbClr val="10337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阶段</a:t>
            </a:r>
            <a:r>
              <a:t>任务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427355" y="823595"/>
            <a:ext cx="11436350" cy="5539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10337F"/>
                </a:solidFill>
              </a:rPr>
              <a:t>第一阶段：模块实现</a:t>
            </a:r>
            <a:endParaRPr lang="zh-CN" altLang="en-US" sz="2400" b="1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A：</a:t>
            </a:r>
            <a:r>
              <a:rPr lang="zh-CN" altLang="en-US">
                <a:solidFill>
                  <a:srgbClr val="10337F"/>
                </a:solidFill>
              </a:rPr>
              <a:t>完成业务文档、字段口径、实体别名和第一版评测题。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B：</a:t>
            </a:r>
            <a:r>
              <a:rPr lang="zh-CN" altLang="en-US">
                <a:solidFill>
                  <a:srgbClr val="10337F"/>
                </a:solidFill>
              </a:rPr>
              <a:t>完成网页基础页面、</a:t>
            </a:r>
            <a:r>
              <a:rPr lang="en-US" altLang="zh-CN">
                <a:solidFill>
                  <a:srgbClr val="10337F"/>
                </a:solidFill>
              </a:rPr>
              <a:t>API </a:t>
            </a:r>
            <a:r>
              <a:rPr lang="zh-CN" altLang="en-US">
                <a:solidFill>
                  <a:srgbClr val="10337F"/>
                </a:solidFill>
              </a:rPr>
              <a:t>接口和统一返回格式，先用模拟数据展示答案、</a:t>
            </a:r>
            <a:r>
              <a:rPr lang="en-US" altLang="zh-CN">
                <a:solidFill>
                  <a:srgbClr val="10337F"/>
                </a:solidFill>
              </a:rPr>
              <a:t>SQL、</a:t>
            </a:r>
            <a:r>
              <a:rPr lang="zh-CN" altLang="en-US">
                <a:solidFill>
                  <a:srgbClr val="10337F"/>
                </a:solidFill>
              </a:rPr>
              <a:t>查询结果和文档来源。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C：</a:t>
            </a:r>
            <a:r>
              <a:rPr lang="zh-CN" altLang="en-US">
                <a:solidFill>
                  <a:srgbClr val="10337F"/>
                </a:solidFill>
              </a:rPr>
              <a:t>完成 </a:t>
            </a:r>
            <a:r>
              <a:rPr lang="en-US" altLang="zh-CN">
                <a:solidFill>
                  <a:srgbClr val="10337F"/>
                </a:solidFill>
              </a:rPr>
              <a:t>Chinook </a:t>
            </a:r>
            <a:r>
              <a:rPr lang="zh-CN" altLang="en-US">
                <a:solidFill>
                  <a:srgbClr val="10337F"/>
                </a:solidFill>
              </a:rPr>
              <a:t>数据库接入、</a:t>
            </a:r>
            <a:r>
              <a:rPr lang="en-US" altLang="zh-CN">
                <a:solidFill>
                  <a:srgbClr val="10337F"/>
                </a:solidFill>
              </a:rPr>
              <a:t>Schema </a:t>
            </a:r>
            <a:r>
              <a:rPr lang="zh-CN" altLang="en-US">
                <a:solidFill>
                  <a:srgbClr val="10337F"/>
                </a:solidFill>
              </a:rPr>
              <a:t>梳理、只读 </a:t>
            </a:r>
            <a:r>
              <a:rPr lang="en-US" altLang="zh-CN">
                <a:solidFill>
                  <a:srgbClr val="10337F"/>
                </a:solidFill>
              </a:rPr>
              <a:t>SQL </a:t>
            </a:r>
            <a:r>
              <a:rPr lang="zh-CN" altLang="en-US">
                <a:solidFill>
                  <a:srgbClr val="10337F"/>
                </a:solidFill>
              </a:rPr>
              <a:t>查询和基础 </a:t>
            </a:r>
            <a:r>
              <a:rPr lang="en-US" altLang="zh-CN">
                <a:solidFill>
                  <a:srgbClr val="10337F"/>
                </a:solidFill>
              </a:rPr>
              <a:t>NL2SQL。</a:t>
            </a:r>
            <a:endParaRPr lang="en-US" altLang="zh-CN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阶段目标：</a:t>
            </a:r>
            <a:r>
              <a:rPr lang="zh-CN" altLang="en-US">
                <a:solidFill>
                  <a:srgbClr val="10337F"/>
                </a:solidFill>
              </a:rPr>
              <a:t>三个模块可以独立运行，为后续联调做好准备。</a:t>
            </a:r>
            <a:endParaRPr lang="zh-CN" altLang="en-US">
              <a:solidFill>
                <a:srgbClr val="10337F"/>
              </a:solidFill>
            </a:endParaRPr>
          </a:p>
          <a:p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sz="2400" b="1">
                <a:solidFill>
                  <a:srgbClr val="10337F"/>
                </a:solidFill>
              </a:rPr>
              <a:t>第二阶段：联调与产品完成</a:t>
            </a:r>
            <a:endParaRPr lang="zh-CN" altLang="en-US" sz="2400" b="1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A：</a:t>
            </a:r>
            <a:r>
              <a:rPr lang="zh-CN" altLang="en-US">
                <a:solidFill>
                  <a:srgbClr val="10337F"/>
                </a:solidFill>
              </a:rPr>
              <a:t>补齐业务文档、指标口径和实体别名，准备公式、低质量文档等测试样本，完善评测题与标准答案。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主攻中级任务 1、2：要素识别、问题改写与可扩展提取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建立业务实体、指标、时间和范围的配置化识别机制，支持别名、简称、错别字和口语化表达。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B：</a:t>
            </a:r>
            <a:r>
              <a:rPr lang="zh-CN" altLang="en-US">
                <a:solidFill>
                  <a:srgbClr val="10337F"/>
                </a:solidFill>
              </a:rPr>
              <a:t>完成 </a:t>
            </a:r>
            <a:r>
              <a:rPr lang="en-US" altLang="zh-CN">
                <a:solidFill>
                  <a:srgbClr val="10337F"/>
                </a:solidFill>
              </a:rPr>
              <a:t>RAG </a:t>
            </a:r>
            <a:r>
              <a:rPr lang="zh-CN" altLang="en-US">
                <a:solidFill>
                  <a:srgbClr val="10337F"/>
                </a:solidFill>
              </a:rPr>
              <a:t>检索、</a:t>
            </a:r>
            <a:r>
              <a:rPr lang="en-US" altLang="zh-CN">
                <a:solidFill>
                  <a:srgbClr val="10337F"/>
                </a:solidFill>
              </a:rPr>
              <a:t>Agent </a:t>
            </a:r>
            <a:r>
              <a:rPr lang="zh-CN" altLang="en-US">
                <a:solidFill>
                  <a:srgbClr val="10337F"/>
                </a:solidFill>
              </a:rPr>
              <a:t>流程、主动澄清、跨源问答和多轮交互；负责网页、接口及文档处理能力的联调。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主攻中级任务 3</a:t>
            </a:r>
            <a:r>
              <a:rPr lang="en-US" altLang="zh-CN">
                <a:solidFill>
                  <a:srgbClr val="10337F"/>
                </a:solidFill>
              </a:rPr>
              <a:t> + </a:t>
            </a:r>
            <a:r>
              <a:rPr lang="zh-CN" altLang="en-US">
                <a:solidFill>
                  <a:srgbClr val="10337F"/>
                </a:solidFill>
              </a:rPr>
              <a:t>6</a:t>
            </a:r>
            <a:r>
              <a:rPr lang="en-US" altLang="zh-CN">
                <a:solidFill>
                  <a:srgbClr val="10337F"/>
                </a:solidFill>
              </a:rPr>
              <a:t> / </a:t>
            </a:r>
            <a:r>
              <a:rPr lang="zh-CN" altLang="en-US">
                <a:solidFill>
                  <a:srgbClr val="10337F"/>
                </a:solidFill>
              </a:rPr>
              <a:t>9：语义澄清、文档公式和文档质量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实现条件缺失时主动追问；识别经营目标、增长率等公式；检测扫描文档的模糊、旋转和 </a:t>
            </a:r>
            <a:r>
              <a:rPr lang="en-US" altLang="zh-CN">
                <a:solidFill>
                  <a:srgbClr val="10337F"/>
                </a:solidFill>
              </a:rPr>
              <a:t>OCR </a:t>
            </a:r>
            <a:r>
              <a:rPr lang="zh-CN" altLang="en-US">
                <a:solidFill>
                  <a:srgbClr val="10337F"/>
                </a:solidFill>
              </a:rPr>
              <a:t>质量问题。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en-US" altLang="zh-CN">
                <a:solidFill>
                  <a:srgbClr val="10337F"/>
                </a:solidFill>
              </a:rPr>
              <a:t>C：</a:t>
            </a:r>
            <a:r>
              <a:rPr lang="zh-CN" altLang="en-US">
                <a:solidFill>
                  <a:srgbClr val="10337F"/>
                </a:solidFill>
              </a:rPr>
              <a:t>完善 </a:t>
            </a:r>
            <a:r>
              <a:rPr lang="en-US" altLang="zh-CN">
                <a:solidFill>
                  <a:srgbClr val="10337F"/>
                </a:solidFill>
              </a:rPr>
              <a:t>Chinook </a:t>
            </a:r>
            <a:r>
              <a:rPr lang="zh-CN" altLang="en-US">
                <a:solidFill>
                  <a:srgbClr val="10337F"/>
                </a:solidFill>
              </a:rPr>
              <a:t>数据库接入、</a:t>
            </a:r>
            <a:r>
              <a:rPr lang="en-US" altLang="zh-CN">
                <a:solidFill>
                  <a:srgbClr val="10337F"/>
                </a:solidFill>
              </a:rPr>
              <a:t>Schema </a:t>
            </a:r>
            <a:r>
              <a:rPr lang="zh-CN" altLang="en-US">
                <a:solidFill>
                  <a:srgbClr val="10337F"/>
                </a:solidFill>
              </a:rPr>
              <a:t>梳理、</a:t>
            </a:r>
            <a:r>
              <a:rPr lang="en-US" altLang="zh-CN">
                <a:solidFill>
                  <a:srgbClr val="10337F"/>
                </a:solidFill>
              </a:rPr>
              <a:t>SQL </a:t>
            </a:r>
            <a:r>
              <a:rPr lang="zh-CN" altLang="en-US">
                <a:solidFill>
                  <a:srgbClr val="10337F"/>
                </a:solidFill>
              </a:rPr>
              <a:t>查询、</a:t>
            </a:r>
            <a:r>
              <a:rPr lang="en-US" altLang="zh-CN">
                <a:solidFill>
                  <a:srgbClr val="10337F"/>
                </a:solidFill>
              </a:rPr>
              <a:t>Schema Linking </a:t>
            </a:r>
            <a:r>
              <a:rPr lang="zh-CN" altLang="en-US">
                <a:solidFill>
                  <a:srgbClr val="10337F"/>
                </a:solidFill>
              </a:rPr>
              <a:t>和多表 </a:t>
            </a:r>
            <a:r>
              <a:rPr lang="en-US" altLang="zh-CN">
                <a:solidFill>
                  <a:srgbClr val="10337F"/>
                </a:solidFill>
              </a:rPr>
              <a:t>NL2SQL；</a:t>
            </a:r>
            <a:r>
              <a:rPr lang="zh-CN" altLang="en-US">
                <a:solidFill>
                  <a:srgbClr val="10337F"/>
                </a:solidFill>
              </a:rPr>
              <a:t>负责查询校验与计算工具。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主攻中级任务 4、5：</a:t>
            </a:r>
            <a:r>
              <a:rPr lang="en-US" altLang="zh-CN">
                <a:solidFill>
                  <a:srgbClr val="10337F"/>
                </a:solidFill>
              </a:rPr>
              <a:t>Schema Linking </a:t>
            </a:r>
            <a:r>
              <a:rPr lang="zh-CN" altLang="en-US">
                <a:solidFill>
                  <a:srgbClr val="10337F"/>
                </a:solidFill>
              </a:rPr>
              <a:t>与多表 </a:t>
            </a:r>
            <a:r>
              <a:rPr lang="en-US" altLang="zh-CN">
                <a:solidFill>
                  <a:srgbClr val="10337F"/>
                </a:solidFill>
              </a:rPr>
              <a:t>NL2SQL</a:t>
            </a:r>
            <a:endParaRPr lang="en-US" altLang="zh-CN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准确定位相关表和字段，完成多表关联、时间筛选、聚合、排名和嵌套查询。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 b="1">
                <a:solidFill>
                  <a:srgbClr val="10337F"/>
                </a:solidFill>
              </a:rPr>
              <a:t>阶段目标：</a:t>
            </a:r>
            <a:r>
              <a:rPr lang="zh-CN" altLang="en-US">
                <a:solidFill>
                  <a:srgbClr val="10337F"/>
                </a:solidFill>
              </a:rPr>
              <a:t>12 号前跑通完整产品链路：</a:t>
            </a:r>
            <a:endParaRPr lang="zh-CN" altLang="en-US">
              <a:solidFill>
                <a:srgbClr val="10337F"/>
              </a:solidFill>
            </a:endParaRPr>
          </a:p>
          <a:p>
            <a:r>
              <a:rPr lang="zh-CN" altLang="en-US">
                <a:solidFill>
                  <a:srgbClr val="10337F"/>
                </a:solidFill>
              </a:rPr>
              <a:t>网页提问</a:t>
            </a:r>
            <a:r>
              <a:rPr lang="en-US" altLang="zh-CN">
                <a:solidFill>
                  <a:srgbClr val="10337F"/>
                </a:solidFill>
              </a:rPr>
              <a:t>→ Agent </a:t>
            </a:r>
            <a:r>
              <a:rPr lang="zh-CN" altLang="en-US">
                <a:solidFill>
                  <a:srgbClr val="10337F"/>
                </a:solidFill>
              </a:rPr>
              <a:t>判断</a:t>
            </a:r>
            <a:r>
              <a:rPr lang="en-US" altLang="zh-CN">
                <a:solidFill>
                  <a:srgbClr val="10337F"/>
                </a:solidFill>
              </a:rPr>
              <a:t>→ SQL </a:t>
            </a:r>
            <a:r>
              <a:rPr lang="zh-CN" altLang="en-US">
                <a:solidFill>
                  <a:srgbClr val="10337F"/>
                </a:solidFill>
              </a:rPr>
              <a:t>或 </a:t>
            </a:r>
            <a:r>
              <a:rPr lang="en-US" altLang="zh-CN">
                <a:solidFill>
                  <a:srgbClr val="10337F"/>
                </a:solidFill>
              </a:rPr>
              <a:t>RAG </a:t>
            </a:r>
            <a:r>
              <a:rPr lang="zh-CN" altLang="en-US">
                <a:solidFill>
                  <a:srgbClr val="10337F"/>
                </a:solidFill>
              </a:rPr>
              <a:t>工具→ 返回答案、</a:t>
            </a:r>
            <a:r>
              <a:rPr lang="en-US" altLang="zh-CN">
                <a:solidFill>
                  <a:srgbClr val="10337F"/>
                </a:solidFill>
              </a:rPr>
              <a:t>SQL、</a:t>
            </a:r>
            <a:r>
              <a:rPr lang="zh-CN" altLang="en-US">
                <a:solidFill>
                  <a:srgbClr val="10337F"/>
                </a:solidFill>
              </a:rPr>
              <a:t>文档来源和计算口径</a:t>
            </a:r>
            <a:endParaRPr lang="zh-CN" altLang="en-US">
              <a:solidFill>
                <a:srgbClr val="10337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场景定义</a:t>
            </a:r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4" name="Text Box 3"/>
          <p:cNvSpPr txBox="1"/>
          <p:nvPr/>
        </p:nvSpPr>
        <p:spPr>
          <a:xfrm>
            <a:off x="426085" y="879475"/>
            <a:ext cx="10843895" cy="5290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  <a:buNone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产品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面向机械设计和质量工程的可解释工业图纸问数问答智能体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  <a:buNone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通过自然语言查询零件、图纸、尺寸、公差和标注位置，并返回可回溯的图纸证据。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选数据库：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CADsy CAD Technical Drawings</a:t>
            </a:r>
            <a:endParaRPr lang="en-US" altLang="zh-CN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65 个 </a:t>
            </a: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STEP 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零件模型、130 张 </a:t>
            </a: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ASME/ISO 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图纸、130 份结构化标注文件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自建：工业关系数据库</a:t>
            </a: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图纸质量测试集、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标注标准化数据与问答评测集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后续加入模糊、旋转、低清、遮挡等异常图纸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用自然语言快速定位零件和图纸，查询尺寸、公差、形位标注及所在视图，返回原图高亮位置和结构化数据来源，支持 </a:t>
            </a: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ASME/ISO 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图纸对比，对识别不确定、数据不一致的内容提示人工复核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核心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用户：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机械设计工程师：查询零件尺寸、公差和图纸标注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质量工程师：核对图纸标注、发现异常并追溯证据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工程数据管理员：管理零件、图纸、标注和解析质量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会议</a:t>
            </a:r>
            <a:r>
              <a:rPr lang="en-US" altLang="zh-CN"/>
              <a:t>-</a:t>
            </a:r>
            <a:r>
              <a:t>企业关注点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470535" y="1012825"/>
            <a:ext cx="10888980" cy="5146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问数：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关注精确度、多表的关联聚合、复杂问题理解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问答：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文档分词和切片可以探索、针对扫描件、层级结构乱、可能还有表格，如何理解文档结构逻辑，加入</a:t>
            </a: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CAD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（电路图、组装图、工艺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文件）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二者融合：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如结构化与非结构化数据不一致的情况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整体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链路：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用户提问（指代、改写、意图理解</a:t>
            </a:r>
            <a:r>
              <a:rPr lang="en-US" altLang="zh-CN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文书问答，查什么表</a:t>
            </a:r>
            <a:r>
              <a:rPr lang="en-US" altLang="zh-CN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&gt;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---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自主规划任务路径</a:t>
            </a:r>
            <a:r>
              <a:rPr lang="en-US" altLang="zh-CN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---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精准执行查询与检索</a:t>
            </a:r>
            <a:r>
              <a:rPr lang="en-US" altLang="zh-CN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---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融合推理分析</a:t>
            </a:r>
            <a:r>
              <a:rPr lang="en-US" altLang="zh-CN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---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输出可解释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答案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系统模型选用：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国产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系统指标：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准确性、鲁棒性、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响应时间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其它</a:t>
            </a:r>
            <a:r>
              <a:rPr lang="zh-CN" altLang="en-US" sz="2000" b="1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注意点：</a:t>
            </a: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多跳问答、可解释性、模型参数量越小越好、数据种类跳跃越多贡献越大、低质量数据（</a:t>
            </a:r>
            <a:r>
              <a:rPr lang="en-US" altLang="zh-CN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CAD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文档）的</a:t>
            </a:r>
            <a:r>
              <a:rPr lang="zh-CN" altLang="en-US" sz="2000" dirty="0">
                <a:solidFill>
                  <a:srgbClr val="10338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情况、方案可扩展性</a:t>
            </a:r>
            <a:endParaRPr lang="zh-CN" altLang="en-US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charset="0"/>
            </a:pPr>
            <a:endParaRPr lang="zh-CN" altLang="en-US" sz="2000" b="1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indent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altLang="zh-CN" sz="2000" dirty="0">
              <a:solidFill>
                <a:srgbClr val="10338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sz="2000" b="1" dirty="0">
                <a:latin typeface="微软雅黑" panose="020B0503020204020204" pitchFamily="34" charset="-122"/>
              </a:rPr>
              <a:t>智能信息处理与通信技术省高校重点实验室</a:t>
            </a:r>
            <a:endParaRPr lang="zh-CN" altLang="en-US" sz="2000" b="1" dirty="0">
              <a:latin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810697" y="4688645"/>
            <a:ext cx="6600733" cy="1129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altLang="en-US" b="1" dirty="0">
                <a:solidFill>
                  <a:srgbClr val="0361B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邮箱：</a:t>
            </a:r>
            <a:r>
              <a:rPr lang="en-US" altLang="zh-CN" dirty="0">
                <a:solidFill>
                  <a:srgbClr val="0361B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1225013844@njupt.edu.cn</a:t>
            </a:r>
            <a:endParaRPr lang="en-US" altLang="zh-CN" dirty="0">
              <a:solidFill>
                <a:srgbClr val="0361B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</a:pPr>
            <a:endParaRPr lang="en-US" altLang="zh-CN" dirty="0">
              <a:solidFill>
                <a:srgbClr val="0361B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</a:pPr>
            <a:r>
              <a:rPr lang="zh-CN" altLang="en-US" b="1" dirty="0">
                <a:solidFill>
                  <a:srgbClr val="0361B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地址：南京市新模范马路</a:t>
            </a:r>
            <a:r>
              <a:rPr lang="en-US" altLang="zh-CN" b="1" dirty="0">
                <a:solidFill>
                  <a:srgbClr val="0361B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66</a:t>
            </a:r>
            <a:r>
              <a:rPr lang="zh-CN" altLang="en-US" b="1" dirty="0">
                <a:solidFill>
                  <a:srgbClr val="0361B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号南京邮电大学综合科研楼</a:t>
            </a:r>
            <a:r>
              <a:rPr lang="en-US" altLang="zh-CN" b="1" dirty="0">
                <a:solidFill>
                  <a:srgbClr val="0361B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15</a:t>
            </a:r>
            <a:r>
              <a:rPr lang="zh-CN" altLang="en-US" b="1" dirty="0">
                <a:solidFill>
                  <a:srgbClr val="0361B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楼</a:t>
            </a:r>
            <a:endParaRPr lang="en-US" altLang="zh-CN" b="1" dirty="0">
              <a:solidFill>
                <a:srgbClr val="0361B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10&quot;:[3506636,21556385]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3884</Words>
  <Application>WPS 演示</Application>
  <PresentationFormat>宽屏</PresentationFormat>
  <Paragraphs>232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楷体</vt:lpstr>
      <vt:lpstr>华文楷体</vt:lpstr>
      <vt:lpstr>Calibri</vt:lpstr>
      <vt:lpstr>等线</vt:lpstr>
      <vt:lpstr>Wingdings</vt:lpstr>
      <vt:lpstr>Times New Roman</vt:lpstr>
      <vt:lpstr>Arial Unicode MS</vt:lpstr>
      <vt:lpstr>MS PGothic</vt:lpstr>
      <vt:lpstr>Office 主题​​</vt:lpstr>
      <vt:lpstr>PowerPoint 演示文稿</vt:lpstr>
      <vt:lpstr>赛题原则</vt:lpstr>
      <vt:lpstr>场景定义</vt:lpstr>
      <vt:lpstr>核心用户与场景：</vt:lpstr>
      <vt:lpstr>数据集+测评集</vt:lpstr>
      <vt:lpstr>做的是什么</vt:lpstr>
      <vt:lpstr>现阶段分工</vt:lpstr>
      <vt:lpstr>中级任务</vt:lpstr>
      <vt:lpstr>阶段任务</vt:lpstr>
      <vt:lpstr>场景定义2</vt:lpstr>
      <vt:lpstr>会议-企业关注点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websys</dc:creator>
  <cp:lastModifiedBy>吕佳阳</cp:lastModifiedBy>
  <cp:revision>2288</cp:revision>
  <dcterms:created xsi:type="dcterms:W3CDTF">2017-10-12T12:27:00Z</dcterms:created>
  <dcterms:modified xsi:type="dcterms:W3CDTF">2026-09-28T01:34:16Z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KSORubyTemplateID">
    <vt:lpwstr>2</vt:lpwstr>
  </property>
  <property fmtid="{D5CDD505-2E9C-101B-9397-08002B2CF9AE}" pid="4" name="ICV">
    <vt:lpwstr>6A479E560DD34935BCAF30EE3B18C5A2_13</vt:lpwstr>
  </property>
</Properties>
</file>